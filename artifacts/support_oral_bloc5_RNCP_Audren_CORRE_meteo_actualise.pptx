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8229600" cx="14630400"/>
  <p:notesSz cx="6858000" cy="9144000"/>
  <p:embeddedFontLst>
    <p:embeddedFont>
      <p:font typeface="Nunito"/>
      <p:regular r:id="rId30"/>
      <p:bold r:id="rId31"/>
      <p:italic r:id="rId32"/>
      <p:boldItalic r:id="rId33"/>
    </p:embeddedFont>
    <p:embeddedFont>
      <p:font typeface="Maven Pro"/>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bold.fntdata"/><Relationship Id="rId30" Type="http://schemas.openxmlformats.org/officeDocument/2006/relationships/font" Target="fonts/Nunito-regular.fntdata"/><Relationship Id="rId11" Type="http://schemas.openxmlformats.org/officeDocument/2006/relationships/slide" Target="slides/slide6.xml"/><Relationship Id="rId33" Type="http://schemas.openxmlformats.org/officeDocument/2006/relationships/font" Target="fonts/Nunito-boldItalic.fntdata"/><Relationship Id="rId10" Type="http://schemas.openxmlformats.org/officeDocument/2006/relationships/slide" Target="slides/slide5.xml"/><Relationship Id="rId32" Type="http://schemas.openxmlformats.org/officeDocument/2006/relationships/font" Target="fonts/Nunito-italic.fntdata"/><Relationship Id="rId13" Type="http://schemas.openxmlformats.org/officeDocument/2006/relationships/slide" Target="slides/slide8.xml"/><Relationship Id="rId35" Type="http://schemas.openxmlformats.org/officeDocument/2006/relationships/font" Target="fonts/MavenPro-bold.fntdata"/><Relationship Id="rId12" Type="http://schemas.openxmlformats.org/officeDocument/2006/relationships/slide" Target="slides/slide7.xml"/><Relationship Id="rId34" Type="http://schemas.openxmlformats.org/officeDocument/2006/relationships/font" Target="fonts/MavenPro-regular.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5" name="Google Shape;27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SAS Viya / SAS Enterprise Miner</a:t>
            </a:r>
            <a:r>
              <a:rPr lang="en-US">
                <a:solidFill>
                  <a:schemeClr val="dk1"/>
                </a:solidFill>
              </a:rPr>
              <a:t> : propriétaire, licence payante, environnement spécifique.</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IBM SPSS Modeler</a:t>
            </a:r>
            <a:r>
              <a:rPr lang="en-US">
                <a:solidFill>
                  <a:schemeClr val="dk1"/>
                </a:solidFill>
              </a:rPr>
              <a:t> : propriétaire, orienté plateforme graphique, licence commerciale.</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MATLAB + Statistics and Machine Learning Toolbox</a:t>
            </a:r>
            <a:r>
              <a:rPr lang="en-US">
                <a:solidFill>
                  <a:schemeClr val="dk1"/>
                </a:solidFill>
              </a:rPr>
              <a:t> : propriétaire, licence requise, environnement MATLAB dédié.</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Altair RapidMiner / AI Studio</a:t>
            </a:r>
            <a:r>
              <a:rPr lang="en-US">
                <a:solidFill>
                  <a:schemeClr val="dk1"/>
                </a:solidFill>
              </a:rPr>
              <a:t> : solution propriétaire, plateforme distincte de ton environnement Python local.</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Dataiku DSS</a:t>
            </a:r>
            <a:r>
              <a:rPr lang="en-US">
                <a:solidFill>
                  <a:schemeClr val="dk1"/>
                </a:solidFill>
              </a:rPr>
              <a:t> : plateforme propriétaire, même si elle permet d’exécuter du Python.</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Azure Machine Learning</a:t>
            </a:r>
            <a:r>
              <a:rPr lang="en-US">
                <a:solidFill>
                  <a:schemeClr val="dk1"/>
                </a:solidFill>
              </a:rPr>
              <a:t> : service cloud propriétaire, coûts d’infrastructure et dépendance Azure.</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AWS SageMaker</a:t>
            </a:r>
            <a:r>
              <a:rPr lang="en-US">
                <a:solidFill>
                  <a:schemeClr val="dk1"/>
                </a:solidFill>
              </a:rPr>
              <a:t> : service cloud propriétaire, dépendance AWS et facturation associée.</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Google Vertex AI</a:t>
            </a:r>
            <a:r>
              <a:rPr lang="en-US">
                <a:solidFill>
                  <a:schemeClr val="dk1"/>
                </a:solidFill>
              </a:rPr>
              <a:t> : plateforme cloud propriétaire, dépendance GCP.</a:t>
            </a:r>
            <a:endParaRPr>
              <a:solidFill>
                <a:schemeClr val="dk1"/>
              </a:solidFill>
            </a:endParaRPr>
          </a:p>
          <a:p>
            <a:pPr indent="0" lvl="0" marL="0" rtl="0" algn="l">
              <a:lnSpc>
                <a:spcPct val="100000"/>
              </a:lnSpc>
              <a:spcBef>
                <a:spcPts val="0"/>
              </a:spcBef>
              <a:spcAft>
                <a:spcPts val="0"/>
              </a:spcAft>
              <a:buSzPts val="1100"/>
              <a:buNone/>
            </a:pPr>
            <a:r>
              <a:t/>
            </a:r>
            <a:endParaRPr/>
          </a:p>
        </p:txBody>
      </p:sp>
      <p:sp>
        <p:nvSpPr>
          <p:cNvPr id="283" name="Google Shape;283;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J’ai choisi les outils selon cinq critères : compatibilité avec le problème, coût, simplicité, performance et maintenabilité. Pandas était suffisant pour environ 3 millions de lignes brutes, donc Spark aurait ajouté une complexité inutile. Scikit-learn couvre toute la chaîne dont j’avais besoin : modèles, métriques, validation temporelle et optimisation. J’ai choisi HistGradientBoosting plutôt qu’un framework de deep learning parce que le problème est tabulaire, le volume reste raisonnable et les performances étaient déjà bonnes. Joblib est natif et simple pour sérialiser un modèle sklearn. MLflow apporte la traçabilité et le versioning sans nécessiter une plateforme MLOps complète. Enfin Pytest et GitHub Actions sont légers et suffisants pour automatiser les contrôles. </a:t>
            </a:r>
            <a:endParaRPr/>
          </a:p>
        </p:txBody>
      </p:sp>
      <p:sp>
        <p:nvSpPr>
          <p:cNvPr id="342" name="Google Shape;34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0" name="Google Shape;360;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5" name="Google Shape;37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0" name="Google Shape;390;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2" name="Google Shape;402;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1" name="Google Shape;421;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3" name="Google Shape;433;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8" name="Google Shape;44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3" name="Google Shape;46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9" name="Google Shape;479;p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7" name="Google Shape;50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fb3f2ec7f4_1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2" name="Google Shape;522;g3fb3f2ec7f4_1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1" name="Google Shape;53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6" name="Google Shape;546;p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1" name="Google Shape;56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4" name="Google Shape;57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8" name="Google Shape;58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9" name="Google Shape;609;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 name="Shape 11"/>
        <p:cNvGrpSpPr/>
        <p:nvPr/>
      </p:nvGrpSpPr>
      <p:grpSpPr>
        <a:xfrm>
          <a:off x="0" y="0"/>
          <a:ext cx="0" cy="0"/>
          <a:chOff x="0" y="0"/>
          <a:chExt cx="0" cy="0"/>
        </a:xfrm>
      </p:grpSpPr>
      <p:grpSp>
        <p:nvGrpSpPr>
          <p:cNvPr id="12" name="Google Shape;12;p3"/>
          <p:cNvGrpSpPr/>
          <p:nvPr/>
        </p:nvGrpSpPr>
        <p:grpSpPr>
          <a:xfrm>
            <a:off x="10986742" y="2010"/>
            <a:ext cx="3627806" cy="4162785"/>
            <a:chOff x="6790514" y="1255"/>
            <a:chExt cx="2267380" cy="2601741"/>
          </a:xfrm>
        </p:grpSpPr>
        <p:grpSp>
          <p:nvGrpSpPr>
            <p:cNvPr id="13" name="Google Shape;13;p3"/>
            <p:cNvGrpSpPr/>
            <p:nvPr/>
          </p:nvGrpSpPr>
          <p:grpSpPr>
            <a:xfrm>
              <a:off x="7067536" y="1255"/>
              <a:ext cx="1990358" cy="1990303"/>
              <a:chOff x="7067536" y="1255"/>
              <a:chExt cx="1990358" cy="1990303"/>
            </a:xfrm>
          </p:grpSpPr>
          <p:sp>
            <p:nvSpPr>
              <p:cNvPr id="14" name="Google Shape;14;p3"/>
              <p:cNvSpPr/>
              <p:nvPr/>
            </p:nvSpPr>
            <p:spPr>
              <a:xfrm rot="-8648551">
                <a:off x="7594313" y="527721"/>
                <a:ext cx="937226" cy="937226"/>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3"/>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3"/>
              <p:cNvSpPr/>
              <p:nvPr/>
            </p:nvSpPr>
            <p:spPr>
              <a:xfrm rot="-8649154">
                <a:off x="7349891" y="283705"/>
                <a:ext cx="1425647" cy="1425404"/>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 name="Google Shape;17;p3"/>
            <p:cNvGrpSpPr/>
            <p:nvPr/>
          </p:nvGrpSpPr>
          <p:grpSpPr>
            <a:xfrm>
              <a:off x="8207126" y="1807997"/>
              <a:ext cx="795000" cy="795000"/>
              <a:chOff x="8207126" y="1807997"/>
              <a:chExt cx="795000" cy="795000"/>
            </a:xfrm>
          </p:grpSpPr>
          <p:sp>
            <p:nvSpPr>
              <p:cNvPr id="18" name="Google Shape;18;p3"/>
              <p:cNvSpPr/>
              <p:nvPr/>
            </p:nvSpPr>
            <p:spPr>
              <a:xfrm rot="2152054">
                <a:off x="8319942" y="1920813"/>
                <a:ext cx="569367" cy="569367"/>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3"/>
              <p:cNvSpPr/>
              <p:nvPr/>
            </p:nvSpPr>
            <p:spPr>
              <a:xfrm rot="2150259">
                <a:off x="8408218" y="2008610"/>
                <a:ext cx="393004" cy="393004"/>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3"/>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 name="Google Shape;21;p3"/>
            <p:cNvGrpSpPr/>
            <p:nvPr/>
          </p:nvGrpSpPr>
          <p:grpSpPr>
            <a:xfrm>
              <a:off x="6790514" y="118857"/>
              <a:ext cx="548700" cy="548700"/>
              <a:chOff x="6790514" y="118857"/>
              <a:chExt cx="548700" cy="548700"/>
            </a:xfrm>
          </p:grpSpPr>
          <p:sp>
            <p:nvSpPr>
              <p:cNvPr id="22" name="Google Shape;22;p3"/>
              <p:cNvSpPr/>
              <p:nvPr/>
            </p:nvSpPr>
            <p:spPr>
              <a:xfrm rot="2150259">
                <a:off x="6868362" y="196705"/>
                <a:ext cx="393004" cy="393004"/>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3"/>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4" name="Google Shape;24;p3"/>
          <p:cNvSpPr txBox="1"/>
          <p:nvPr>
            <p:ph type="title"/>
          </p:nvPr>
        </p:nvSpPr>
        <p:spPr>
          <a:xfrm>
            <a:off x="1318400" y="1221760"/>
            <a:ext cx="9372600" cy="57174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Clr>
                <a:schemeClr val="lt1"/>
              </a:buClr>
              <a:buSzPts val="5800"/>
              <a:buNone/>
              <a:defRPr sz="5800">
                <a:solidFill>
                  <a:schemeClr val="lt1"/>
                </a:solidFill>
              </a:defRPr>
            </a:lvl1pPr>
            <a:lvl2pPr lvl="1" algn="l">
              <a:lnSpc>
                <a:spcPct val="100000"/>
              </a:lnSpc>
              <a:spcBef>
                <a:spcPts val="0"/>
              </a:spcBef>
              <a:spcAft>
                <a:spcPts val="0"/>
              </a:spcAft>
              <a:buClr>
                <a:schemeClr val="lt1"/>
              </a:buClr>
              <a:buSzPts val="5800"/>
              <a:buNone/>
              <a:defRPr sz="5800">
                <a:solidFill>
                  <a:schemeClr val="lt1"/>
                </a:solidFill>
              </a:defRPr>
            </a:lvl2pPr>
            <a:lvl3pPr lvl="2" algn="l">
              <a:lnSpc>
                <a:spcPct val="100000"/>
              </a:lnSpc>
              <a:spcBef>
                <a:spcPts val="0"/>
              </a:spcBef>
              <a:spcAft>
                <a:spcPts val="0"/>
              </a:spcAft>
              <a:buClr>
                <a:schemeClr val="lt1"/>
              </a:buClr>
              <a:buSzPts val="5800"/>
              <a:buNone/>
              <a:defRPr sz="5800">
                <a:solidFill>
                  <a:schemeClr val="lt1"/>
                </a:solidFill>
              </a:defRPr>
            </a:lvl3pPr>
            <a:lvl4pPr lvl="3" algn="l">
              <a:lnSpc>
                <a:spcPct val="100000"/>
              </a:lnSpc>
              <a:spcBef>
                <a:spcPts val="0"/>
              </a:spcBef>
              <a:spcAft>
                <a:spcPts val="0"/>
              </a:spcAft>
              <a:buClr>
                <a:schemeClr val="lt1"/>
              </a:buClr>
              <a:buSzPts val="5800"/>
              <a:buNone/>
              <a:defRPr sz="5800">
                <a:solidFill>
                  <a:schemeClr val="lt1"/>
                </a:solidFill>
              </a:defRPr>
            </a:lvl4pPr>
            <a:lvl5pPr lvl="4" algn="l">
              <a:lnSpc>
                <a:spcPct val="100000"/>
              </a:lnSpc>
              <a:spcBef>
                <a:spcPts val="0"/>
              </a:spcBef>
              <a:spcAft>
                <a:spcPts val="0"/>
              </a:spcAft>
              <a:buClr>
                <a:schemeClr val="lt1"/>
              </a:buClr>
              <a:buSzPts val="5800"/>
              <a:buNone/>
              <a:defRPr sz="5800">
                <a:solidFill>
                  <a:schemeClr val="lt1"/>
                </a:solidFill>
              </a:defRPr>
            </a:lvl5pPr>
            <a:lvl6pPr lvl="5" algn="l">
              <a:lnSpc>
                <a:spcPct val="100000"/>
              </a:lnSpc>
              <a:spcBef>
                <a:spcPts val="0"/>
              </a:spcBef>
              <a:spcAft>
                <a:spcPts val="0"/>
              </a:spcAft>
              <a:buClr>
                <a:schemeClr val="lt1"/>
              </a:buClr>
              <a:buSzPts val="5800"/>
              <a:buNone/>
              <a:defRPr sz="5800">
                <a:solidFill>
                  <a:schemeClr val="lt1"/>
                </a:solidFill>
              </a:defRPr>
            </a:lvl6pPr>
            <a:lvl7pPr lvl="6" algn="l">
              <a:lnSpc>
                <a:spcPct val="100000"/>
              </a:lnSpc>
              <a:spcBef>
                <a:spcPts val="0"/>
              </a:spcBef>
              <a:spcAft>
                <a:spcPts val="0"/>
              </a:spcAft>
              <a:buClr>
                <a:schemeClr val="lt1"/>
              </a:buClr>
              <a:buSzPts val="5800"/>
              <a:buNone/>
              <a:defRPr sz="5800">
                <a:solidFill>
                  <a:schemeClr val="lt1"/>
                </a:solidFill>
              </a:defRPr>
            </a:lvl7pPr>
            <a:lvl8pPr lvl="7" algn="l">
              <a:lnSpc>
                <a:spcPct val="100000"/>
              </a:lnSpc>
              <a:spcBef>
                <a:spcPts val="0"/>
              </a:spcBef>
              <a:spcAft>
                <a:spcPts val="0"/>
              </a:spcAft>
              <a:buClr>
                <a:schemeClr val="lt1"/>
              </a:buClr>
              <a:buSzPts val="5800"/>
              <a:buNone/>
              <a:defRPr sz="5800">
                <a:solidFill>
                  <a:schemeClr val="lt1"/>
                </a:solidFill>
              </a:defRPr>
            </a:lvl8pPr>
            <a:lvl9pPr lvl="8" algn="l">
              <a:lnSpc>
                <a:spcPct val="100000"/>
              </a:lnSpc>
              <a:spcBef>
                <a:spcPts val="0"/>
              </a:spcBef>
              <a:spcAft>
                <a:spcPts val="0"/>
              </a:spcAft>
              <a:buClr>
                <a:schemeClr val="lt1"/>
              </a:buClr>
              <a:buSzPts val="5800"/>
              <a:buNone/>
              <a:defRPr sz="5800">
                <a:solidFill>
                  <a:schemeClr val="lt1"/>
                </a:solidFill>
              </a:defRPr>
            </a:lvl9pPr>
          </a:lstStyle>
          <a:p/>
        </p:txBody>
      </p:sp>
      <p:sp>
        <p:nvSpPr>
          <p:cNvPr id="25" name="Google Shape;25;p3"/>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grpSp>
        <p:nvGrpSpPr>
          <p:cNvPr id="27" name="Google Shape;27;p4"/>
          <p:cNvGrpSpPr/>
          <p:nvPr/>
        </p:nvGrpSpPr>
        <p:grpSpPr>
          <a:xfrm>
            <a:off x="1001538" y="478999"/>
            <a:ext cx="1598876" cy="1598876"/>
            <a:chOff x="348199" y="179450"/>
            <a:chExt cx="1116300" cy="1116300"/>
          </a:xfrm>
        </p:grpSpPr>
        <p:sp>
          <p:nvSpPr>
            <p:cNvPr id="28" name="Google Shape;28;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4"/>
          <p:cNvSpPr txBox="1"/>
          <p:nvPr>
            <p:ph type="title"/>
          </p:nvPr>
        </p:nvSpPr>
        <p:spPr>
          <a:xfrm>
            <a:off x="2086080" y="957720"/>
            <a:ext cx="11248800" cy="15990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31" name="Google Shape;31;p4"/>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32" name="Shape 32"/>
        <p:cNvGrpSpPr/>
        <p:nvPr/>
      </p:nvGrpSpPr>
      <p:grpSpPr>
        <a:xfrm>
          <a:off x="0" y="0"/>
          <a:ext cx="0" cy="0"/>
          <a:chOff x="0" y="0"/>
          <a:chExt cx="0" cy="0"/>
        </a:xfrm>
      </p:grpSpPr>
      <p:grpSp>
        <p:nvGrpSpPr>
          <p:cNvPr id="33" name="Google Shape;33;p5"/>
          <p:cNvGrpSpPr/>
          <p:nvPr/>
        </p:nvGrpSpPr>
        <p:grpSpPr>
          <a:xfrm>
            <a:off x="11748805" y="5455481"/>
            <a:ext cx="2706275" cy="2772077"/>
            <a:chOff x="7343003" y="3409675"/>
            <a:chExt cx="1691422" cy="1732548"/>
          </a:xfrm>
        </p:grpSpPr>
        <p:grpSp>
          <p:nvGrpSpPr>
            <p:cNvPr id="34" name="Google Shape;34;p5"/>
            <p:cNvGrpSpPr/>
            <p:nvPr/>
          </p:nvGrpSpPr>
          <p:grpSpPr>
            <a:xfrm>
              <a:off x="7343003" y="4453711"/>
              <a:ext cx="316800" cy="688512"/>
              <a:chOff x="7343003" y="4453711"/>
              <a:chExt cx="316800" cy="688512"/>
            </a:xfrm>
          </p:grpSpPr>
          <p:sp>
            <p:nvSpPr>
              <p:cNvPr id="35" name="Google Shape;35;p5"/>
              <p:cNvSpPr/>
              <p:nvPr/>
            </p:nvSpPr>
            <p:spPr>
              <a:xfrm>
                <a:off x="7343003" y="4453711"/>
                <a:ext cx="316800" cy="688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5"/>
              <p:cNvSpPr/>
              <p:nvPr/>
            </p:nvSpPr>
            <p:spPr>
              <a:xfrm>
                <a:off x="7343003" y="4801723"/>
                <a:ext cx="316800" cy="340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 name="Google Shape;37;p5"/>
            <p:cNvGrpSpPr/>
            <p:nvPr/>
          </p:nvGrpSpPr>
          <p:grpSpPr>
            <a:xfrm>
              <a:off x="7801210" y="4105700"/>
              <a:ext cx="316800" cy="1036523"/>
              <a:chOff x="7801210" y="4105700"/>
              <a:chExt cx="316800" cy="1036523"/>
            </a:xfrm>
          </p:grpSpPr>
          <p:sp>
            <p:nvSpPr>
              <p:cNvPr id="38" name="Google Shape;38;p5"/>
              <p:cNvSpPr/>
              <p:nvPr/>
            </p:nvSpPr>
            <p:spPr>
              <a:xfrm>
                <a:off x="7801210" y="4453711"/>
                <a:ext cx="316800" cy="688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5"/>
              <p:cNvSpPr/>
              <p:nvPr/>
            </p:nvSpPr>
            <p:spPr>
              <a:xfrm>
                <a:off x="7801210" y="4105700"/>
                <a:ext cx="316800" cy="1036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5"/>
              <p:cNvSpPr/>
              <p:nvPr/>
            </p:nvSpPr>
            <p:spPr>
              <a:xfrm>
                <a:off x="7801210" y="4801723"/>
                <a:ext cx="316800" cy="340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 name="Google Shape;41;p5"/>
            <p:cNvGrpSpPr/>
            <p:nvPr/>
          </p:nvGrpSpPr>
          <p:grpSpPr>
            <a:xfrm>
              <a:off x="8259418" y="3757688"/>
              <a:ext cx="316800" cy="1384535"/>
              <a:chOff x="8259418" y="3757688"/>
              <a:chExt cx="316800" cy="1384535"/>
            </a:xfrm>
          </p:grpSpPr>
          <p:sp>
            <p:nvSpPr>
              <p:cNvPr id="42" name="Google Shape;42;p5"/>
              <p:cNvSpPr/>
              <p:nvPr/>
            </p:nvSpPr>
            <p:spPr>
              <a:xfrm>
                <a:off x="8259418" y="4453711"/>
                <a:ext cx="316800" cy="688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5"/>
              <p:cNvSpPr/>
              <p:nvPr/>
            </p:nvSpPr>
            <p:spPr>
              <a:xfrm>
                <a:off x="8259418" y="3757688"/>
                <a:ext cx="316800" cy="1384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5"/>
              <p:cNvSpPr/>
              <p:nvPr/>
            </p:nvSpPr>
            <p:spPr>
              <a:xfrm>
                <a:off x="8259418" y="4105700"/>
                <a:ext cx="316800" cy="1036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5"/>
              <p:cNvSpPr/>
              <p:nvPr/>
            </p:nvSpPr>
            <p:spPr>
              <a:xfrm>
                <a:off x="8259418" y="4801723"/>
                <a:ext cx="316800" cy="340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 name="Google Shape;46;p5"/>
            <p:cNvGrpSpPr/>
            <p:nvPr/>
          </p:nvGrpSpPr>
          <p:grpSpPr>
            <a:xfrm>
              <a:off x="8717625" y="3409675"/>
              <a:ext cx="316800" cy="1732548"/>
              <a:chOff x="8717625" y="3409675"/>
              <a:chExt cx="316800" cy="1732548"/>
            </a:xfrm>
          </p:grpSpPr>
          <p:sp>
            <p:nvSpPr>
              <p:cNvPr id="47" name="Google Shape;47;p5"/>
              <p:cNvSpPr/>
              <p:nvPr/>
            </p:nvSpPr>
            <p:spPr>
              <a:xfrm>
                <a:off x="8717625" y="4453711"/>
                <a:ext cx="316800" cy="688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5"/>
              <p:cNvSpPr/>
              <p:nvPr/>
            </p:nvSpPr>
            <p:spPr>
              <a:xfrm>
                <a:off x="8717625" y="3757688"/>
                <a:ext cx="316800" cy="1384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5"/>
              <p:cNvSpPr/>
              <p:nvPr/>
            </p:nvSpPr>
            <p:spPr>
              <a:xfrm>
                <a:off x="8717625" y="4105700"/>
                <a:ext cx="316800" cy="1036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5"/>
              <p:cNvSpPr/>
              <p:nvPr/>
            </p:nvSpPr>
            <p:spPr>
              <a:xfrm>
                <a:off x="8717625" y="3409675"/>
                <a:ext cx="316800" cy="1732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5"/>
              <p:cNvSpPr/>
              <p:nvPr/>
            </p:nvSpPr>
            <p:spPr>
              <a:xfrm>
                <a:off x="8717625" y="4801723"/>
                <a:ext cx="316800" cy="340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52" name="Google Shape;52;p5"/>
          <p:cNvGrpSpPr/>
          <p:nvPr/>
        </p:nvGrpSpPr>
        <p:grpSpPr>
          <a:xfrm>
            <a:off x="8069604" y="0"/>
            <a:ext cx="6102516" cy="6142561"/>
            <a:chOff x="5043503" y="0"/>
            <a:chExt cx="3814072" cy="3839102"/>
          </a:xfrm>
        </p:grpSpPr>
        <p:sp>
          <p:nvSpPr>
            <p:cNvPr id="53" name="Google Shape;53;p5"/>
            <p:cNvSpPr/>
            <p:nvPr/>
          </p:nvSpPr>
          <p:spPr>
            <a:xfrm>
              <a:off x="8460975" y="1817775"/>
              <a:ext cx="396600" cy="396600"/>
            </a:xfrm>
            <a:prstGeom prst="ellipse">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5"/>
            <p:cNvSpPr/>
            <p:nvPr/>
          </p:nvSpPr>
          <p:spPr>
            <a:xfrm rot="-9830444">
              <a:off x="6469759" y="3480728"/>
              <a:ext cx="320148" cy="320148"/>
            </a:xfrm>
            <a:prstGeom prst="ellipse">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5" name="Google Shape;55;p5"/>
            <p:cNvGrpSpPr/>
            <p:nvPr/>
          </p:nvGrpSpPr>
          <p:grpSpPr>
            <a:xfrm>
              <a:off x="7647812" y="2704283"/>
              <a:ext cx="635219" cy="635219"/>
              <a:chOff x="6725724" y="2701260"/>
              <a:chExt cx="1208101" cy="1208100"/>
            </a:xfrm>
          </p:grpSpPr>
          <p:sp>
            <p:nvSpPr>
              <p:cNvPr id="56" name="Google Shape;56;p5"/>
              <p:cNvSpPr/>
              <p:nvPr/>
            </p:nvSpPr>
            <p:spPr>
              <a:xfrm rot="5400000">
                <a:off x="6725725" y="2701260"/>
                <a:ext cx="1208100" cy="1208100"/>
              </a:xfrm>
              <a:prstGeom prst="ellipse">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5"/>
              <p:cNvSpPr/>
              <p:nvPr/>
            </p:nvSpPr>
            <p:spPr>
              <a:xfrm rot="5400000">
                <a:off x="6725724" y="2701260"/>
                <a:ext cx="1208100" cy="1208100"/>
              </a:xfrm>
              <a:prstGeom prst="pie">
                <a:avLst>
                  <a:gd fmla="val 8244818" name="adj1"/>
                  <a:gd fmla="val 16246175"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5"/>
              <p:cNvSpPr/>
              <p:nvPr/>
            </p:nvSpPr>
            <p:spPr>
              <a:xfrm rot="5400000">
                <a:off x="6954988" y="2930398"/>
                <a:ext cx="749700" cy="749700"/>
              </a:xfrm>
              <a:prstGeom prst="ellipse">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5"/>
            <p:cNvSpPr/>
            <p:nvPr/>
          </p:nvSpPr>
          <p:spPr>
            <a:xfrm>
              <a:off x="8460975" y="1817775"/>
              <a:ext cx="396600" cy="396600"/>
            </a:xfrm>
            <a:prstGeom prst="pie">
              <a:avLst>
                <a:gd fmla="val 19376841" name="adj1"/>
                <a:gd fmla="val 1620000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0" name="Google Shape;60;p5"/>
            <p:cNvGrpSpPr/>
            <p:nvPr/>
          </p:nvGrpSpPr>
          <p:grpSpPr>
            <a:xfrm>
              <a:off x="7952720" y="179238"/>
              <a:ext cx="873165" cy="873003"/>
              <a:chOff x="7754428" y="208725"/>
              <a:chExt cx="541800" cy="541800"/>
            </a:xfrm>
          </p:grpSpPr>
          <p:sp>
            <p:nvSpPr>
              <p:cNvPr id="61" name="Google Shape;61;p5"/>
              <p:cNvSpPr/>
              <p:nvPr/>
            </p:nvSpPr>
            <p:spPr>
              <a:xfrm rot="-8647347">
                <a:off x="7831319" y="285616"/>
                <a:ext cx="388018" cy="388018"/>
              </a:xfrm>
              <a:prstGeom prst="ellipse">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5"/>
              <p:cNvSpPr/>
              <p:nvPr/>
            </p:nvSpPr>
            <p:spPr>
              <a:xfrm rot="-8647347">
                <a:off x="7831319" y="285616"/>
                <a:ext cx="388018" cy="388018"/>
              </a:xfrm>
              <a:prstGeom prst="pie">
                <a:avLst>
                  <a:gd fmla="val 19376841" name="adj1"/>
                  <a:gd fmla="val 12313574"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 name="Google Shape;63;p5"/>
            <p:cNvSpPr/>
            <p:nvPr/>
          </p:nvSpPr>
          <p:spPr>
            <a:xfrm>
              <a:off x="5399840" y="356365"/>
              <a:ext cx="2577000" cy="2577000"/>
            </a:xfrm>
            <a:prstGeom prst="ellipse">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5"/>
            <p:cNvSpPr/>
            <p:nvPr/>
          </p:nvSpPr>
          <p:spPr>
            <a:xfrm rot="2043858">
              <a:off x="5503813" y="460310"/>
              <a:ext cx="2369480" cy="2369480"/>
            </a:xfrm>
            <a:prstGeom prst="ellipse">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5"/>
            <p:cNvSpPr/>
            <p:nvPr/>
          </p:nvSpPr>
          <p:spPr>
            <a:xfrm>
              <a:off x="5399795" y="360281"/>
              <a:ext cx="2577000" cy="2577000"/>
            </a:xfrm>
            <a:prstGeom prst="pie">
              <a:avLst>
                <a:gd fmla="val 8801158" name="adj1"/>
                <a:gd fmla="val 1620000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5"/>
            <p:cNvSpPr/>
            <p:nvPr/>
          </p:nvSpPr>
          <p:spPr>
            <a:xfrm rot="2044777">
              <a:off x="5911449" y="867729"/>
              <a:ext cx="1554223" cy="1554223"/>
            </a:xfrm>
            <a:prstGeom prst="ellipse">
              <a:avLst/>
            </a:pr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5"/>
            <p:cNvSpPr/>
            <p:nvPr/>
          </p:nvSpPr>
          <p:spPr>
            <a:xfrm>
              <a:off x="5399795" y="356358"/>
              <a:ext cx="2577000" cy="2577000"/>
            </a:xfrm>
            <a:prstGeom prst="pie">
              <a:avLst>
                <a:gd fmla="val 12554101" name="adj1"/>
                <a:gd fmla="val 1620000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5"/>
            <p:cNvSpPr/>
            <p:nvPr/>
          </p:nvSpPr>
          <p:spPr>
            <a:xfrm rot="-9830444">
              <a:off x="6469759" y="3480727"/>
              <a:ext cx="320148" cy="320148"/>
            </a:xfrm>
            <a:prstGeom prst="pie">
              <a:avLst>
                <a:gd fmla="val 19376841" name="adj1"/>
                <a:gd fmla="val 1620000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9" name="Google Shape;69;p5"/>
          <p:cNvSpPr txBox="1"/>
          <p:nvPr>
            <p:ph type="ctrTitle"/>
          </p:nvPr>
        </p:nvSpPr>
        <p:spPr>
          <a:xfrm>
            <a:off x="1318400" y="2582100"/>
            <a:ext cx="6808800" cy="29967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Clr>
                <a:schemeClr val="lt1"/>
              </a:buClr>
              <a:buSzPts val="5800"/>
              <a:buNone/>
              <a:defRPr sz="5800">
                <a:solidFill>
                  <a:schemeClr val="lt1"/>
                </a:solidFill>
              </a:defRPr>
            </a:lvl1pPr>
            <a:lvl2pPr lvl="1" algn="l">
              <a:lnSpc>
                <a:spcPct val="100000"/>
              </a:lnSpc>
              <a:spcBef>
                <a:spcPts val="0"/>
              </a:spcBef>
              <a:spcAft>
                <a:spcPts val="0"/>
              </a:spcAft>
              <a:buClr>
                <a:schemeClr val="lt1"/>
              </a:buClr>
              <a:buSzPts val="5800"/>
              <a:buNone/>
              <a:defRPr sz="5800">
                <a:solidFill>
                  <a:schemeClr val="lt1"/>
                </a:solidFill>
              </a:defRPr>
            </a:lvl2pPr>
            <a:lvl3pPr lvl="2" algn="l">
              <a:lnSpc>
                <a:spcPct val="100000"/>
              </a:lnSpc>
              <a:spcBef>
                <a:spcPts val="0"/>
              </a:spcBef>
              <a:spcAft>
                <a:spcPts val="0"/>
              </a:spcAft>
              <a:buClr>
                <a:schemeClr val="lt1"/>
              </a:buClr>
              <a:buSzPts val="5800"/>
              <a:buNone/>
              <a:defRPr sz="5800">
                <a:solidFill>
                  <a:schemeClr val="lt1"/>
                </a:solidFill>
              </a:defRPr>
            </a:lvl3pPr>
            <a:lvl4pPr lvl="3" algn="l">
              <a:lnSpc>
                <a:spcPct val="100000"/>
              </a:lnSpc>
              <a:spcBef>
                <a:spcPts val="0"/>
              </a:spcBef>
              <a:spcAft>
                <a:spcPts val="0"/>
              </a:spcAft>
              <a:buClr>
                <a:schemeClr val="lt1"/>
              </a:buClr>
              <a:buSzPts val="5800"/>
              <a:buNone/>
              <a:defRPr sz="5800">
                <a:solidFill>
                  <a:schemeClr val="lt1"/>
                </a:solidFill>
              </a:defRPr>
            </a:lvl4pPr>
            <a:lvl5pPr lvl="4" algn="l">
              <a:lnSpc>
                <a:spcPct val="100000"/>
              </a:lnSpc>
              <a:spcBef>
                <a:spcPts val="0"/>
              </a:spcBef>
              <a:spcAft>
                <a:spcPts val="0"/>
              </a:spcAft>
              <a:buClr>
                <a:schemeClr val="lt1"/>
              </a:buClr>
              <a:buSzPts val="5800"/>
              <a:buNone/>
              <a:defRPr sz="5800">
                <a:solidFill>
                  <a:schemeClr val="lt1"/>
                </a:solidFill>
              </a:defRPr>
            </a:lvl5pPr>
            <a:lvl6pPr lvl="5" algn="l">
              <a:lnSpc>
                <a:spcPct val="100000"/>
              </a:lnSpc>
              <a:spcBef>
                <a:spcPts val="0"/>
              </a:spcBef>
              <a:spcAft>
                <a:spcPts val="0"/>
              </a:spcAft>
              <a:buClr>
                <a:schemeClr val="lt1"/>
              </a:buClr>
              <a:buSzPts val="5800"/>
              <a:buNone/>
              <a:defRPr sz="5800">
                <a:solidFill>
                  <a:schemeClr val="lt1"/>
                </a:solidFill>
              </a:defRPr>
            </a:lvl6pPr>
            <a:lvl7pPr lvl="6" algn="l">
              <a:lnSpc>
                <a:spcPct val="100000"/>
              </a:lnSpc>
              <a:spcBef>
                <a:spcPts val="0"/>
              </a:spcBef>
              <a:spcAft>
                <a:spcPts val="0"/>
              </a:spcAft>
              <a:buClr>
                <a:schemeClr val="lt1"/>
              </a:buClr>
              <a:buSzPts val="5800"/>
              <a:buNone/>
              <a:defRPr sz="5800">
                <a:solidFill>
                  <a:schemeClr val="lt1"/>
                </a:solidFill>
              </a:defRPr>
            </a:lvl7pPr>
            <a:lvl8pPr lvl="7" algn="l">
              <a:lnSpc>
                <a:spcPct val="100000"/>
              </a:lnSpc>
              <a:spcBef>
                <a:spcPts val="0"/>
              </a:spcBef>
              <a:spcAft>
                <a:spcPts val="0"/>
              </a:spcAft>
              <a:buClr>
                <a:schemeClr val="lt1"/>
              </a:buClr>
              <a:buSzPts val="5800"/>
              <a:buNone/>
              <a:defRPr sz="5800">
                <a:solidFill>
                  <a:schemeClr val="lt1"/>
                </a:solidFill>
              </a:defRPr>
            </a:lvl8pPr>
            <a:lvl9pPr lvl="8" algn="l">
              <a:lnSpc>
                <a:spcPct val="100000"/>
              </a:lnSpc>
              <a:spcBef>
                <a:spcPts val="0"/>
              </a:spcBef>
              <a:spcAft>
                <a:spcPts val="0"/>
              </a:spcAft>
              <a:buClr>
                <a:schemeClr val="lt1"/>
              </a:buClr>
              <a:buSzPts val="5800"/>
              <a:buNone/>
              <a:defRPr sz="5800">
                <a:solidFill>
                  <a:schemeClr val="lt1"/>
                </a:solidFill>
              </a:defRPr>
            </a:lvl9pPr>
          </a:lstStyle>
          <a:p/>
        </p:txBody>
      </p:sp>
      <p:sp>
        <p:nvSpPr>
          <p:cNvPr id="70" name="Google Shape;70;p5"/>
          <p:cNvSpPr txBox="1"/>
          <p:nvPr>
            <p:ph idx="1" type="subTitle"/>
          </p:nvPr>
        </p:nvSpPr>
        <p:spPr>
          <a:xfrm>
            <a:off x="1318400" y="5754080"/>
            <a:ext cx="6808800" cy="11127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Clr>
                <a:schemeClr val="lt1"/>
              </a:buClr>
              <a:buSzPts val="2600"/>
              <a:buNone/>
              <a:defRPr sz="2600">
                <a:solidFill>
                  <a:schemeClr val="lt1"/>
                </a:solidFill>
              </a:defRPr>
            </a:lvl1pPr>
            <a:lvl2pPr lvl="1" algn="l">
              <a:lnSpc>
                <a:spcPct val="100000"/>
              </a:lnSpc>
              <a:spcBef>
                <a:spcPts val="0"/>
              </a:spcBef>
              <a:spcAft>
                <a:spcPts val="0"/>
              </a:spcAft>
              <a:buClr>
                <a:schemeClr val="lt1"/>
              </a:buClr>
              <a:buSzPts val="2600"/>
              <a:buNone/>
              <a:defRPr sz="2600">
                <a:solidFill>
                  <a:schemeClr val="lt1"/>
                </a:solidFill>
              </a:defRPr>
            </a:lvl2pPr>
            <a:lvl3pPr lvl="2" algn="l">
              <a:lnSpc>
                <a:spcPct val="100000"/>
              </a:lnSpc>
              <a:spcBef>
                <a:spcPts val="0"/>
              </a:spcBef>
              <a:spcAft>
                <a:spcPts val="0"/>
              </a:spcAft>
              <a:buClr>
                <a:schemeClr val="lt1"/>
              </a:buClr>
              <a:buSzPts val="2600"/>
              <a:buNone/>
              <a:defRPr sz="2600">
                <a:solidFill>
                  <a:schemeClr val="lt1"/>
                </a:solidFill>
              </a:defRPr>
            </a:lvl3pPr>
            <a:lvl4pPr lvl="3" algn="l">
              <a:lnSpc>
                <a:spcPct val="100000"/>
              </a:lnSpc>
              <a:spcBef>
                <a:spcPts val="0"/>
              </a:spcBef>
              <a:spcAft>
                <a:spcPts val="0"/>
              </a:spcAft>
              <a:buClr>
                <a:schemeClr val="lt1"/>
              </a:buClr>
              <a:buSzPts val="2600"/>
              <a:buNone/>
              <a:defRPr sz="2600">
                <a:solidFill>
                  <a:schemeClr val="lt1"/>
                </a:solidFill>
              </a:defRPr>
            </a:lvl4pPr>
            <a:lvl5pPr lvl="4" algn="l">
              <a:lnSpc>
                <a:spcPct val="100000"/>
              </a:lnSpc>
              <a:spcBef>
                <a:spcPts val="0"/>
              </a:spcBef>
              <a:spcAft>
                <a:spcPts val="0"/>
              </a:spcAft>
              <a:buClr>
                <a:schemeClr val="lt1"/>
              </a:buClr>
              <a:buSzPts val="2600"/>
              <a:buNone/>
              <a:defRPr sz="2600">
                <a:solidFill>
                  <a:schemeClr val="lt1"/>
                </a:solidFill>
              </a:defRPr>
            </a:lvl5pPr>
            <a:lvl6pPr lvl="5" algn="l">
              <a:lnSpc>
                <a:spcPct val="100000"/>
              </a:lnSpc>
              <a:spcBef>
                <a:spcPts val="0"/>
              </a:spcBef>
              <a:spcAft>
                <a:spcPts val="0"/>
              </a:spcAft>
              <a:buClr>
                <a:schemeClr val="lt1"/>
              </a:buClr>
              <a:buSzPts val="2600"/>
              <a:buNone/>
              <a:defRPr sz="2600">
                <a:solidFill>
                  <a:schemeClr val="lt1"/>
                </a:solidFill>
              </a:defRPr>
            </a:lvl6pPr>
            <a:lvl7pPr lvl="6" algn="l">
              <a:lnSpc>
                <a:spcPct val="100000"/>
              </a:lnSpc>
              <a:spcBef>
                <a:spcPts val="0"/>
              </a:spcBef>
              <a:spcAft>
                <a:spcPts val="0"/>
              </a:spcAft>
              <a:buClr>
                <a:schemeClr val="lt1"/>
              </a:buClr>
              <a:buSzPts val="2600"/>
              <a:buNone/>
              <a:defRPr sz="2600">
                <a:solidFill>
                  <a:schemeClr val="lt1"/>
                </a:solidFill>
              </a:defRPr>
            </a:lvl7pPr>
            <a:lvl8pPr lvl="7" algn="l">
              <a:lnSpc>
                <a:spcPct val="100000"/>
              </a:lnSpc>
              <a:spcBef>
                <a:spcPts val="0"/>
              </a:spcBef>
              <a:spcAft>
                <a:spcPts val="0"/>
              </a:spcAft>
              <a:buClr>
                <a:schemeClr val="lt1"/>
              </a:buClr>
              <a:buSzPts val="2600"/>
              <a:buNone/>
              <a:defRPr sz="2600">
                <a:solidFill>
                  <a:schemeClr val="lt1"/>
                </a:solidFill>
              </a:defRPr>
            </a:lvl8pPr>
            <a:lvl9pPr lvl="8" algn="l">
              <a:lnSpc>
                <a:spcPct val="100000"/>
              </a:lnSpc>
              <a:spcBef>
                <a:spcPts val="0"/>
              </a:spcBef>
              <a:spcAft>
                <a:spcPts val="0"/>
              </a:spcAft>
              <a:buClr>
                <a:schemeClr val="lt1"/>
              </a:buClr>
              <a:buSzPts val="2600"/>
              <a:buNone/>
              <a:defRPr sz="2600">
                <a:solidFill>
                  <a:schemeClr val="lt1"/>
                </a:solidFill>
              </a:defRPr>
            </a:lvl9pPr>
          </a:lstStyle>
          <a:p/>
        </p:txBody>
      </p:sp>
      <p:sp>
        <p:nvSpPr>
          <p:cNvPr id="71" name="Google Shape;71;p5"/>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72" name="Shape 72"/>
        <p:cNvGrpSpPr/>
        <p:nvPr/>
      </p:nvGrpSpPr>
      <p:grpSpPr>
        <a:xfrm>
          <a:off x="0" y="0"/>
          <a:ext cx="0" cy="0"/>
          <a:chOff x="0" y="0"/>
          <a:chExt cx="0" cy="0"/>
        </a:xfrm>
      </p:grpSpPr>
      <p:grpSp>
        <p:nvGrpSpPr>
          <p:cNvPr id="73" name="Google Shape;73;p6"/>
          <p:cNvGrpSpPr/>
          <p:nvPr/>
        </p:nvGrpSpPr>
        <p:grpSpPr>
          <a:xfrm>
            <a:off x="234830" y="5450"/>
            <a:ext cx="1973142" cy="2215256"/>
            <a:chOff x="146769" y="3406"/>
            <a:chExt cx="1233214" cy="1384535"/>
          </a:xfrm>
        </p:grpSpPr>
        <p:grpSp>
          <p:nvGrpSpPr>
            <p:cNvPr id="74" name="Google Shape;74;p6"/>
            <p:cNvGrpSpPr/>
            <p:nvPr/>
          </p:nvGrpSpPr>
          <p:grpSpPr>
            <a:xfrm>
              <a:off x="1063183" y="3406"/>
              <a:ext cx="316800" cy="688513"/>
              <a:chOff x="1063183" y="3406"/>
              <a:chExt cx="316800" cy="688513"/>
            </a:xfrm>
          </p:grpSpPr>
          <p:sp>
            <p:nvSpPr>
              <p:cNvPr id="75" name="Google Shape;75;p6"/>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6"/>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7" name="Google Shape;77;p6"/>
            <p:cNvGrpSpPr/>
            <p:nvPr/>
          </p:nvGrpSpPr>
          <p:grpSpPr>
            <a:xfrm>
              <a:off x="604976" y="3406"/>
              <a:ext cx="316800" cy="1036524"/>
              <a:chOff x="604976" y="3406"/>
              <a:chExt cx="316800" cy="1036524"/>
            </a:xfrm>
          </p:grpSpPr>
          <p:sp>
            <p:nvSpPr>
              <p:cNvPr id="78" name="Google Shape;78;p6"/>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6"/>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6"/>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 name="Google Shape;81;p6"/>
            <p:cNvGrpSpPr/>
            <p:nvPr/>
          </p:nvGrpSpPr>
          <p:grpSpPr>
            <a:xfrm>
              <a:off x="146769" y="3406"/>
              <a:ext cx="316800" cy="1384535"/>
              <a:chOff x="146769" y="3406"/>
              <a:chExt cx="316800" cy="1384535"/>
            </a:xfrm>
          </p:grpSpPr>
          <p:sp>
            <p:nvSpPr>
              <p:cNvPr id="82" name="Google Shape;82;p6"/>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6"/>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6"/>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6"/>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86" name="Google Shape;86;p6"/>
          <p:cNvGrpSpPr/>
          <p:nvPr/>
        </p:nvGrpSpPr>
        <p:grpSpPr>
          <a:xfrm>
            <a:off x="10840134" y="4646413"/>
            <a:ext cx="3497834" cy="3583200"/>
            <a:chOff x="6775084" y="2904008"/>
            <a:chExt cx="2186147" cy="2239500"/>
          </a:xfrm>
        </p:grpSpPr>
        <p:grpSp>
          <p:nvGrpSpPr>
            <p:cNvPr id="87" name="Google Shape;87;p6"/>
            <p:cNvGrpSpPr/>
            <p:nvPr/>
          </p:nvGrpSpPr>
          <p:grpSpPr>
            <a:xfrm>
              <a:off x="6775084" y="4253708"/>
              <a:ext cx="409500" cy="889800"/>
              <a:chOff x="6775084" y="4253708"/>
              <a:chExt cx="409500" cy="889800"/>
            </a:xfrm>
          </p:grpSpPr>
          <p:sp>
            <p:nvSpPr>
              <p:cNvPr id="88" name="Google Shape;88;p6"/>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6"/>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0" name="Google Shape;90;p6"/>
            <p:cNvGrpSpPr/>
            <p:nvPr/>
          </p:nvGrpSpPr>
          <p:grpSpPr>
            <a:xfrm>
              <a:off x="7367299" y="3804008"/>
              <a:ext cx="409500" cy="1339500"/>
              <a:chOff x="7367299" y="3804008"/>
              <a:chExt cx="409500" cy="1339500"/>
            </a:xfrm>
          </p:grpSpPr>
          <p:sp>
            <p:nvSpPr>
              <p:cNvPr id="91" name="Google Shape;91;p6"/>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6"/>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6"/>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4" name="Google Shape;94;p6"/>
            <p:cNvGrpSpPr/>
            <p:nvPr/>
          </p:nvGrpSpPr>
          <p:grpSpPr>
            <a:xfrm>
              <a:off x="7959516" y="3354008"/>
              <a:ext cx="409500" cy="1789500"/>
              <a:chOff x="7959516" y="3354008"/>
              <a:chExt cx="409500" cy="1789500"/>
            </a:xfrm>
          </p:grpSpPr>
          <p:sp>
            <p:nvSpPr>
              <p:cNvPr id="95" name="Google Shape;95;p6"/>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6"/>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6"/>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6"/>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9" name="Google Shape;99;p6"/>
            <p:cNvGrpSpPr/>
            <p:nvPr/>
          </p:nvGrpSpPr>
          <p:grpSpPr>
            <a:xfrm>
              <a:off x="8551731" y="2904008"/>
              <a:ext cx="409500" cy="2239500"/>
              <a:chOff x="8551731" y="2904008"/>
              <a:chExt cx="409500" cy="2239500"/>
            </a:xfrm>
          </p:grpSpPr>
          <p:sp>
            <p:nvSpPr>
              <p:cNvPr id="100" name="Google Shape;100;p6"/>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6"/>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6"/>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6"/>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6"/>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05" name="Google Shape;105;p6"/>
          <p:cNvSpPr txBox="1"/>
          <p:nvPr>
            <p:ph type="title"/>
          </p:nvPr>
        </p:nvSpPr>
        <p:spPr>
          <a:xfrm>
            <a:off x="1318400" y="2582120"/>
            <a:ext cx="9372600" cy="29967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Clr>
                <a:schemeClr val="lt1"/>
              </a:buClr>
              <a:buSzPts val="5800"/>
              <a:buNone/>
              <a:defRPr sz="5800">
                <a:solidFill>
                  <a:schemeClr val="lt1"/>
                </a:solidFill>
              </a:defRPr>
            </a:lvl1pPr>
            <a:lvl2pPr lvl="1" algn="l">
              <a:lnSpc>
                <a:spcPct val="100000"/>
              </a:lnSpc>
              <a:spcBef>
                <a:spcPts val="0"/>
              </a:spcBef>
              <a:spcAft>
                <a:spcPts val="0"/>
              </a:spcAft>
              <a:buClr>
                <a:schemeClr val="lt1"/>
              </a:buClr>
              <a:buSzPts val="5800"/>
              <a:buNone/>
              <a:defRPr sz="5800">
                <a:solidFill>
                  <a:schemeClr val="lt1"/>
                </a:solidFill>
              </a:defRPr>
            </a:lvl2pPr>
            <a:lvl3pPr lvl="2" algn="l">
              <a:lnSpc>
                <a:spcPct val="100000"/>
              </a:lnSpc>
              <a:spcBef>
                <a:spcPts val="0"/>
              </a:spcBef>
              <a:spcAft>
                <a:spcPts val="0"/>
              </a:spcAft>
              <a:buClr>
                <a:schemeClr val="lt1"/>
              </a:buClr>
              <a:buSzPts val="5800"/>
              <a:buNone/>
              <a:defRPr sz="5800">
                <a:solidFill>
                  <a:schemeClr val="lt1"/>
                </a:solidFill>
              </a:defRPr>
            </a:lvl3pPr>
            <a:lvl4pPr lvl="3" algn="l">
              <a:lnSpc>
                <a:spcPct val="100000"/>
              </a:lnSpc>
              <a:spcBef>
                <a:spcPts val="0"/>
              </a:spcBef>
              <a:spcAft>
                <a:spcPts val="0"/>
              </a:spcAft>
              <a:buClr>
                <a:schemeClr val="lt1"/>
              </a:buClr>
              <a:buSzPts val="5800"/>
              <a:buNone/>
              <a:defRPr sz="5800">
                <a:solidFill>
                  <a:schemeClr val="lt1"/>
                </a:solidFill>
              </a:defRPr>
            </a:lvl4pPr>
            <a:lvl5pPr lvl="4" algn="l">
              <a:lnSpc>
                <a:spcPct val="100000"/>
              </a:lnSpc>
              <a:spcBef>
                <a:spcPts val="0"/>
              </a:spcBef>
              <a:spcAft>
                <a:spcPts val="0"/>
              </a:spcAft>
              <a:buClr>
                <a:schemeClr val="lt1"/>
              </a:buClr>
              <a:buSzPts val="5800"/>
              <a:buNone/>
              <a:defRPr sz="5800">
                <a:solidFill>
                  <a:schemeClr val="lt1"/>
                </a:solidFill>
              </a:defRPr>
            </a:lvl5pPr>
            <a:lvl6pPr lvl="5" algn="l">
              <a:lnSpc>
                <a:spcPct val="100000"/>
              </a:lnSpc>
              <a:spcBef>
                <a:spcPts val="0"/>
              </a:spcBef>
              <a:spcAft>
                <a:spcPts val="0"/>
              </a:spcAft>
              <a:buClr>
                <a:schemeClr val="lt1"/>
              </a:buClr>
              <a:buSzPts val="5800"/>
              <a:buNone/>
              <a:defRPr sz="5800">
                <a:solidFill>
                  <a:schemeClr val="lt1"/>
                </a:solidFill>
              </a:defRPr>
            </a:lvl6pPr>
            <a:lvl7pPr lvl="6" algn="l">
              <a:lnSpc>
                <a:spcPct val="100000"/>
              </a:lnSpc>
              <a:spcBef>
                <a:spcPts val="0"/>
              </a:spcBef>
              <a:spcAft>
                <a:spcPts val="0"/>
              </a:spcAft>
              <a:buClr>
                <a:schemeClr val="lt1"/>
              </a:buClr>
              <a:buSzPts val="5800"/>
              <a:buNone/>
              <a:defRPr sz="5800">
                <a:solidFill>
                  <a:schemeClr val="lt1"/>
                </a:solidFill>
              </a:defRPr>
            </a:lvl7pPr>
            <a:lvl8pPr lvl="7" algn="l">
              <a:lnSpc>
                <a:spcPct val="100000"/>
              </a:lnSpc>
              <a:spcBef>
                <a:spcPts val="0"/>
              </a:spcBef>
              <a:spcAft>
                <a:spcPts val="0"/>
              </a:spcAft>
              <a:buClr>
                <a:schemeClr val="lt1"/>
              </a:buClr>
              <a:buSzPts val="5800"/>
              <a:buNone/>
              <a:defRPr sz="5800">
                <a:solidFill>
                  <a:schemeClr val="lt1"/>
                </a:solidFill>
              </a:defRPr>
            </a:lvl8pPr>
            <a:lvl9pPr lvl="8" algn="l">
              <a:lnSpc>
                <a:spcPct val="100000"/>
              </a:lnSpc>
              <a:spcBef>
                <a:spcPts val="0"/>
              </a:spcBef>
              <a:spcAft>
                <a:spcPts val="0"/>
              </a:spcAft>
              <a:buClr>
                <a:schemeClr val="lt1"/>
              </a:buClr>
              <a:buSzPts val="5800"/>
              <a:buNone/>
              <a:defRPr sz="5800">
                <a:solidFill>
                  <a:schemeClr val="lt1"/>
                </a:solidFill>
              </a:defRPr>
            </a:lvl9pPr>
          </a:lstStyle>
          <a:p/>
        </p:txBody>
      </p:sp>
      <p:sp>
        <p:nvSpPr>
          <p:cNvPr id="106" name="Google Shape;106;p6"/>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7" name="Shape 107"/>
        <p:cNvGrpSpPr/>
        <p:nvPr/>
      </p:nvGrpSpPr>
      <p:grpSpPr>
        <a:xfrm>
          <a:off x="0" y="0"/>
          <a:ext cx="0" cy="0"/>
          <a:chOff x="0" y="0"/>
          <a:chExt cx="0" cy="0"/>
        </a:xfrm>
      </p:grpSpPr>
      <p:grpSp>
        <p:nvGrpSpPr>
          <p:cNvPr id="108" name="Google Shape;108;p7"/>
          <p:cNvGrpSpPr/>
          <p:nvPr/>
        </p:nvGrpSpPr>
        <p:grpSpPr>
          <a:xfrm>
            <a:off x="1001538" y="478999"/>
            <a:ext cx="1598876" cy="1598876"/>
            <a:chOff x="348199" y="179450"/>
            <a:chExt cx="1116300" cy="1116300"/>
          </a:xfrm>
        </p:grpSpPr>
        <p:sp>
          <p:nvSpPr>
            <p:cNvPr id="109" name="Google Shape;109;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1" name="Google Shape;111;p7"/>
          <p:cNvSpPr txBox="1"/>
          <p:nvPr>
            <p:ph type="title"/>
          </p:nvPr>
        </p:nvSpPr>
        <p:spPr>
          <a:xfrm>
            <a:off x="2086080" y="957720"/>
            <a:ext cx="11248800" cy="15990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112" name="Google Shape;112;p7"/>
          <p:cNvSpPr txBox="1"/>
          <p:nvPr>
            <p:ph idx="1" type="body"/>
          </p:nvPr>
        </p:nvSpPr>
        <p:spPr>
          <a:xfrm>
            <a:off x="2086080" y="3184080"/>
            <a:ext cx="11248800" cy="40665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13" name="Google Shape;113;p7"/>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4" name="Shape 114"/>
        <p:cNvGrpSpPr/>
        <p:nvPr/>
      </p:nvGrpSpPr>
      <p:grpSpPr>
        <a:xfrm>
          <a:off x="0" y="0"/>
          <a:ext cx="0" cy="0"/>
          <a:chOff x="0" y="0"/>
          <a:chExt cx="0" cy="0"/>
        </a:xfrm>
      </p:grpSpPr>
      <p:grpSp>
        <p:nvGrpSpPr>
          <p:cNvPr id="115" name="Google Shape;115;p8"/>
          <p:cNvGrpSpPr/>
          <p:nvPr/>
        </p:nvGrpSpPr>
        <p:grpSpPr>
          <a:xfrm>
            <a:off x="1001538" y="478999"/>
            <a:ext cx="1598876" cy="1598876"/>
            <a:chOff x="348199" y="179450"/>
            <a:chExt cx="1116300" cy="1116300"/>
          </a:xfrm>
        </p:grpSpPr>
        <p:sp>
          <p:nvSpPr>
            <p:cNvPr id="116" name="Google Shape;116;p8"/>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8"/>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8" name="Google Shape;118;p8"/>
          <p:cNvSpPr txBox="1"/>
          <p:nvPr>
            <p:ph type="title"/>
          </p:nvPr>
        </p:nvSpPr>
        <p:spPr>
          <a:xfrm>
            <a:off x="2086080" y="957720"/>
            <a:ext cx="11248800" cy="15990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119" name="Google Shape;119;p8"/>
          <p:cNvSpPr txBox="1"/>
          <p:nvPr>
            <p:ph idx="1" type="body"/>
          </p:nvPr>
        </p:nvSpPr>
        <p:spPr>
          <a:xfrm>
            <a:off x="2086080" y="3184080"/>
            <a:ext cx="5488800" cy="40665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20" name="Google Shape;120;p8"/>
          <p:cNvSpPr txBox="1"/>
          <p:nvPr>
            <p:ph idx="2" type="body"/>
          </p:nvPr>
        </p:nvSpPr>
        <p:spPr>
          <a:xfrm>
            <a:off x="7845840" y="3184080"/>
            <a:ext cx="5488800" cy="40665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21" name="Google Shape;121;p8"/>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2" name="Shape 122"/>
        <p:cNvGrpSpPr/>
        <p:nvPr/>
      </p:nvGrpSpPr>
      <p:grpSpPr>
        <a:xfrm>
          <a:off x="0" y="0"/>
          <a:ext cx="0" cy="0"/>
          <a:chOff x="0" y="0"/>
          <a:chExt cx="0" cy="0"/>
        </a:xfrm>
      </p:grpSpPr>
      <p:grpSp>
        <p:nvGrpSpPr>
          <p:cNvPr id="123" name="Google Shape;123;p9"/>
          <p:cNvGrpSpPr/>
          <p:nvPr/>
        </p:nvGrpSpPr>
        <p:grpSpPr>
          <a:xfrm>
            <a:off x="1001538" y="478999"/>
            <a:ext cx="1598876" cy="1598876"/>
            <a:chOff x="348199" y="179450"/>
            <a:chExt cx="1116300" cy="1116300"/>
          </a:xfrm>
        </p:grpSpPr>
        <p:sp>
          <p:nvSpPr>
            <p:cNvPr id="124" name="Google Shape;124;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6" name="Google Shape;126;p9"/>
          <p:cNvSpPr txBox="1"/>
          <p:nvPr>
            <p:ph type="title"/>
          </p:nvPr>
        </p:nvSpPr>
        <p:spPr>
          <a:xfrm>
            <a:off x="2086080" y="957720"/>
            <a:ext cx="5299200" cy="25440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127" name="Google Shape;127;p9"/>
          <p:cNvSpPr txBox="1"/>
          <p:nvPr>
            <p:ph idx="1" type="body"/>
          </p:nvPr>
        </p:nvSpPr>
        <p:spPr>
          <a:xfrm>
            <a:off x="2086080" y="3695480"/>
            <a:ext cx="5299200" cy="35550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28" name="Google Shape;128;p9"/>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9" name="Shape 129"/>
        <p:cNvGrpSpPr/>
        <p:nvPr/>
      </p:nvGrpSpPr>
      <p:grpSpPr>
        <a:xfrm>
          <a:off x="0" y="0"/>
          <a:ext cx="0" cy="0"/>
          <a:chOff x="0" y="0"/>
          <a:chExt cx="0" cy="0"/>
        </a:xfrm>
      </p:grpSpPr>
      <p:grpSp>
        <p:nvGrpSpPr>
          <p:cNvPr id="130" name="Google Shape;130;p10"/>
          <p:cNvGrpSpPr/>
          <p:nvPr/>
        </p:nvGrpSpPr>
        <p:grpSpPr>
          <a:xfrm>
            <a:off x="1001538" y="478999"/>
            <a:ext cx="1598876" cy="1598876"/>
            <a:chOff x="348199" y="179450"/>
            <a:chExt cx="1116300" cy="1116300"/>
          </a:xfrm>
        </p:grpSpPr>
        <p:sp>
          <p:nvSpPr>
            <p:cNvPr id="131" name="Google Shape;131;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3" name="Google Shape;133;p10"/>
          <p:cNvSpPr txBox="1"/>
          <p:nvPr>
            <p:ph type="title"/>
          </p:nvPr>
        </p:nvSpPr>
        <p:spPr>
          <a:xfrm>
            <a:off x="2086080" y="957720"/>
            <a:ext cx="5488800" cy="3184200"/>
          </a:xfrm>
          <a:prstGeom prst="rect">
            <a:avLst/>
          </a:prstGeom>
          <a:noFill/>
          <a:ln cap="flat" cmpd="sng" w="9525">
            <a:solidFill>
              <a:schemeClr val="lt1"/>
            </a:solidFill>
            <a:prstDash val="solid"/>
            <a:round/>
            <a:headEnd len="sm" w="sm" type="none"/>
            <a:tailEnd len="sm" w="sm" type="none"/>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134" name="Google Shape;134;p10"/>
          <p:cNvSpPr txBox="1"/>
          <p:nvPr>
            <p:ph idx="1" type="subTitle"/>
          </p:nvPr>
        </p:nvSpPr>
        <p:spPr>
          <a:xfrm>
            <a:off x="2086080" y="4389124"/>
            <a:ext cx="5488800" cy="1161600"/>
          </a:xfrm>
          <a:prstGeom prst="rect">
            <a:avLst/>
          </a:prstGeom>
          <a:noFill/>
          <a:ln cap="flat" cmpd="sng" w="9525">
            <a:solidFill>
              <a:schemeClr val="lt1"/>
            </a:solidFill>
            <a:prstDash val="solid"/>
            <a:round/>
            <a:headEnd len="sm" w="sm" type="none"/>
            <a:tailEnd len="sm" w="sm" type="none"/>
          </a:ln>
        </p:spPr>
        <p:txBody>
          <a:bodyPr anchorCtr="0" anchor="t" bIns="146275" lIns="146275" spcFirstLastPara="1" rIns="146275" wrap="square" tIns="14627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135" name="Google Shape;135;p10"/>
          <p:cNvSpPr txBox="1"/>
          <p:nvPr>
            <p:ph idx="2" type="body"/>
          </p:nvPr>
        </p:nvSpPr>
        <p:spPr>
          <a:xfrm>
            <a:off x="7845920" y="1057600"/>
            <a:ext cx="5488800" cy="6192900"/>
          </a:xfrm>
          <a:prstGeom prst="rect">
            <a:avLst/>
          </a:prstGeom>
          <a:noFill/>
          <a:ln cap="flat" cmpd="sng" w="9525">
            <a:solidFill>
              <a:schemeClr val="lt1"/>
            </a:solidFill>
            <a:prstDash val="solid"/>
            <a:round/>
            <a:headEnd len="sm" w="sm" type="none"/>
            <a:tailEnd len="sm" w="sm" type="none"/>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36" name="Google Shape;136;p10"/>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7" name="Shape 137"/>
        <p:cNvGrpSpPr/>
        <p:nvPr/>
      </p:nvGrpSpPr>
      <p:grpSpPr>
        <a:xfrm>
          <a:off x="0" y="0"/>
          <a:ext cx="0" cy="0"/>
          <a:chOff x="0" y="0"/>
          <a:chExt cx="0" cy="0"/>
        </a:xfrm>
      </p:grpSpPr>
      <p:grpSp>
        <p:nvGrpSpPr>
          <p:cNvPr id="138" name="Google Shape;138;p11"/>
          <p:cNvGrpSpPr/>
          <p:nvPr/>
        </p:nvGrpSpPr>
        <p:grpSpPr>
          <a:xfrm>
            <a:off x="1141383" y="6155382"/>
            <a:ext cx="1320583" cy="1320583"/>
            <a:chOff x="348199" y="179450"/>
            <a:chExt cx="1116300" cy="1116300"/>
          </a:xfrm>
        </p:grpSpPr>
        <p:sp>
          <p:nvSpPr>
            <p:cNvPr id="139" name="Google Shape;139;p11"/>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1"/>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1" name="Google Shape;141;p11"/>
          <p:cNvSpPr txBox="1"/>
          <p:nvPr>
            <p:ph idx="1" type="body"/>
          </p:nvPr>
        </p:nvSpPr>
        <p:spPr>
          <a:xfrm>
            <a:off x="2086080" y="6622360"/>
            <a:ext cx="9348900" cy="855900"/>
          </a:xfrm>
          <a:prstGeom prst="rect">
            <a:avLst/>
          </a:prstGeom>
          <a:noFill/>
          <a:ln>
            <a:noFill/>
          </a:ln>
        </p:spPr>
        <p:txBody>
          <a:bodyPr anchorCtr="0" anchor="t" bIns="146275" lIns="146275" spcFirstLastPara="1" rIns="146275" wrap="square" tIns="146275">
            <a:normAutofit/>
          </a:bodyPr>
          <a:lstStyle>
            <a:lvl1pPr indent="-228600" lvl="0" marL="457200" algn="l">
              <a:lnSpc>
                <a:spcPct val="100000"/>
              </a:lnSpc>
              <a:spcBef>
                <a:spcPts val="0"/>
              </a:spcBef>
              <a:spcAft>
                <a:spcPts val="0"/>
              </a:spcAft>
              <a:buSzPts val="2100"/>
              <a:buNone/>
              <a:defRPr/>
            </a:lvl1pPr>
          </a:lstStyle>
          <a:p/>
        </p:txBody>
      </p:sp>
      <p:sp>
        <p:nvSpPr>
          <p:cNvPr id="142" name="Google Shape;142;p11"/>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3" name="Shape 143"/>
        <p:cNvGrpSpPr/>
        <p:nvPr/>
      </p:nvGrpSpPr>
      <p:grpSpPr>
        <a:xfrm>
          <a:off x="0" y="0"/>
          <a:ext cx="0" cy="0"/>
          <a:chOff x="0" y="0"/>
          <a:chExt cx="0" cy="0"/>
        </a:xfrm>
      </p:grpSpPr>
      <p:grpSp>
        <p:nvGrpSpPr>
          <p:cNvPr id="144" name="Google Shape;144;p12"/>
          <p:cNvGrpSpPr/>
          <p:nvPr/>
        </p:nvGrpSpPr>
        <p:grpSpPr>
          <a:xfrm>
            <a:off x="83" y="6558720"/>
            <a:ext cx="14630457" cy="1670880"/>
            <a:chOff x="52" y="4099200"/>
            <a:chExt cx="9144036" cy="1044300"/>
          </a:xfrm>
        </p:grpSpPr>
        <p:grpSp>
          <p:nvGrpSpPr>
            <p:cNvPr id="145" name="Google Shape;145;p12"/>
            <p:cNvGrpSpPr/>
            <p:nvPr/>
          </p:nvGrpSpPr>
          <p:grpSpPr>
            <a:xfrm>
              <a:off x="52" y="4309200"/>
              <a:ext cx="231622" cy="834300"/>
              <a:chOff x="2688737" y="4301380"/>
              <a:chExt cx="231900" cy="834300"/>
            </a:xfrm>
          </p:grpSpPr>
          <p:sp>
            <p:nvSpPr>
              <p:cNvPr id="146" name="Google Shape;146;p12"/>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2"/>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2"/>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2"/>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0" name="Google Shape;150;p12"/>
            <p:cNvGrpSpPr/>
            <p:nvPr/>
          </p:nvGrpSpPr>
          <p:grpSpPr>
            <a:xfrm>
              <a:off x="371406" y="4099200"/>
              <a:ext cx="231622" cy="1044300"/>
              <a:chOff x="2688737" y="4091380"/>
              <a:chExt cx="231900" cy="1044300"/>
            </a:xfrm>
          </p:grpSpPr>
          <p:sp>
            <p:nvSpPr>
              <p:cNvPr id="151" name="Google Shape;151;p12"/>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2"/>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2"/>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2"/>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2"/>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6" name="Google Shape;156;p12"/>
            <p:cNvGrpSpPr/>
            <p:nvPr/>
          </p:nvGrpSpPr>
          <p:grpSpPr>
            <a:xfrm>
              <a:off x="742761" y="4309200"/>
              <a:ext cx="231622" cy="834300"/>
              <a:chOff x="2688737" y="4301380"/>
              <a:chExt cx="231900" cy="834300"/>
            </a:xfrm>
          </p:grpSpPr>
          <p:sp>
            <p:nvSpPr>
              <p:cNvPr id="157" name="Google Shape;157;p12"/>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2"/>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2"/>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2"/>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1" name="Google Shape;161;p12"/>
            <p:cNvGrpSpPr/>
            <p:nvPr/>
          </p:nvGrpSpPr>
          <p:grpSpPr>
            <a:xfrm>
              <a:off x="1114115" y="4518900"/>
              <a:ext cx="231622" cy="624600"/>
              <a:chOff x="2688737" y="4511080"/>
              <a:chExt cx="231900" cy="624600"/>
            </a:xfrm>
          </p:grpSpPr>
          <p:sp>
            <p:nvSpPr>
              <p:cNvPr id="162" name="Google Shape;162;p12"/>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2"/>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2"/>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5" name="Google Shape;165;p12"/>
            <p:cNvGrpSpPr/>
            <p:nvPr/>
          </p:nvGrpSpPr>
          <p:grpSpPr>
            <a:xfrm>
              <a:off x="1856753" y="4099200"/>
              <a:ext cx="231600" cy="1044300"/>
              <a:chOff x="1856753" y="4099200"/>
              <a:chExt cx="231600" cy="1044300"/>
            </a:xfrm>
          </p:grpSpPr>
          <p:sp>
            <p:nvSpPr>
              <p:cNvPr id="166" name="Google Shape;166;p12"/>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2"/>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2"/>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2"/>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2"/>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1" name="Google Shape;171;p12"/>
            <p:cNvGrpSpPr/>
            <p:nvPr/>
          </p:nvGrpSpPr>
          <p:grpSpPr>
            <a:xfrm>
              <a:off x="2228107" y="4309200"/>
              <a:ext cx="231600" cy="834300"/>
              <a:chOff x="2228107" y="4309200"/>
              <a:chExt cx="231600" cy="834300"/>
            </a:xfrm>
          </p:grpSpPr>
          <p:sp>
            <p:nvSpPr>
              <p:cNvPr id="172" name="Google Shape;172;p12"/>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2"/>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2"/>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2"/>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6" name="Google Shape;176;p12"/>
            <p:cNvGrpSpPr/>
            <p:nvPr/>
          </p:nvGrpSpPr>
          <p:grpSpPr>
            <a:xfrm>
              <a:off x="2599462" y="4518900"/>
              <a:ext cx="231600" cy="624600"/>
              <a:chOff x="2599462" y="4518900"/>
              <a:chExt cx="231600" cy="624600"/>
            </a:xfrm>
          </p:grpSpPr>
          <p:sp>
            <p:nvSpPr>
              <p:cNvPr id="177" name="Google Shape;177;p12"/>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2"/>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2"/>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0" name="Google Shape;180;p12"/>
            <p:cNvGrpSpPr/>
            <p:nvPr/>
          </p:nvGrpSpPr>
          <p:grpSpPr>
            <a:xfrm>
              <a:off x="3342171" y="4099200"/>
              <a:ext cx="231600" cy="1044300"/>
              <a:chOff x="3342171" y="4099200"/>
              <a:chExt cx="231600" cy="1044300"/>
            </a:xfrm>
          </p:grpSpPr>
          <p:sp>
            <p:nvSpPr>
              <p:cNvPr id="181" name="Google Shape;181;p12"/>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2"/>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2"/>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2"/>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2"/>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6" name="Google Shape;186;p12"/>
            <p:cNvGrpSpPr/>
            <p:nvPr/>
          </p:nvGrpSpPr>
          <p:grpSpPr>
            <a:xfrm>
              <a:off x="3713525" y="4309200"/>
              <a:ext cx="231600" cy="834300"/>
              <a:chOff x="3713525" y="4309200"/>
              <a:chExt cx="231600" cy="834300"/>
            </a:xfrm>
          </p:grpSpPr>
          <p:sp>
            <p:nvSpPr>
              <p:cNvPr id="187" name="Google Shape;187;p12"/>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2"/>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2"/>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2"/>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1" name="Google Shape;191;p12"/>
            <p:cNvGrpSpPr/>
            <p:nvPr/>
          </p:nvGrpSpPr>
          <p:grpSpPr>
            <a:xfrm>
              <a:off x="1485398" y="4309200"/>
              <a:ext cx="231600" cy="834300"/>
              <a:chOff x="1485398" y="4309200"/>
              <a:chExt cx="231600" cy="834300"/>
            </a:xfrm>
          </p:grpSpPr>
          <p:sp>
            <p:nvSpPr>
              <p:cNvPr id="192" name="Google Shape;192;p12"/>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2"/>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2"/>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2"/>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6" name="Google Shape;196;p12"/>
            <p:cNvGrpSpPr/>
            <p:nvPr/>
          </p:nvGrpSpPr>
          <p:grpSpPr>
            <a:xfrm>
              <a:off x="4084879" y="4518900"/>
              <a:ext cx="231600" cy="624600"/>
              <a:chOff x="4084879" y="4518900"/>
              <a:chExt cx="231600" cy="624600"/>
            </a:xfrm>
          </p:grpSpPr>
          <p:sp>
            <p:nvSpPr>
              <p:cNvPr id="197" name="Google Shape;197;p12"/>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2"/>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2"/>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0" name="Google Shape;200;p12"/>
            <p:cNvGrpSpPr/>
            <p:nvPr/>
          </p:nvGrpSpPr>
          <p:grpSpPr>
            <a:xfrm>
              <a:off x="2970816" y="4309200"/>
              <a:ext cx="231600" cy="834300"/>
              <a:chOff x="2970816" y="4309200"/>
              <a:chExt cx="231600" cy="834300"/>
            </a:xfrm>
          </p:grpSpPr>
          <p:sp>
            <p:nvSpPr>
              <p:cNvPr id="201" name="Google Shape;201;p12"/>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2"/>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2"/>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2"/>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5" name="Google Shape;205;p12"/>
            <p:cNvGrpSpPr/>
            <p:nvPr/>
          </p:nvGrpSpPr>
          <p:grpSpPr>
            <a:xfrm>
              <a:off x="4456234" y="4309200"/>
              <a:ext cx="231600" cy="834300"/>
              <a:chOff x="4456234" y="4309200"/>
              <a:chExt cx="231600" cy="834300"/>
            </a:xfrm>
          </p:grpSpPr>
          <p:sp>
            <p:nvSpPr>
              <p:cNvPr id="206" name="Google Shape;206;p12"/>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2"/>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2"/>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2"/>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0" name="Google Shape;210;p12"/>
            <p:cNvGrpSpPr/>
            <p:nvPr/>
          </p:nvGrpSpPr>
          <p:grpSpPr>
            <a:xfrm>
              <a:off x="4827588" y="4099200"/>
              <a:ext cx="231600" cy="1044300"/>
              <a:chOff x="4827588" y="4099200"/>
              <a:chExt cx="231600" cy="1044300"/>
            </a:xfrm>
          </p:grpSpPr>
          <p:sp>
            <p:nvSpPr>
              <p:cNvPr id="211" name="Google Shape;211;p12"/>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2"/>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2"/>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2"/>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2"/>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6" name="Google Shape;216;p12"/>
            <p:cNvGrpSpPr/>
            <p:nvPr/>
          </p:nvGrpSpPr>
          <p:grpSpPr>
            <a:xfrm>
              <a:off x="5198943" y="4309200"/>
              <a:ext cx="231600" cy="834300"/>
              <a:chOff x="5198943" y="4309200"/>
              <a:chExt cx="231600" cy="834300"/>
            </a:xfrm>
          </p:grpSpPr>
          <p:sp>
            <p:nvSpPr>
              <p:cNvPr id="217" name="Google Shape;217;p12"/>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2"/>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2"/>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2"/>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1" name="Google Shape;221;p12"/>
            <p:cNvGrpSpPr/>
            <p:nvPr/>
          </p:nvGrpSpPr>
          <p:grpSpPr>
            <a:xfrm>
              <a:off x="5570297" y="4518900"/>
              <a:ext cx="231600" cy="624600"/>
              <a:chOff x="5570297" y="4518900"/>
              <a:chExt cx="231600" cy="624600"/>
            </a:xfrm>
          </p:grpSpPr>
          <p:sp>
            <p:nvSpPr>
              <p:cNvPr id="222" name="Google Shape;222;p12"/>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2"/>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2"/>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5" name="Google Shape;225;p12"/>
            <p:cNvGrpSpPr/>
            <p:nvPr/>
          </p:nvGrpSpPr>
          <p:grpSpPr>
            <a:xfrm>
              <a:off x="5941652" y="4309200"/>
              <a:ext cx="231600" cy="834300"/>
              <a:chOff x="5941652" y="4309200"/>
              <a:chExt cx="231600" cy="834300"/>
            </a:xfrm>
          </p:grpSpPr>
          <p:sp>
            <p:nvSpPr>
              <p:cNvPr id="226" name="Google Shape;226;p12"/>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2"/>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2"/>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2"/>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0" name="Google Shape;230;p12"/>
            <p:cNvGrpSpPr/>
            <p:nvPr/>
          </p:nvGrpSpPr>
          <p:grpSpPr>
            <a:xfrm>
              <a:off x="6313006" y="4099200"/>
              <a:ext cx="231600" cy="1044300"/>
              <a:chOff x="6313006" y="4099200"/>
              <a:chExt cx="231600" cy="1044300"/>
            </a:xfrm>
          </p:grpSpPr>
          <p:sp>
            <p:nvSpPr>
              <p:cNvPr id="231" name="Google Shape;231;p12"/>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2"/>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2"/>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12"/>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12"/>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6" name="Google Shape;236;p12"/>
            <p:cNvGrpSpPr/>
            <p:nvPr/>
          </p:nvGrpSpPr>
          <p:grpSpPr>
            <a:xfrm>
              <a:off x="6684361" y="4309200"/>
              <a:ext cx="231600" cy="834300"/>
              <a:chOff x="6684361" y="4309200"/>
              <a:chExt cx="231600" cy="834300"/>
            </a:xfrm>
          </p:grpSpPr>
          <p:sp>
            <p:nvSpPr>
              <p:cNvPr id="237" name="Google Shape;237;p12"/>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2"/>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12"/>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12"/>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1" name="Google Shape;241;p12"/>
            <p:cNvGrpSpPr/>
            <p:nvPr/>
          </p:nvGrpSpPr>
          <p:grpSpPr>
            <a:xfrm>
              <a:off x="7055715" y="4518900"/>
              <a:ext cx="231600" cy="624600"/>
              <a:chOff x="7055715" y="4518900"/>
              <a:chExt cx="231600" cy="624600"/>
            </a:xfrm>
          </p:grpSpPr>
          <p:sp>
            <p:nvSpPr>
              <p:cNvPr id="242" name="Google Shape;242;p12"/>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12"/>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12"/>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5" name="Google Shape;245;p12"/>
            <p:cNvGrpSpPr/>
            <p:nvPr/>
          </p:nvGrpSpPr>
          <p:grpSpPr>
            <a:xfrm>
              <a:off x="7798424" y="4099200"/>
              <a:ext cx="231600" cy="1044300"/>
              <a:chOff x="7798424" y="4099200"/>
              <a:chExt cx="231600" cy="1044300"/>
            </a:xfrm>
          </p:grpSpPr>
          <p:sp>
            <p:nvSpPr>
              <p:cNvPr id="246" name="Google Shape;246;p12"/>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2"/>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12"/>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12"/>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12"/>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1" name="Google Shape;251;p12"/>
            <p:cNvGrpSpPr/>
            <p:nvPr/>
          </p:nvGrpSpPr>
          <p:grpSpPr>
            <a:xfrm>
              <a:off x="8169779" y="4309200"/>
              <a:ext cx="231600" cy="834300"/>
              <a:chOff x="8169779" y="4309200"/>
              <a:chExt cx="231600" cy="834300"/>
            </a:xfrm>
          </p:grpSpPr>
          <p:sp>
            <p:nvSpPr>
              <p:cNvPr id="252" name="Google Shape;252;p12"/>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12"/>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12"/>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12"/>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6" name="Google Shape;256;p12"/>
            <p:cNvGrpSpPr/>
            <p:nvPr/>
          </p:nvGrpSpPr>
          <p:grpSpPr>
            <a:xfrm>
              <a:off x="7427070" y="4309200"/>
              <a:ext cx="231600" cy="834300"/>
              <a:chOff x="7427070" y="4309200"/>
              <a:chExt cx="231600" cy="834300"/>
            </a:xfrm>
          </p:grpSpPr>
          <p:sp>
            <p:nvSpPr>
              <p:cNvPr id="257" name="Google Shape;257;p12"/>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2"/>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12"/>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12"/>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1" name="Google Shape;261;p12"/>
            <p:cNvGrpSpPr/>
            <p:nvPr/>
          </p:nvGrpSpPr>
          <p:grpSpPr>
            <a:xfrm>
              <a:off x="8541133" y="4518900"/>
              <a:ext cx="231600" cy="624600"/>
              <a:chOff x="8541133" y="4518900"/>
              <a:chExt cx="231600" cy="624600"/>
            </a:xfrm>
          </p:grpSpPr>
          <p:sp>
            <p:nvSpPr>
              <p:cNvPr id="262" name="Google Shape;262;p12"/>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12"/>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12"/>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5" name="Google Shape;265;p12"/>
            <p:cNvGrpSpPr/>
            <p:nvPr/>
          </p:nvGrpSpPr>
          <p:grpSpPr>
            <a:xfrm>
              <a:off x="8912488" y="4309200"/>
              <a:ext cx="231600" cy="834300"/>
              <a:chOff x="8912488" y="4309200"/>
              <a:chExt cx="231600" cy="834300"/>
            </a:xfrm>
          </p:grpSpPr>
          <p:sp>
            <p:nvSpPr>
              <p:cNvPr id="266" name="Google Shape;266;p12"/>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2"/>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12"/>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2"/>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70" name="Google Shape;270;p12"/>
          <p:cNvSpPr txBox="1"/>
          <p:nvPr>
            <p:ph hasCustomPrompt="1" type="title"/>
          </p:nvPr>
        </p:nvSpPr>
        <p:spPr>
          <a:xfrm>
            <a:off x="2221800" y="1236360"/>
            <a:ext cx="10187100" cy="2981400"/>
          </a:xfrm>
          <a:prstGeom prst="rect">
            <a:avLst/>
          </a:prstGeom>
          <a:noFill/>
          <a:ln>
            <a:noFill/>
          </a:ln>
        </p:spPr>
        <p:txBody>
          <a:bodyPr anchorCtr="0" anchor="ctr" bIns="146275" lIns="146275" spcFirstLastPara="1" rIns="146275" wrap="square" tIns="146275">
            <a:normAutofit/>
          </a:bodyPr>
          <a:lstStyle>
            <a:lvl1pPr lvl="0" algn="ctr">
              <a:lnSpc>
                <a:spcPct val="100000"/>
              </a:lnSpc>
              <a:spcBef>
                <a:spcPts val="0"/>
              </a:spcBef>
              <a:spcAft>
                <a:spcPts val="0"/>
              </a:spcAft>
              <a:buClr>
                <a:schemeClr val="lt1"/>
              </a:buClr>
              <a:buSzPts val="12800"/>
              <a:buNone/>
              <a:defRPr sz="12800">
                <a:solidFill>
                  <a:schemeClr val="lt1"/>
                </a:solidFill>
              </a:defRPr>
            </a:lvl1pPr>
            <a:lvl2pPr lvl="1" algn="ctr">
              <a:lnSpc>
                <a:spcPct val="100000"/>
              </a:lnSpc>
              <a:spcBef>
                <a:spcPts val="0"/>
              </a:spcBef>
              <a:spcAft>
                <a:spcPts val="0"/>
              </a:spcAft>
              <a:buClr>
                <a:schemeClr val="lt1"/>
              </a:buClr>
              <a:buSzPts val="12800"/>
              <a:buNone/>
              <a:defRPr sz="12800">
                <a:solidFill>
                  <a:schemeClr val="lt1"/>
                </a:solidFill>
              </a:defRPr>
            </a:lvl2pPr>
            <a:lvl3pPr lvl="2" algn="ctr">
              <a:lnSpc>
                <a:spcPct val="100000"/>
              </a:lnSpc>
              <a:spcBef>
                <a:spcPts val="0"/>
              </a:spcBef>
              <a:spcAft>
                <a:spcPts val="0"/>
              </a:spcAft>
              <a:buClr>
                <a:schemeClr val="lt1"/>
              </a:buClr>
              <a:buSzPts val="12800"/>
              <a:buNone/>
              <a:defRPr sz="12800">
                <a:solidFill>
                  <a:schemeClr val="lt1"/>
                </a:solidFill>
              </a:defRPr>
            </a:lvl3pPr>
            <a:lvl4pPr lvl="3" algn="ctr">
              <a:lnSpc>
                <a:spcPct val="100000"/>
              </a:lnSpc>
              <a:spcBef>
                <a:spcPts val="0"/>
              </a:spcBef>
              <a:spcAft>
                <a:spcPts val="0"/>
              </a:spcAft>
              <a:buClr>
                <a:schemeClr val="lt1"/>
              </a:buClr>
              <a:buSzPts val="12800"/>
              <a:buNone/>
              <a:defRPr sz="12800">
                <a:solidFill>
                  <a:schemeClr val="lt1"/>
                </a:solidFill>
              </a:defRPr>
            </a:lvl4pPr>
            <a:lvl5pPr lvl="4" algn="ctr">
              <a:lnSpc>
                <a:spcPct val="100000"/>
              </a:lnSpc>
              <a:spcBef>
                <a:spcPts val="0"/>
              </a:spcBef>
              <a:spcAft>
                <a:spcPts val="0"/>
              </a:spcAft>
              <a:buClr>
                <a:schemeClr val="lt1"/>
              </a:buClr>
              <a:buSzPts val="12800"/>
              <a:buNone/>
              <a:defRPr sz="12800">
                <a:solidFill>
                  <a:schemeClr val="lt1"/>
                </a:solidFill>
              </a:defRPr>
            </a:lvl5pPr>
            <a:lvl6pPr lvl="5" algn="ctr">
              <a:lnSpc>
                <a:spcPct val="100000"/>
              </a:lnSpc>
              <a:spcBef>
                <a:spcPts val="0"/>
              </a:spcBef>
              <a:spcAft>
                <a:spcPts val="0"/>
              </a:spcAft>
              <a:buClr>
                <a:schemeClr val="lt1"/>
              </a:buClr>
              <a:buSzPts val="12800"/>
              <a:buNone/>
              <a:defRPr sz="12800">
                <a:solidFill>
                  <a:schemeClr val="lt1"/>
                </a:solidFill>
              </a:defRPr>
            </a:lvl6pPr>
            <a:lvl7pPr lvl="6" algn="ctr">
              <a:lnSpc>
                <a:spcPct val="100000"/>
              </a:lnSpc>
              <a:spcBef>
                <a:spcPts val="0"/>
              </a:spcBef>
              <a:spcAft>
                <a:spcPts val="0"/>
              </a:spcAft>
              <a:buClr>
                <a:schemeClr val="lt1"/>
              </a:buClr>
              <a:buSzPts val="12800"/>
              <a:buNone/>
              <a:defRPr sz="12800">
                <a:solidFill>
                  <a:schemeClr val="lt1"/>
                </a:solidFill>
              </a:defRPr>
            </a:lvl7pPr>
            <a:lvl8pPr lvl="7" algn="ctr">
              <a:lnSpc>
                <a:spcPct val="100000"/>
              </a:lnSpc>
              <a:spcBef>
                <a:spcPts val="0"/>
              </a:spcBef>
              <a:spcAft>
                <a:spcPts val="0"/>
              </a:spcAft>
              <a:buClr>
                <a:schemeClr val="lt1"/>
              </a:buClr>
              <a:buSzPts val="12800"/>
              <a:buNone/>
              <a:defRPr sz="12800">
                <a:solidFill>
                  <a:schemeClr val="lt1"/>
                </a:solidFill>
              </a:defRPr>
            </a:lvl8pPr>
            <a:lvl9pPr lvl="8" algn="ctr">
              <a:lnSpc>
                <a:spcPct val="100000"/>
              </a:lnSpc>
              <a:spcBef>
                <a:spcPts val="0"/>
              </a:spcBef>
              <a:spcAft>
                <a:spcPts val="0"/>
              </a:spcAft>
              <a:buClr>
                <a:schemeClr val="lt1"/>
              </a:buClr>
              <a:buSzPts val="12800"/>
              <a:buNone/>
              <a:defRPr sz="12800">
                <a:solidFill>
                  <a:schemeClr val="lt1"/>
                </a:solidFill>
              </a:defRPr>
            </a:lvl9pPr>
          </a:lstStyle>
          <a:p>
            <a:r>
              <a:t>xx%</a:t>
            </a:r>
          </a:p>
        </p:txBody>
      </p:sp>
      <p:sp>
        <p:nvSpPr>
          <p:cNvPr id="271" name="Google Shape;271;p12"/>
          <p:cNvSpPr txBox="1"/>
          <p:nvPr>
            <p:ph idx="1" type="body"/>
          </p:nvPr>
        </p:nvSpPr>
        <p:spPr>
          <a:xfrm>
            <a:off x="2221800" y="4339680"/>
            <a:ext cx="10187100" cy="1777800"/>
          </a:xfrm>
          <a:prstGeom prst="rect">
            <a:avLst/>
          </a:prstGeom>
          <a:noFill/>
          <a:ln>
            <a:noFill/>
          </a:ln>
        </p:spPr>
        <p:txBody>
          <a:bodyPr anchorCtr="0" anchor="t" bIns="146275" lIns="146275" spcFirstLastPara="1" rIns="146275" wrap="square" tIns="146275">
            <a:normAutofit/>
          </a:bodyPr>
          <a:lstStyle>
            <a:lvl1pPr indent="-361950" lvl="0" marL="457200" algn="ctr">
              <a:lnSpc>
                <a:spcPct val="115000"/>
              </a:lnSpc>
              <a:spcBef>
                <a:spcPts val="0"/>
              </a:spcBef>
              <a:spcAft>
                <a:spcPts val="0"/>
              </a:spcAft>
              <a:buClr>
                <a:schemeClr val="lt1"/>
              </a:buClr>
              <a:buSzPts val="2100"/>
              <a:buChar char="●"/>
              <a:defRPr>
                <a:solidFill>
                  <a:schemeClr val="lt1"/>
                </a:solidFill>
              </a:defRPr>
            </a:lvl1pPr>
            <a:lvl2pPr indent="-342900" lvl="1" marL="914400" algn="ctr">
              <a:lnSpc>
                <a:spcPct val="115000"/>
              </a:lnSpc>
              <a:spcBef>
                <a:spcPts val="0"/>
              </a:spcBef>
              <a:spcAft>
                <a:spcPts val="0"/>
              </a:spcAft>
              <a:buClr>
                <a:schemeClr val="lt1"/>
              </a:buClr>
              <a:buSzPts val="1800"/>
              <a:buChar char="○"/>
              <a:defRPr>
                <a:solidFill>
                  <a:schemeClr val="lt1"/>
                </a:solidFill>
              </a:defRPr>
            </a:lvl2pPr>
            <a:lvl3pPr indent="-342900" lvl="2" marL="1371600" algn="ctr">
              <a:lnSpc>
                <a:spcPct val="115000"/>
              </a:lnSpc>
              <a:spcBef>
                <a:spcPts val="0"/>
              </a:spcBef>
              <a:spcAft>
                <a:spcPts val="0"/>
              </a:spcAft>
              <a:buClr>
                <a:schemeClr val="lt1"/>
              </a:buClr>
              <a:buSzPts val="1800"/>
              <a:buChar char="■"/>
              <a:defRPr>
                <a:solidFill>
                  <a:schemeClr val="lt1"/>
                </a:solidFill>
              </a:defRPr>
            </a:lvl3pPr>
            <a:lvl4pPr indent="-342900" lvl="3" marL="1828800" algn="ctr">
              <a:lnSpc>
                <a:spcPct val="115000"/>
              </a:lnSpc>
              <a:spcBef>
                <a:spcPts val="0"/>
              </a:spcBef>
              <a:spcAft>
                <a:spcPts val="0"/>
              </a:spcAft>
              <a:buClr>
                <a:schemeClr val="lt1"/>
              </a:buClr>
              <a:buSzPts val="1800"/>
              <a:buChar char="●"/>
              <a:defRPr>
                <a:solidFill>
                  <a:schemeClr val="lt1"/>
                </a:solidFill>
              </a:defRPr>
            </a:lvl4pPr>
            <a:lvl5pPr indent="-342900" lvl="4" marL="2286000" algn="ctr">
              <a:lnSpc>
                <a:spcPct val="115000"/>
              </a:lnSpc>
              <a:spcBef>
                <a:spcPts val="0"/>
              </a:spcBef>
              <a:spcAft>
                <a:spcPts val="0"/>
              </a:spcAft>
              <a:buClr>
                <a:schemeClr val="lt1"/>
              </a:buClr>
              <a:buSzPts val="1800"/>
              <a:buChar char="○"/>
              <a:defRPr>
                <a:solidFill>
                  <a:schemeClr val="lt1"/>
                </a:solidFill>
              </a:defRPr>
            </a:lvl5pPr>
            <a:lvl6pPr indent="-342900" lvl="5" marL="2743200" algn="ctr">
              <a:lnSpc>
                <a:spcPct val="115000"/>
              </a:lnSpc>
              <a:spcBef>
                <a:spcPts val="0"/>
              </a:spcBef>
              <a:spcAft>
                <a:spcPts val="0"/>
              </a:spcAft>
              <a:buClr>
                <a:schemeClr val="lt1"/>
              </a:buClr>
              <a:buSzPts val="1800"/>
              <a:buChar char="■"/>
              <a:defRPr>
                <a:solidFill>
                  <a:schemeClr val="lt1"/>
                </a:solidFill>
              </a:defRPr>
            </a:lvl6pPr>
            <a:lvl7pPr indent="-342900" lvl="6" marL="3200400" algn="ctr">
              <a:lnSpc>
                <a:spcPct val="115000"/>
              </a:lnSpc>
              <a:spcBef>
                <a:spcPts val="0"/>
              </a:spcBef>
              <a:spcAft>
                <a:spcPts val="0"/>
              </a:spcAft>
              <a:buClr>
                <a:schemeClr val="lt1"/>
              </a:buClr>
              <a:buSzPts val="1800"/>
              <a:buChar char="●"/>
              <a:defRPr>
                <a:solidFill>
                  <a:schemeClr val="lt1"/>
                </a:solidFill>
              </a:defRPr>
            </a:lvl7pPr>
            <a:lvl8pPr indent="-342900" lvl="7" marL="3657600" algn="ctr">
              <a:lnSpc>
                <a:spcPct val="115000"/>
              </a:lnSpc>
              <a:spcBef>
                <a:spcPts val="0"/>
              </a:spcBef>
              <a:spcAft>
                <a:spcPts val="0"/>
              </a:spcAft>
              <a:buClr>
                <a:schemeClr val="lt1"/>
              </a:buClr>
              <a:buSzPts val="1800"/>
              <a:buChar char="○"/>
              <a:defRPr>
                <a:solidFill>
                  <a:schemeClr val="lt1"/>
                </a:solidFill>
              </a:defRPr>
            </a:lvl8pPr>
            <a:lvl9pPr indent="-342900" lvl="8" marL="4114800" algn="ctr">
              <a:lnSpc>
                <a:spcPct val="115000"/>
              </a:lnSpc>
              <a:spcBef>
                <a:spcPts val="0"/>
              </a:spcBef>
              <a:spcAft>
                <a:spcPts val="0"/>
              </a:spcAft>
              <a:buClr>
                <a:schemeClr val="lt1"/>
              </a:buClr>
              <a:buSzPts val="1800"/>
              <a:buChar char="■"/>
              <a:defRPr>
                <a:solidFill>
                  <a:schemeClr val="lt1"/>
                </a:solidFill>
              </a:defRPr>
            </a:lvl9pPr>
          </a:lstStyle>
          <a:p/>
        </p:txBody>
      </p:sp>
      <p:sp>
        <p:nvSpPr>
          <p:cNvPr id="272" name="Google Shape;272;p12"/>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1pPr>
            <a:lvl2pPr lvl="1"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2pPr>
            <a:lvl3pPr lvl="2"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3pPr>
            <a:lvl4pPr lvl="3"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4pPr>
            <a:lvl5pPr lvl="4"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5pPr>
            <a:lvl6pPr lvl="5"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6pPr>
            <a:lvl7pPr lvl="6"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7pPr>
            <a:lvl8pPr lvl="7"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8pPr>
            <a:lvl9pPr lvl="8"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361950" lvl="0" marL="457200" marR="0" rtl="0" algn="l">
              <a:lnSpc>
                <a:spcPct val="115000"/>
              </a:lnSpc>
              <a:spcBef>
                <a:spcPts val="0"/>
              </a:spcBef>
              <a:spcAft>
                <a:spcPts val="0"/>
              </a:spcAft>
              <a:buClr>
                <a:schemeClr val="dk2"/>
              </a:buClr>
              <a:buSzPts val="2100"/>
              <a:buFont typeface="Nunito"/>
              <a:buChar char="●"/>
              <a:defRPr b="0" i="0" sz="2100" u="none" cap="none" strike="noStrike">
                <a:solidFill>
                  <a:schemeClr val="dk2"/>
                </a:solidFill>
                <a:latin typeface="Nunito"/>
                <a:ea typeface="Nunito"/>
                <a:cs typeface="Nunito"/>
                <a:sym typeface="Nunito"/>
              </a:defRPr>
            </a:lvl1pPr>
            <a:lvl2pPr indent="-342900" lvl="1" marL="9144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2pPr>
            <a:lvl3pPr indent="-342900" lvl="2" marL="13716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3pPr>
            <a:lvl4pPr indent="-342900" lvl="3" marL="18288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4pPr>
            <a:lvl5pPr indent="-342900" lvl="4" marL="22860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5pPr>
            <a:lvl6pPr indent="-342900" lvl="5" marL="27432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6pPr>
            <a:lvl7pPr indent="-342900" lvl="6" marL="32004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7pPr>
            <a:lvl8pPr indent="-342900" lvl="7" marL="36576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8pPr>
            <a:lvl9pPr indent="-342900" lvl="8" marL="41148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www.data.gouv.fr/datasets/donnees-eco2mix-regionales-consolidees-et-definitive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3.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18.png"/><Relationship Id="rId6"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4.png"/><Relationship Id="rId4" Type="http://schemas.openxmlformats.org/officeDocument/2006/relationships/image" Target="../media/image5.png"/><Relationship Id="rId5" Type="http://schemas.openxmlformats.org/officeDocument/2006/relationships/image" Target="../media/image15.png"/><Relationship Id="rId6"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19.png"/><Relationship Id="rId5"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6" name="Shape 276"/>
        <p:cNvGrpSpPr/>
        <p:nvPr/>
      </p:nvGrpSpPr>
      <p:grpSpPr>
        <a:xfrm>
          <a:off x="0" y="0"/>
          <a:ext cx="0" cy="0"/>
          <a:chOff x="0" y="0"/>
          <a:chExt cx="0" cy="0"/>
        </a:xfrm>
      </p:grpSpPr>
      <p:sp>
        <p:nvSpPr>
          <p:cNvPr id="277" name="Google Shape;277;p13"/>
          <p:cNvSpPr txBox="1"/>
          <p:nvPr/>
        </p:nvSpPr>
        <p:spPr>
          <a:xfrm>
            <a:off x="2031525" y="3037915"/>
            <a:ext cx="11430000"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12202F"/>
                </a:solidFill>
                <a:latin typeface="Calibri"/>
                <a:ea typeface="Calibri"/>
                <a:cs typeface="Calibri"/>
                <a:sym typeface="Calibri"/>
              </a:rPr>
              <a:t>BLOC 5 : CONCEVOIR ET DÉPLOYER DES MODÈLES D’APPRENTISSAGE AUTOMATIQUE </a:t>
            </a:r>
            <a:endParaRPr b="0" i="0" sz="1400" u="none" cap="none" strike="noStrike">
              <a:solidFill>
                <a:srgbClr val="000000"/>
              </a:solidFill>
              <a:latin typeface="Arial"/>
              <a:ea typeface="Arial"/>
              <a:cs typeface="Arial"/>
              <a:sym typeface="Arial"/>
            </a:endParaRPr>
          </a:p>
        </p:txBody>
      </p:sp>
      <p:sp>
        <p:nvSpPr>
          <p:cNvPr id="278" name="Google Shape;278;p13"/>
          <p:cNvSpPr txBox="1"/>
          <p:nvPr/>
        </p:nvSpPr>
        <p:spPr>
          <a:xfrm>
            <a:off x="12919725" y="7646525"/>
            <a:ext cx="19557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A6673"/>
                </a:solidFill>
                <a:latin typeface="Calibri"/>
                <a:ea typeface="Calibri"/>
                <a:cs typeface="Calibri"/>
                <a:sym typeface="Calibri"/>
              </a:rPr>
              <a:t>Audren CORRÉ</a:t>
            </a:r>
            <a:endParaRPr b="0" i="0" sz="1400" u="none" cap="none" strike="noStrike">
              <a:solidFill>
                <a:srgbClr val="000000"/>
              </a:solidFill>
              <a:latin typeface="Arial"/>
              <a:ea typeface="Arial"/>
              <a:cs typeface="Arial"/>
              <a:sym typeface="Arial"/>
            </a:endParaRPr>
          </a:p>
        </p:txBody>
      </p:sp>
      <p:sp>
        <p:nvSpPr>
          <p:cNvPr id="279" name="Google Shape;279;p13"/>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80" name="Google Shape;280;p13"/>
          <p:cNvPicPr preferRelativeResize="0"/>
          <p:nvPr/>
        </p:nvPicPr>
        <p:blipFill rotWithShape="1">
          <a:blip r:embed="rId3">
            <a:alphaModFix/>
          </a:blip>
          <a:srcRect b="0" l="0" r="0" t="0"/>
          <a:stretch/>
        </p:blipFill>
        <p:spPr>
          <a:xfrm>
            <a:off x="0" y="-2"/>
            <a:ext cx="2790075" cy="13950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 name="Shape 284"/>
        <p:cNvGrpSpPr/>
        <p:nvPr/>
      </p:nvGrpSpPr>
      <p:grpSpPr>
        <a:xfrm>
          <a:off x="0" y="0"/>
          <a:ext cx="0" cy="0"/>
          <a:chOff x="0" y="0"/>
          <a:chExt cx="0" cy="0"/>
        </a:xfrm>
      </p:grpSpPr>
      <p:sp>
        <p:nvSpPr>
          <p:cNvPr id="285" name="Google Shape;285;p14"/>
          <p:cNvSpPr txBox="1"/>
          <p:nvPr/>
        </p:nvSpPr>
        <p:spPr>
          <a:xfrm>
            <a:off x="685800" y="502920"/>
            <a:ext cx="98754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2202F"/>
                </a:solidFill>
                <a:latin typeface="Calibri"/>
                <a:ea typeface="Calibri"/>
                <a:cs typeface="Calibri"/>
                <a:sym typeface="Calibri"/>
              </a:rPr>
              <a:t>Contexte</a:t>
            </a:r>
            <a:endParaRPr b="0" i="0" sz="1400" u="none" cap="none" strike="noStrike">
              <a:solidFill>
                <a:srgbClr val="000000"/>
              </a:solidFill>
              <a:latin typeface="Arial"/>
              <a:ea typeface="Arial"/>
              <a:cs typeface="Arial"/>
              <a:sym typeface="Arial"/>
            </a:endParaRPr>
          </a:p>
        </p:txBody>
      </p:sp>
      <p:sp>
        <p:nvSpPr>
          <p:cNvPr id="286" name="Google Shape;286;p14"/>
          <p:cNvSpPr/>
          <p:nvPr/>
        </p:nvSpPr>
        <p:spPr>
          <a:xfrm>
            <a:off x="800102" y="1884030"/>
            <a:ext cx="13075800" cy="914400"/>
          </a:xfrm>
          <a:prstGeom prst="roundRect">
            <a:avLst>
              <a:gd fmla="val 16667" name="adj"/>
            </a:avLst>
          </a:prstGeom>
          <a:solidFill>
            <a:srgbClr val="E8F2EE"/>
          </a:solidFill>
          <a:ln cap="flat" cmpd="sng" w="9525">
            <a:solidFill>
              <a:srgbClr val="268B6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320025" spcFirstLastPara="1" rIns="3200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268B67"/>
                </a:solidFill>
                <a:latin typeface="Calibri"/>
                <a:ea typeface="Calibri"/>
                <a:cs typeface="Calibri"/>
                <a:sym typeface="Calibri"/>
              </a:rPr>
              <a:t>Besoin exprimé : « mieux anticiper la demande électrique régionale pour préparer les variations de consommation et les pics »</a:t>
            </a:r>
            <a:endParaRPr b="0" i="0" sz="1400" u="none" cap="none" strike="noStrike">
              <a:solidFill>
                <a:srgbClr val="000000"/>
              </a:solidFill>
              <a:latin typeface="Arial"/>
              <a:ea typeface="Arial"/>
              <a:cs typeface="Arial"/>
              <a:sym typeface="Arial"/>
            </a:endParaRPr>
          </a:p>
        </p:txBody>
      </p:sp>
      <p:sp>
        <p:nvSpPr>
          <p:cNvPr id="287" name="Google Shape;287;p14"/>
          <p:cNvSpPr/>
          <p:nvPr/>
        </p:nvSpPr>
        <p:spPr>
          <a:xfrm>
            <a:off x="777240" y="3063240"/>
            <a:ext cx="4160400" cy="1965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64575" wrap="square" tIns="1097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2F61B8"/>
                </a:solidFill>
                <a:latin typeface="Calibri"/>
                <a:ea typeface="Calibri"/>
                <a:cs typeface="Calibri"/>
                <a:sym typeface="Calibri"/>
              </a:rPr>
              <a:t>COMMANDITAIRE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Gestionnaire / opérateur régional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Périmètre : Nouvelle-Aquitaine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Attente : prévision exploitable et maintenable</a:t>
            </a:r>
            <a:endParaRPr b="0" i="0" sz="1400" u="none" cap="none" strike="noStrike">
              <a:solidFill>
                <a:srgbClr val="000000"/>
              </a:solidFill>
              <a:latin typeface="Arial"/>
              <a:ea typeface="Arial"/>
              <a:cs typeface="Arial"/>
              <a:sym typeface="Arial"/>
            </a:endParaRPr>
          </a:p>
        </p:txBody>
      </p:sp>
      <p:sp>
        <p:nvSpPr>
          <p:cNvPr id="288" name="Google Shape;288;p14"/>
          <p:cNvSpPr/>
          <p:nvPr/>
        </p:nvSpPr>
        <p:spPr>
          <a:xfrm>
            <a:off x="5257800" y="3063240"/>
            <a:ext cx="4160400" cy="1965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64575" wrap="square" tIns="1097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2F61B8"/>
                </a:solidFill>
                <a:latin typeface="Calibri"/>
                <a:ea typeface="Calibri"/>
                <a:cs typeface="Calibri"/>
                <a:sym typeface="Calibri"/>
              </a:rPr>
              <a:t>MÉTHODE D'ANALYSE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Entretien exploratoire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Questionnaire de cadrage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Analyse de l'existant éCO2mix</a:t>
            </a:r>
            <a:endParaRPr b="0" i="0" sz="1400" u="none" cap="none" strike="noStrike">
              <a:solidFill>
                <a:srgbClr val="000000"/>
              </a:solidFill>
              <a:latin typeface="Arial"/>
              <a:ea typeface="Arial"/>
              <a:cs typeface="Arial"/>
              <a:sym typeface="Arial"/>
            </a:endParaRPr>
          </a:p>
        </p:txBody>
      </p:sp>
      <p:sp>
        <p:nvSpPr>
          <p:cNvPr id="289" name="Google Shape;289;p14"/>
          <p:cNvSpPr/>
          <p:nvPr/>
        </p:nvSpPr>
        <p:spPr>
          <a:xfrm>
            <a:off x="9738360" y="3063240"/>
            <a:ext cx="4114800" cy="1965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64575" wrap="square" tIns="1097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2F61B8"/>
                </a:solidFill>
                <a:latin typeface="Calibri"/>
                <a:ea typeface="Calibri"/>
                <a:cs typeface="Calibri"/>
                <a:sym typeface="Calibri"/>
              </a:rPr>
              <a:t>INFORMATIONS COLLECTÉES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Source 2012–2026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Pas de temps 30 minutes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Cible observable : consommation MW</a:t>
            </a:r>
            <a:endParaRPr b="0" i="0" sz="1400" u="none" cap="none" strike="noStrike">
              <a:solidFill>
                <a:srgbClr val="000000"/>
              </a:solidFill>
              <a:latin typeface="Arial"/>
              <a:ea typeface="Arial"/>
              <a:cs typeface="Arial"/>
              <a:sym typeface="Arial"/>
            </a:endParaRPr>
          </a:p>
        </p:txBody>
      </p:sp>
      <p:cxnSp>
        <p:nvCxnSpPr>
          <p:cNvPr id="290" name="Google Shape;290;p14"/>
          <p:cNvCxnSpPr/>
          <p:nvPr/>
        </p:nvCxnSpPr>
        <p:spPr>
          <a:xfrm>
            <a:off x="4937760" y="4050791"/>
            <a:ext cx="3201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cxnSp>
        <p:nvCxnSpPr>
          <p:cNvPr id="291" name="Google Shape;291;p14"/>
          <p:cNvCxnSpPr/>
          <p:nvPr/>
        </p:nvCxnSpPr>
        <p:spPr>
          <a:xfrm>
            <a:off x="9418320" y="4050791"/>
            <a:ext cx="3201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292" name="Google Shape;292;p14"/>
          <p:cNvSpPr/>
          <p:nvPr/>
        </p:nvSpPr>
        <p:spPr>
          <a:xfrm>
            <a:off x="777240" y="5532120"/>
            <a:ext cx="6355200" cy="1417200"/>
          </a:xfrm>
          <a:prstGeom prst="roundRect">
            <a:avLst>
              <a:gd fmla="val 16667" name="adj"/>
            </a:avLst>
          </a:prstGeom>
          <a:solidFill>
            <a:srgbClr val="FFF5E8"/>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64575" wrap="square" tIns="1097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E68D35"/>
                </a:solidFill>
                <a:latin typeface="Calibri"/>
                <a:ea typeface="Calibri"/>
                <a:cs typeface="Calibri"/>
                <a:sym typeface="Calibri"/>
              </a:rPr>
              <a:t>CONTRAINTES ET POINTS DE VIGILANCE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Données temporelles : pas de split aléatoire et risques de fuites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Outils open-source intégrés localement  à un environnement python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Pics de consommation plus difficiles à prédire</a:t>
            </a:r>
            <a:endParaRPr b="0" i="0" sz="1500" u="none" cap="none" strike="noStrike">
              <a:solidFill>
                <a:srgbClr val="12202F"/>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Historique long mais incomplet</a:t>
            </a:r>
            <a:endParaRPr b="0" i="0" sz="1500" u="none" cap="none" strike="noStrike">
              <a:solidFill>
                <a:srgbClr val="12202F"/>
              </a:solidFill>
              <a:latin typeface="Calibri"/>
              <a:ea typeface="Calibri"/>
              <a:cs typeface="Calibri"/>
              <a:sym typeface="Calibri"/>
            </a:endParaRPr>
          </a:p>
        </p:txBody>
      </p:sp>
      <p:sp>
        <p:nvSpPr>
          <p:cNvPr id="293" name="Google Shape;293;p14"/>
          <p:cNvSpPr/>
          <p:nvPr/>
        </p:nvSpPr>
        <p:spPr>
          <a:xfrm>
            <a:off x="7498079" y="5532120"/>
            <a:ext cx="6355200" cy="1417200"/>
          </a:xfrm>
          <a:prstGeom prst="roundRect">
            <a:avLst>
              <a:gd fmla="val 16667" name="adj"/>
            </a:avLst>
          </a:prstGeom>
          <a:solidFill>
            <a:srgbClr val="E8F2EE"/>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64575" wrap="square" tIns="1097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268B67"/>
                </a:solidFill>
                <a:latin typeface="Calibri"/>
                <a:ea typeface="Calibri"/>
                <a:cs typeface="Calibri"/>
                <a:sym typeface="Calibri"/>
              </a:rPr>
              <a:t>CONCLUSION INITIALE DE FAISABILITÉ</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Données suffisantes, structurées et exploitables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Réponse retenue : construire un modèle de prévision supervisée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Le choix précis de J+1 est justifié ensuite en C5.1.2</a:t>
            </a:r>
            <a:endParaRPr b="0" i="0" sz="1400" u="none" cap="none" strike="noStrike">
              <a:solidFill>
                <a:srgbClr val="000000"/>
              </a:solidFill>
              <a:latin typeface="Arial"/>
              <a:ea typeface="Arial"/>
              <a:cs typeface="Arial"/>
              <a:sym typeface="Arial"/>
            </a:endParaRPr>
          </a:p>
        </p:txBody>
      </p:sp>
      <p:sp>
        <p:nvSpPr>
          <p:cNvPr id="294" name="Google Shape;294;p14"/>
          <p:cNvSpPr/>
          <p:nvPr/>
        </p:nvSpPr>
        <p:spPr>
          <a:xfrm>
            <a:off x="0" y="7973568"/>
            <a:ext cx="14630400" cy="3660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5" name="Google Shape;295;p14"/>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sp>
        <p:nvSpPr>
          <p:cNvPr id="296" name="Google Shape;296;p14"/>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0" name="Shape 300"/>
        <p:cNvGrpSpPr/>
        <p:nvPr/>
      </p:nvGrpSpPr>
      <p:grpSpPr>
        <a:xfrm>
          <a:off x="0" y="0"/>
          <a:ext cx="0" cy="0"/>
          <a:chOff x="0" y="0"/>
          <a:chExt cx="0" cy="0"/>
        </a:xfrm>
      </p:grpSpPr>
      <p:sp>
        <p:nvSpPr>
          <p:cNvPr id="301" name="Google Shape;301;p15"/>
          <p:cNvSpPr txBox="1"/>
          <p:nvPr/>
        </p:nvSpPr>
        <p:spPr>
          <a:xfrm>
            <a:off x="960125" y="825240"/>
            <a:ext cx="114300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12202F"/>
                </a:solidFill>
                <a:latin typeface="Calibri"/>
                <a:ea typeface="Calibri"/>
                <a:cs typeface="Calibri"/>
                <a:sym typeface="Calibri"/>
              </a:rPr>
              <a:t>Récupération des données</a:t>
            </a:r>
            <a:endParaRPr b="0" i="0" sz="1400" u="none" cap="none" strike="noStrike">
              <a:solidFill>
                <a:srgbClr val="000000"/>
              </a:solidFill>
              <a:latin typeface="Arial"/>
              <a:ea typeface="Arial"/>
              <a:cs typeface="Arial"/>
              <a:sym typeface="Arial"/>
            </a:endParaRPr>
          </a:p>
        </p:txBody>
      </p:sp>
      <p:sp>
        <p:nvSpPr>
          <p:cNvPr id="302" name="Google Shape;302;p15"/>
          <p:cNvSpPr txBox="1"/>
          <p:nvPr/>
        </p:nvSpPr>
        <p:spPr>
          <a:xfrm>
            <a:off x="960120" y="2148840"/>
            <a:ext cx="86868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A6673"/>
                </a:solidFill>
                <a:latin typeface="Calibri"/>
                <a:ea typeface="Calibri"/>
                <a:cs typeface="Calibri"/>
                <a:sym typeface="Calibri"/>
              </a:rPr>
              <a:t>éCO2mix + météo quotidienne Open-Meteo (5 villes)</a:t>
            </a:r>
            <a:endParaRPr b="0" i="0" sz="1400" u="none" cap="none" strike="noStrike">
              <a:solidFill>
                <a:srgbClr val="000000"/>
              </a:solidFill>
              <a:latin typeface="Arial"/>
              <a:ea typeface="Arial"/>
              <a:cs typeface="Arial"/>
              <a:sym typeface="Arial"/>
            </a:endParaRPr>
          </a:p>
        </p:txBody>
      </p:sp>
      <p:sp>
        <p:nvSpPr>
          <p:cNvPr id="303" name="Google Shape;303;p15"/>
          <p:cNvSpPr/>
          <p:nvPr/>
        </p:nvSpPr>
        <p:spPr>
          <a:xfrm>
            <a:off x="2880390" y="4202145"/>
            <a:ext cx="24690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 3M lignes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données éCO2mix</a:t>
            </a:r>
            <a:endParaRPr b="0" i="0" sz="1400" u="none" cap="none" strike="noStrike">
              <a:solidFill>
                <a:srgbClr val="000000"/>
              </a:solidFill>
              <a:latin typeface="Arial"/>
              <a:ea typeface="Arial"/>
              <a:cs typeface="Arial"/>
              <a:sym typeface="Arial"/>
            </a:endParaRPr>
          </a:p>
        </p:txBody>
      </p:sp>
      <p:sp>
        <p:nvSpPr>
          <p:cNvPr id="304" name="Google Shape;304;p15"/>
          <p:cNvSpPr/>
          <p:nvPr/>
        </p:nvSpPr>
        <p:spPr>
          <a:xfrm>
            <a:off x="5760750" y="4202145"/>
            <a:ext cx="24690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30 min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granularité temporelle</a:t>
            </a:r>
            <a:endParaRPr b="0" i="0" sz="1400" u="none" cap="none" strike="noStrike">
              <a:solidFill>
                <a:srgbClr val="000000"/>
              </a:solidFill>
              <a:latin typeface="Arial"/>
              <a:ea typeface="Arial"/>
              <a:cs typeface="Arial"/>
              <a:sym typeface="Arial"/>
            </a:endParaRPr>
          </a:p>
        </p:txBody>
      </p:sp>
      <p:sp>
        <p:nvSpPr>
          <p:cNvPr id="305" name="Google Shape;305;p15"/>
          <p:cNvSpPr/>
          <p:nvPr/>
        </p:nvSpPr>
        <p:spPr>
          <a:xfrm>
            <a:off x="8641110" y="4202145"/>
            <a:ext cx="31089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Régionale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granularité spatiale</a:t>
            </a:r>
            <a:endParaRPr b="0" i="0" sz="1400" u="none" cap="none" strike="noStrike">
              <a:solidFill>
                <a:srgbClr val="000000"/>
              </a:solidFill>
              <a:latin typeface="Arial"/>
              <a:ea typeface="Arial"/>
              <a:cs typeface="Arial"/>
              <a:sym typeface="Arial"/>
            </a:endParaRPr>
          </a:p>
        </p:txBody>
      </p:sp>
      <p:sp>
        <p:nvSpPr>
          <p:cNvPr id="306" name="Google Shape;306;p15"/>
          <p:cNvSpPr/>
          <p:nvPr/>
        </p:nvSpPr>
        <p:spPr>
          <a:xfrm>
            <a:off x="0" y="8001000"/>
            <a:ext cx="14630400" cy="4560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7" name="Google Shape;307;p15"/>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sp>
        <p:nvSpPr>
          <p:cNvPr id="308" name="Google Shape;308;p15"/>
          <p:cNvSpPr txBox="1"/>
          <p:nvPr/>
        </p:nvSpPr>
        <p:spPr>
          <a:xfrm>
            <a:off x="960125" y="2832950"/>
            <a:ext cx="89751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chemeClr val="dk2"/>
                </a:solidFill>
                <a:latin typeface="Nunito"/>
                <a:ea typeface="Nunito"/>
                <a:cs typeface="Nunito"/>
                <a:sym typeface="Nunito"/>
              </a:rPr>
              <a:t>Dataset utilisé : Données éCO2mix régionales consolidées et définitives</a:t>
            </a:r>
            <a:br>
              <a:rPr b="0" i="0" lang="en-US" sz="2100" u="none" cap="none" strike="noStrike">
                <a:solidFill>
                  <a:schemeClr val="dk2"/>
                </a:solidFill>
                <a:latin typeface="Nunito"/>
                <a:ea typeface="Nunito"/>
                <a:cs typeface="Nunito"/>
                <a:sym typeface="Nunito"/>
              </a:rPr>
            </a:br>
            <a:r>
              <a:rPr b="0" i="0" lang="en-US" sz="1100" u="sng" cap="none" strike="noStrike">
                <a:solidFill>
                  <a:schemeClr val="hlink"/>
                </a:solidFill>
                <a:latin typeface="Nunito"/>
                <a:ea typeface="Nunito"/>
                <a:cs typeface="Nunito"/>
                <a:sym typeface="Nunito"/>
                <a:hlinkClick r:id="rId3"/>
              </a:rPr>
              <a:t>https://www.data.gouv.fr/datasets/donnees-eco2mix-regionales-consolidees-et-definitives</a:t>
            </a:r>
            <a:endParaRPr b="0" i="0" sz="1100" u="none" cap="none" strike="noStrike">
              <a:solidFill>
                <a:schemeClr val="dk2"/>
              </a:solidFill>
              <a:latin typeface="Nunito"/>
              <a:ea typeface="Nunito"/>
              <a:cs typeface="Nunito"/>
              <a:sym typeface="Nunito"/>
            </a:endParaRPr>
          </a:p>
        </p:txBody>
      </p:sp>
      <p:sp>
        <p:nvSpPr>
          <p:cNvPr id="309" name="Google Shape;309;p15"/>
          <p:cNvSpPr/>
          <p:nvPr/>
        </p:nvSpPr>
        <p:spPr>
          <a:xfrm>
            <a:off x="4754805" y="5598205"/>
            <a:ext cx="5120700" cy="5028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2202F"/>
                </a:solidFill>
                <a:latin typeface="Arial"/>
                <a:ea typeface="Arial"/>
                <a:cs typeface="Arial"/>
                <a:sym typeface="Arial"/>
              </a:rPr>
              <a:t>éCO2mix : 2012–2026 | Météo et modèle : 2019–2025</a:t>
            </a:r>
            <a:endParaRPr b="0" i="0" sz="1400" u="none" cap="none" strike="noStrike">
              <a:solidFill>
                <a:srgbClr val="000000"/>
              </a:solidFill>
              <a:latin typeface="Arial"/>
              <a:ea typeface="Arial"/>
              <a:cs typeface="Arial"/>
              <a:sym typeface="Arial"/>
            </a:endParaRPr>
          </a:p>
        </p:txBody>
      </p:sp>
      <p:sp>
        <p:nvSpPr>
          <p:cNvPr id="310" name="Google Shape;310;p15"/>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4" name="Shape 314"/>
        <p:cNvGrpSpPr/>
        <p:nvPr/>
      </p:nvGrpSpPr>
      <p:grpSpPr>
        <a:xfrm>
          <a:off x="0" y="0"/>
          <a:ext cx="0" cy="0"/>
          <a:chOff x="0" y="0"/>
          <a:chExt cx="0" cy="0"/>
        </a:xfrm>
      </p:grpSpPr>
      <p:sp>
        <p:nvSpPr>
          <p:cNvPr id="315" name="Google Shape;315;p16"/>
          <p:cNvSpPr txBox="1"/>
          <p:nvPr/>
        </p:nvSpPr>
        <p:spPr>
          <a:xfrm>
            <a:off x="731520" y="502920"/>
            <a:ext cx="98754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2202F"/>
                </a:solidFill>
                <a:latin typeface="Arial"/>
                <a:ea typeface="Arial"/>
                <a:cs typeface="Arial"/>
                <a:sym typeface="Arial"/>
              </a:rPr>
              <a:t>Exploration — vérifier la faisabilité</a:t>
            </a:r>
            <a:endParaRPr b="0" i="0" sz="1400" u="none" cap="none" strike="noStrike">
              <a:solidFill>
                <a:srgbClr val="000000"/>
              </a:solidFill>
              <a:latin typeface="Arial"/>
              <a:ea typeface="Arial"/>
              <a:cs typeface="Arial"/>
              <a:sym typeface="Arial"/>
            </a:endParaRPr>
          </a:p>
        </p:txBody>
      </p:sp>
      <p:sp>
        <p:nvSpPr>
          <p:cNvPr id="316" name="Google Shape;316;p16"/>
          <p:cNvSpPr txBox="1"/>
          <p:nvPr/>
        </p:nvSpPr>
        <p:spPr>
          <a:xfrm>
            <a:off x="777240" y="1170432"/>
            <a:ext cx="10972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5A6673"/>
                </a:solidFill>
                <a:latin typeface="Arial"/>
                <a:ea typeface="Arial"/>
                <a:cs typeface="Arial"/>
                <a:sym typeface="Arial"/>
              </a:rPr>
              <a:t>Volumétrie, fréquence, complétude et saisonnalités avant toute modélisation</a:t>
            </a:r>
            <a:endParaRPr b="0" i="0" sz="1400" u="none" cap="none" strike="noStrike">
              <a:solidFill>
                <a:srgbClr val="000000"/>
              </a:solidFill>
              <a:latin typeface="Arial"/>
              <a:ea typeface="Arial"/>
              <a:cs typeface="Arial"/>
              <a:sym typeface="Arial"/>
            </a:endParaRPr>
          </a:p>
        </p:txBody>
      </p:sp>
      <p:pic>
        <p:nvPicPr>
          <p:cNvPr descr="exploration_cell13_out0.png" id="317" name="Google Shape;317;p16"/>
          <p:cNvPicPr preferRelativeResize="0"/>
          <p:nvPr/>
        </p:nvPicPr>
        <p:blipFill rotWithShape="1">
          <a:blip r:embed="rId3">
            <a:alphaModFix/>
          </a:blip>
          <a:srcRect b="0" l="0" r="0" t="0"/>
          <a:stretch/>
        </p:blipFill>
        <p:spPr>
          <a:xfrm>
            <a:off x="654725" y="2436935"/>
            <a:ext cx="6217920" cy="2560320"/>
          </a:xfrm>
          <a:prstGeom prst="rect">
            <a:avLst/>
          </a:prstGeom>
          <a:noFill/>
          <a:ln>
            <a:noFill/>
          </a:ln>
        </p:spPr>
      </p:pic>
      <p:pic>
        <p:nvPicPr>
          <p:cNvPr descr="exploration_cell24_out0.png" id="318" name="Google Shape;318;p16"/>
          <p:cNvPicPr preferRelativeResize="0"/>
          <p:nvPr/>
        </p:nvPicPr>
        <p:blipFill rotWithShape="1">
          <a:blip r:embed="rId4">
            <a:alphaModFix/>
          </a:blip>
          <a:srcRect b="0" l="0" r="0" t="0"/>
          <a:stretch/>
        </p:blipFill>
        <p:spPr>
          <a:xfrm>
            <a:off x="7391970" y="2148847"/>
            <a:ext cx="6309359" cy="3136497"/>
          </a:xfrm>
          <a:prstGeom prst="rect">
            <a:avLst/>
          </a:prstGeom>
          <a:noFill/>
          <a:ln>
            <a:noFill/>
          </a:ln>
        </p:spPr>
      </p:pic>
      <p:sp>
        <p:nvSpPr>
          <p:cNvPr id="319" name="Google Shape;319;p16"/>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
        <p:nvSpPr>
          <p:cNvPr id="320" name="Google Shape;320;p16"/>
          <p:cNvSpPr/>
          <p:nvPr/>
        </p:nvSpPr>
        <p:spPr>
          <a:xfrm>
            <a:off x="914400" y="6720840"/>
            <a:ext cx="12710100" cy="685800"/>
          </a:xfrm>
          <a:prstGeom prst="roundRect">
            <a:avLst>
              <a:gd fmla="val 16667" name="adj"/>
            </a:avLst>
          </a:prstGeom>
          <a:solidFill>
            <a:srgbClr val="E8F2EE"/>
          </a:solidFill>
          <a:ln cap="flat" cmpd="sng" w="9525">
            <a:solidFill>
              <a:srgbClr val="268B6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268B67"/>
                </a:solidFill>
                <a:latin typeface="Calibri"/>
                <a:ea typeface="Calibri"/>
                <a:cs typeface="Calibri"/>
                <a:sym typeface="Calibri"/>
              </a:rPr>
              <a:t>Conclusion : projet faisable, avec un volume suffisant et une cible directement observable.</a:t>
            </a:r>
            <a:endParaRPr b="0" i="0" sz="1400" u="none" cap="none" strike="noStrike">
              <a:solidFill>
                <a:srgbClr val="000000"/>
              </a:solidFill>
              <a:latin typeface="Arial"/>
              <a:ea typeface="Arial"/>
              <a:cs typeface="Arial"/>
              <a:sym typeface="Arial"/>
            </a:endParaRPr>
          </a:p>
        </p:txBody>
      </p:sp>
      <p:sp>
        <p:nvSpPr>
          <p:cNvPr id="321" name="Google Shape;321;p16"/>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p17"/>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C5.1.2</a:t>
            </a:r>
            <a:endParaRPr b="0" i="0" sz="1400" u="none" cap="none" strike="noStrike">
              <a:solidFill>
                <a:srgbClr val="000000"/>
              </a:solidFill>
              <a:latin typeface="Arial"/>
              <a:ea typeface="Arial"/>
              <a:cs typeface="Arial"/>
              <a:sym typeface="Arial"/>
            </a:endParaRPr>
          </a:p>
        </p:txBody>
      </p:sp>
      <p:sp>
        <p:nvSpPr>
          <p:cNvPr id="327" name="Google Shape;327;p17"/>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Définir la stratégie de résolution</a:t>
            </a:r>
            <a:endParaRPr b="0" i="0" sz="1400" u="none" cap="none" strike="noStrike">
              <a:solidFill>
                <a:srgbClr val="000000"/>
              </a:solidFill>
              <a:latin typeface="Arial"/>
              <a:ea typeface="Arial"/>
              <a:cs typeface="Arial"/>
              <a:sym typeface="Arial"/>
            </a:endParaRPr>
          </a:p>
        </p:txBody>
      </p:sp>
      <p:sp>
        <p:nvSpPr>
          <p:cNvPr id="328" name="Google Shape;328;p17"/>
          <p:cNvSpPr txBox="1"/>
          <p:nvPr/>
        </p:nvSpPr>
        <p:spPr>
          <a:xfrm>
            <a:off x="777240" y="1207008"/>
            <a:ext cx="987552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A6673"/>
                </a:solidFill>
                <a:latin typeface="Calibri"/>
                <a:ea typeface="Calibri"/>
                <a:cs typeface="Calibri"/>
                <a:sym typeface="Calibri"/>
              </a:rPr>
              <a:t>Transformer un besoin métier en problème de Machine Learning</a:t>
            </a:r>
            <a:endParaRPr b="0" i="0" sz="1400" u="none" cap="none" strike="noStrike">
              <a:solidFill>
                <a:srgbClr val="000000"/>
              </a:solidFill>
              <a:latin typeface="Arial"/>
              <a:ea typeface="Arial"/>
              <a:cs typeface="Arial"/>
              <a:sym typeface="Arial"/>
            </a:endParaRPr>
          </a:p>
        </p:txBody>
      </p:sp>
      <p:sp>
        <p:nvSpPr>
          <p:cNvPr id="329" name="Google Shape;329;p17"/>
          <p:cNvSpPr txBox="1"/>
          <p:nvPr/>
        </p:nvSpPr>
        <p:spPr>
          <a:xfrm>
            <a:off x="1390597" y="2304135"/>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FORMULATION ML</a:t>
            </a:r>
            <a:endParaRPr b="0" i="0" sz="1800" u="none" cap="none" strike="noStrike">
              <a:solidFill>
                <a:srgbClr val="000000"/>
              </a:solidFill>
              <a:latin typeface="Arial"/>
              <a:ea typeface="Arial"/>
              <a:cs typeface="Arial"/>
              <a:sym typeface="Arial"/>
            </a:endParaRPr>
          </a:p>
        </p:txBody>
      </p:sp>
      <p:sp>
        <p:nvSpPr>
          <p:cNvPr id="330" name="Google Shape;330;p17"/>
          <p:cNvSpPr txBox="1"/>
          <p:nvPr/>
        </p:nvSpPr>
        <p:spPr>
          <a:xfrm>
            <a:off x="1390597" y="2669895"/>
            <a:ext cx="5029200" cy="1262100"/>
          </a:xfrm>
          <a:prstGeom prst="rect">
            <a:avLst/>
          </a:prstGeom>
          <a:noFill/>
          <a:ln>
            <a:noFill/>
          </a:ln>
        </p:spPr>
        <p:txBody>
          <a:bodyPr anchorCtr="0" anchor="t" bIns="45700" lIns="91425" spcFirstLastPara="1" rIns="91425" wrap="square" tIns="45700">
            <a:spAutoFit/>
          </a:bodyPr>
          <a:lstStyle/>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Tâche : régression sur série temporelle</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Cible : consommation à t + 24 h</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Unité : région × demi-heure</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Horizon principal : J+1</a:t>
            </a:r>
            <a:endParaRPr b="0" i="0" sz="1400" u="none" cap="none" strike="noStrike">
              <a:solidFill>
                <a:srgbClr val="000000"/>
              </a:solidFill>
              <a:latin typeface="Arial"/>
              <a:ea typeface="Arial"/>
              <a:cs typeface="Arial"/>
              <a:sym typeface="Arial"/>
            </a:endParaRPr>
          </a:p>
        </p:txBody>
      </p:sp>
      <p:sp>
        <p:nvSpPr>
          <p:cNvPr id="331" name="Google Shape;331;p17"/>
          <p:cNvSpPr txBox="1"/>
          <p:nvPr/>
        </p:nvSpPr>
        <p:spPr>
          <a:xfrm>
            <a:off x="7296208" y="2304135"/>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APPROCHE RETENUE</a:t>
            </a:r>
            <a:endParaRPr b="0" i="0" sz="1800" u="none" cap="none" strike="noStrike">
              <a:solidFill>
                <a:srgbClr val="000000"/>
              </a:solidFill>
              <a:latin typeface="Arial"/>
              <a:ea typeface="Arial"/>
              <a:cs typeface="Arial"/>
              <a:sym typeface="Arial"/>
            </a:endParaRPr>
          </a:p>
        </p:txBody>
      </p:sp>
      <p:sp>
        <p:nvSpPr>
          <p:cNvPr id="332" name="Google Shape;332;p17"/>
          <p:cNvSpPr txBox="1"/>
          <p:nvPr/>
        </p:nvSpPr>
        <p:spPr>
          <a:xfrm>
            <a:off x="7296207" y="2669895"/>
            <a:ext cx="5943600" cy="1262100"/>
          </a:xfrm>
          <a:prstGeom prst="rect">
            <a:avLst/>
          </a:prstGeom>
          <a:noFill/>
          <a:ln>
            <a:noFill/>
          </a:ln>
        </p:spPr>
        <p:txBody>
          <a:bodyPr anchorCtr="0" anchor="t" bIns="45700" lIns="91425" spcFirstLastPara="1" rIns="91425" wrap="square" tIns="45700">
            <a:spAutoFit/>
          </a:bodyPr>
          <a:lstStyle/>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Baseline temporelle : demain = aujourd'hui</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Validation chronologique</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Comparaison de modèles simples et non linéaires</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Analyse spécifique des pics</a:t>
            </a:r>
            <a:endParaRPr b="0" i="0" sz="1400" u="none" cap="none" strike="noStrike">
              <a:solidFill>
                <a:srgbClr val="000000"/>
              </a:solidFill>
              <a:latin typeface="Arial"/>
              <a:ea typeface="Arial"/>
              <a:cs typeface="Arial"/>
              <a:sym typeface="Arial"/>
            </a:endParaRPr>
          </a:p>
        </p:txBody>
      </p:sp>
      <p:sp>
        <p:nvSpPr>
          <p:cNvPr id="333" name="Google Shape;333;p17"/>
          <p:cNvSpPr/>
          <p:nvPr/>
        </p:nvSpPr>
        <p:spPr>
          <a:xfrm>
            <a:off x="2240275" y="5204330"/>
            <a:ext cx="24690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2202F"/>
                </a:solidFill>
                <a:latin typeface="Calibri"/>
                <a:ea typeface="Calibri"/>
                <a:cs typeface="Calibri"/>
                <a:sym typeface="Calibri"/>
              </a:rPr>
              <a:t>Train</a:t>
            </a:r>
            <a:br>
              <a:rPr b="1" i="0" lang="en-US" sz="1600" u="none" cap="none" strike="noStrike">
                <a:solidFill>
                  <a:srgbClr val="12202F"/>
                </a:solidFill>
                <a:latin typeface="Calibri"/>
                <a:ea typeface="Calibri"/>
                <a:cs typeface="Calibri"/>
                <a:sym typeface="Calibri"/>
              </a:rPr>
            </a:br>
            <a:r>
              <a:rPr b="1" i="0" lang="en-US" sz="1600" u="none" cap="none" strike="noStrike">
                <a:solidFill>
                  <a:srgbClr val="12202F"/>
                </a:solidFill>
                <a:latin typeface="Calibri"/>
                <a:ea typeface="Calibri"/>
                <a:cs typeface="Calibri"/>
                <a:sym typeface="Calibri"/>
              </a:rPr>
              <a:t>2019–2023</a:t>
            </a:r>
            <a:endParaRPr b="0" i="0" sz="1400" u="none" cap="none" strike="noStrike">
              <a:solidFill>
                <a:srgbClr val="000000"/>
              </a:solidFill>
              <a:latin typeface="Arial"/>
              <a:ea typeface="Arial"/>
              <a:cs typeface="Arial"/>
              <a:sym typeface="Arial"/>
            </a:endParaRPr>
          </a:p>
        </p:txBody>
      </p:sp>
      <p:cxnSp>
        <p:nvCxnSpPr>
          <p:cNvPr id="334" name="Google Shape;334;p17"/>
          <p:cNvCxnSpPr/>
          <p:nvPr/>
        </p:nvCxnSpPr>
        <p:spPr>
          <a:xfrm>
            <a:off x="4754875" y="5615810"/>
            <a:ext cx="12801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335" name="Google Shape;335;p17"/>
          <p:cNvSpPr/>
          <p:nvPr/>
        </p:nvSpPr>
        <p:spPr>
          <a:xfrm>
            <a:off x="6080755" y="5204330"/>
            <a:ext cx="24690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2202F"/>
                </a:solidFill>
                <a:latin typeface="Calibri"/>
                <a:ea typeface="Calibri"/>
                <a:cs typeface="Calibri"/>
                <a:sym typeface="Calibri"/>
              </a:rPr>
              <a:t>Validation</a:t>
            </a:r>
            <a:br>
              <a:rPr b="1" i="0" lang="en-US" sz="1600" u="none" cap="none" strike="noStrike">
                <a:solidFill>
                  <a:srgbClr val="12202F"/>
                </a:solidFill>
                <a:latin typeface="Calibri"/>
                <a:ea typeface="Calibri"/>
                <a:cs typeface="Calibri"/>
                <a:sym typeface="Calibri"/>
              </a:rPr>
            </a:br>
            <a:r>
              <a:rPr b="1" i="0" lang="en-US" sz="1600" u="none" cap="none" strike="noStrike">
                <a:solidFill>
                  <a:srgbClr val="12202F"/>
                </a:solidFill>
                <a:latin typeface="Calibri"/>
                <a:ea typeface="Calibri"/>
                <a:cs typeface="Calibri"/>
                <a:sym typeface="Calibri"/>
              </a:rPr>
              <a:t>2024</a:t>
            </a:r>
            <a:endParaRPr b="0" i="0" sz="1400" u="none" cap="none" strike="noStrike">
              <a:solidFill>
                <a:srgbClr val="000000"/>
              </a:solidFill>
              <a:latin typeface="Arial"/>
              <a:ea typeface="Arial"/>
              <a:cs typeface="Arial"/>
              <a:sym typeface="Arial"/>
            </a:endParaRPr>
          </a:p>
        </p:txBody>
      </p:sp>
      <p:cxnSp>
        <p:nvCxnSpPr>
          <p:cNvPr id="336" name="Google Shape;336;p17"/>
          <p:cNvCxnSpPr/>
          <p:nvPr/>
        </p:nvCxnSpPr>
        <p:spPr>
          <a:xfrm>
            <a:off x="8595354" y="5615810"/>
            <a:ext cx="12801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337" name="Google Shape;337;p17"/>
          <p:cNvSpPr/>
          <p:nvPr/>
        </p:nvSpPr>
        <p:spPr>
          <a:xfrm>
            <a:off x="9921235" y="5204330"/>
            <a:ext cx="24690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2202F"/>
                </a:solidFill>
                <a:latin typeface="Calibri"/>
                <a:ea typeface="Calibri"/>
                <a:cs typeface="Calibri"/>
                <a:sym typeface="Calibri"/>
              </a:rPr>
              <a:t>Test</a:t>
            </a:r>
            <a:br>
              <a:rPr b="1" i="0" lang="en-US" sz="1600" u="none" cap="none" strike="noStrike">
                <a:solidFill>
                  <a:srgbClr val="12202F"/>
                </a:solidFill>
                <a:latin typeface="Calibri"/>
                <a:ea typeface="Calibri"/>
                <a:cs typeface="Calibri"/>
                <a:sym typeface="Calibri"/>
              </a:rPr>
            </a:br>
            <a:r>
              <a:rPr b="1" i="0" lang="en-US" sz="1600" u="none" cap="none" strike="noStrike">
                <a:solidFill>
                  <a:srgbClr val="12202F"/>
                </a:solidFill>
                <a:latin typeface="Calibri"/>
                <a:ea typeface="Calibri"/>
                <a:cs typeface="Calibri"/>
                <a:sym typeface="Calibri"/>
              </a:rPr>
              <a:t>2025</a:t>
            </a:r>
            <a:endParaRPr b="0" i="0" sz="1400" u="none" cap="none" strike="noStrike">
              <a:solidFill>
                <a:srgbClr val="000000"/>
              </a:solidFill>
              <a:latin typeface="Arial"/>
              <a:ea typeface="Arial"/>
              <a:cs typeface="Arial"/>
              <a:sym typeface="Arial"/>
            </a:endParaRPr>
          </a:p>
        </p:txBody>
      </p:sp>
      <p:sp>
        <p:nvSpPr>
          <p:cNvPr id="338" name="Google Shape;338;p17"/>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9" name="Google Shape;339;p17"/>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3" name="Shape 343"/>
        <p:cNvGrpSpPr/>
        <p:nvPr/>
      </p:nvGrpSpPr>
      <p:grpSpPr>
        <a:xfrm>
          <a:off x="0" y="0"/>
          <a:ext cx="0" cy="0"/>
          <a:chOff x="0" y="0"/>
          <a:chExt cx="0" cy="0"/>
        </a:xfrm>
      </p:grpSpPr>
      <p:sp>
        <p:nvSpPr>
          <p:cNvPr id="344" name="Google Shape;344;p18"/>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C5.1.3</a:t>
            </a:r>
            <a:endParaRPr b="0" i="0" sz="1400" u="none" cap="none" strike="noStrike">
              <a:solidFill>
                <a:srgbClr val="000000"/>
              </a:solidFill>
              <a:latin typeface="Arial"/>
              <a:ea typeface="Arial"/>
              <a:cs typeface="Arial"/>
              <a:sym typeface="Arial"/>
            </a:endParaRPr>
          </a:p>
        </p:txBody>
      </p:sp>
      <p:sp>
        <p:nvSpPr>
          <p:cNvPr id="345" name="Google Shape;345;p18"/>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Sélectionner les technologies et les outils</a:t>
            </a:r>
            <a:endParaRPr b="0" i="0" sz="1400" u="none" cap="none" strike="noStrike">
              <a:solidFill>
                <a:srgbClr val="000000"/>
              </a:solidFill>
              <a:latin typeface="Arial"/>
              <a:ea typeface="Arial"/>
              <a:cs typeface="Arial"/>
              <a:sym typeface="Arial"/>
            </a:endParaRPr>
          </a:p>
        </p:txBody>
      </p:sp>
      <p:sp>
        <p:nvSpPr>
          <p:cNvPr id="346" name="Google Shape;346;p18"/>
          <p:cNvSpPr txBox="1"/>
          <p:nvPr/>
        </p:nvSpPr>
        <p:spPr>
          <a:xfrm>
            <a:off x="914400" y="1600200"/>
            <a:ext cx="4114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PYTHON / PANDAS</a:t>
            </a:r>
            <a:endParaRPr b="0" i="0" sz="1800" u="none" cap="none" strike="noStrike">
              <a:solidFill>
                <a:srgbClr val="000000"/>
              </a:solidFill>
              <a:latin typeface="Arial"/>
              <a:ea typeface="Arial"/>
              <a:cs typeface="Arial"/>
              <a:sym typeface="Arial"/>
            </a:endParaRPr>
          </a:p>
        </p:txBody>
      </p:sp>
      <p:sp>
        <p:nvSpPr>
          <p:cNvPr id="347" name="Google Shape;347;p18"/>
          <p:cNvSpPr txBox="1"/>
          <p:nvPr/>
        </p:nvSpPr>
        <p:spPr>
          <a:xfrm>
            <a:off x="4663440" y="1572768"/>
            <a:ext cx="7498079" cy="4114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préparation et manipulation des données</a:t>
            </a:r>
            <a:endParaRPr b="0" i="0" sz="1400" u="none" cap="none" strike="noStrike">
              <a:solidFill>
                <a:srgbClr val="000000"/>
              </a:solidFill>
              <a:latin typeface="Arial"/>
              <a:ea typeface="Arial"/>
              <a:cs typeface="Arial"/>
              <a:sym typeface="Arial"/>
            </a:endParaRPr>
          </a:p>
        </p:txBody>
      </p:sp>
      <p:sp>
        <p:nvSpPr>
          <p:cNvPr id="348" name="Google Shape;348;p18"/>
          <p:cNvSpPr txBox="1"/>
          <p:nvPr/>
        </p:nvSpPr>
        <p:spPr>
          <a:xfrm>
            <a:off x="914400" y="2606040"/>
            <a:ext cx="4114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SCIKIT-LEARN</a:t>
            </a:r>
            <a:endParaRPr b="0" i="0" sz="1800" u="none" cap="none" strike="noStrike">
              <a:solidFill>
                <a:srgbClr val="000000"/>
              </a:solidFill>
              <a:latin typeface="Arial"/>
              <a:ea typeface="Arial"/>
              <a:cs typeface="Arial"/>
              <a:sym typeface="Arial"/>
            </a:endParaRPr>
          </a:p>
        </p:txBody>
      </p:sp>
      <p:sp>
        <p:nvSpPr>
          <p:cNvPr id="349" name="Google Shape;349;p18"/>
          <p:cNvSpPr txBox="1"/>
          <p:nvPr/>
        </p:nvSpPr>
        <p:spPr>
          <a:xfrm>
            <a:off x="4663440" y="2578608"/>
            <a:ext cx="7498079" cy="4114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modèles, validation, métriques, optimisation</a:t>
            </a:r>
            <a:endParaRPr b="0" i="0" sz="1400" u="none" cap="none" strike="noStrike">
              <a:solidFill>
                <a:srgbClr val="000000"/>
              </a:solidFill>
              <a:latin typeface="Arial"/>
              <a:ea typeface="Arial"/>
              <a:cs typeface="Arial"/>
              <a:sym typeface="Arial"/>
            </a:endParaRPr>
          </a:p>
        </p:txBody>
      </p:sp>
      <p:sp>
        <p:nvSpPr>
          <p:cNvPr id="350" name="Google Shape;350;p18"/>
          <p:cNvSpPr txBox="1"/>
          <p:nvPr/>
        </p:nvSpPr>
        <p:spPr>
          <a:xfrm>
            <a:off x="914400" y="3611880"/>
            <a:ext cx="4114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JOBLIB + JSON</a:t>
            </a:r>
            <a:endParaRPr b="0" i="0" sz="1800" u="none" cap="none" strike="noStrike">
              <a:solidFill>
                <a:srgbClr val="000000"/>
              </a:solidFill>
              <a:latin typeface="Arial"/>
              <a:ea typeface="Arial"/>
              <a:cs typeface="Arial"/>
              <a:sym typeface="Arial"/>
            </a:endParaRPr>
          </a:p>
        </p:txBody>
      </p:sp>
      <p:sp>
        <p:nvSpPr>
          <p:cNvPr id="351" name="Google Shape;351;p18"/>
          <p:cNvSpPr txBox="1"/>
          <p:nvPr/>
        </p:nvSpPr>
        <p:spPr>
          <a:xfrm>
            <a:off x="4663440" y="3584448"/>
            <a:ext cx="7498079" cy="4114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sauvegarde modèle + métadonnées</a:t>
            </a:r>
            <a:endParaRPr b="0" i="0" sz="1400" u="none" cap="none" strike="noStrike">
              <a:solidFill>
                <a:srgbClr val="000000"/>
              </a:solidFill>
              <a:latin typeface="Arial"/>
              <a:ea typeface="Arial"/>
              <a:cs typeface="Arial"/>
              <a:sym typeface="Arial"/>
            </a:endParaRPr>
          </a:p>
        </p:txBody>
      </p:sp>
      <p:sp>
        <p:nvSpPr>
          <p:cNvPr id="352" name="Google Shape;352;p18"/>
          <p:cNvSpPr txBox="1"/>
          <p:nvPr/>
        </p:nvSpPr>
        <p:spPr>
          <a:xfrm>
            <a:off x="914400" y="4617720"/>
            <a:ext cx="4114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MLFLOW</a:t>
            </a:r>
            <a:endParaRPr b="0" i="0" sz="1800" u="none" cap="none" strike="noStrike">
              <a:solidFill>
                <a:srgbClr val="000000"/>
              </a:solidFill>
              <a:latin typeface="Arial"/>
              <a:ea typeface="Arial"/>
              <a:cs typeface="Arial"/>
              <a:sym typeface="Arial"/>
            </a:endParaRPr>
          </a:p>
        </p:txBody>
      </p:sp>
      <p:sp>
        <p:nvSpPr>
          <p:cNvPr id="353" name="Google Shape;353;p18"/>
          <p:cNvSpPr txBox="1"/>
          <p:nvPr/>
        </p:nvSpPr>
        <p:spPr>
          <a:xfrm>
            <a:off x="4663440" y="4590288"/>
            <a:ext cx="7498079" cy="4114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traçabilité et versioning</a:t>
            </a:r>
            <a:endParaRPr b="0" i="0" sz="1400" u="none" cap="none" strike="noStrike">
              <a:solidFill>
                <a:srgbClr val="000000"/>
              </a:solidFill>
              <a:latin typeface="Arial"/>
              <a:ea typeface="Arial"/>
              <a:cs typeface="Arial"/>
              <a:sym typeface="Arial"/>
            </a:endParaRPr>
          </a:p>
        </p:txBody>
      </p:sp>
      <p:sp>
        <p:nvSpPr>
          <p:cNvPr id="354" name="Google Shape;354;p18"/>
          <p:cNvSpPr txBox="1"/>
          <p:nvPr/>
        </p:nvSpPr>
        <p:spPr>
          <a:xfrm>
            <a:off x="914400" y="5623560"/>
            <a:ext cx="4114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PYTEST / GITHUB ACTIONS</a:t>
            </a:r>
            <a:endParaRPr b="0" i="0" sz="1800" u="none" cap="none" strike="noStrike">
              <a:solidFill>
                <a:srgbClr val="000000"/>
              </a:solidFill>
              <a:latin typeface="Arial"/>
              <a:ea typeface="Arial"/>
              <a:cs typeface="Arial"/>
              <a:sym typeface="Arial"/>
            </a:endParaRPr>
          </a:p>
        </p:txBody>
      </p:sp>
      <p:sp>
        <p:nvSpPr>
          <p:cNvPr id="355" name="Google Shape;355;p18"/>
          <p:cNvSpPr txBox="1"/>
          <p:nvPr/>
        </p:nvSpPr>
        <p:spPr>
          <a:xfrm>
            <a:off x="4663440" y="5596128"/>
            <a:ext cx="7498079" cy="4114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tests et intégration continue</a:t>
            </a:r>
            <a:endParaRPr b="0" i="0" sz="1400" u="none" cap="none" strike="noStrike">
              <a:solidFill>
                <a:srgbClr val="000000"/>
              </a:solidFill>
              <a:latin typeface="Arial"/>
              <a:ea typeface="Arial"/>
              <a:cs typeface="Arial"/>
              <a:sym typeface="Arial"/>
            </a:endParaRPr>
          </a:p>
        </p:txBody>
      </p:sp>
      <p:sp>
        <p:nvSpPr>
          <p:cNvPr id="356" name="Google Shape;356;p18"/>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7" name="Google Shape;357;p18"/>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1" name="Shape 361"/>
        <p:cNvGrpSpPr/>
        <p:nvPr/>
      </p:nvGrpSpPr>
      <p:grpSpPr>
        <a:xfrm>
          <a:off x="0" y="0"/>
          <a:ext cx="0" cy="0"/>
          <a:chOff x="0" y="0"/>
          <a:chExt cx="0" cy="0"/>
        </a:xfrm>
      </p:grpSpPr>
      <p:sp>
        <p:nvSpPr>
          <p:cNvPr id="362" name="Google Shape;362;p19"/>
          <p:cNvSpPr txBox="1"/>
          <p:nvPr/>
        </p:nvSpPr>
        <p:spPr>
          <a:xfrm>
            <a:off x="731520" y="502920"/>
            <a:ext cx="98754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2202F"/>
                </a:solidFill>
                <a:latin typeface="Arial"/>
                <a:ea typeface="Arial"/>
                <a:cs typeface="Arial"/>
                <a:sym typeface="Arial"/>
              </a:rPr>
              <a:t>Préparation — du brut au dataset supervisé</a:t>
            </a:r>
            <a:endParaRPr b="0" i="0" sz="1400" u="none" cap="none" strike="noStrike">
              <a:solidFill>
                <a:srgbClr val="000000"/>
              </a:solidFill>
              <a:latin typeface="Arial"/>
              <a:ea typeface="Arial"/>
              <a:cs typeface="Arial"/>
              <a:sym typeface="Arial"/>
            </a:endParaRPr>
          </a:p>
        </p:txBody>
      </p:sp>
      <p:sp>
        <p:nvSpPr>
          <p:cNvPr id="363" name="Google Shape;363;p19"/>
          <p:cNvSpPr txBox="1"/>
          <p:nvPr/>
        </p:nvSpPr>
        <p:spPr>
          <a:xfrm>
            <a:off x="777240" y="1170432"/>
            <a:ext cx="10972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5A6673"/>
                </a:solidFill>
                <a:latin typeface="Arial"/>
                <a:ea typeface="Arial"/>
                <a:cs typeface="Arial"/>
                <a:sym typeface="Arial"/>
              </a:rPr>
              <a:t>Affinage du cadre</a:t>
            </a:r>
            <a:endParaRPr b="0" i="0" sz="1400" u="none" cap="none" strike="noStrike">
              <a:solidFill>
                <a:srgbClr val="000000"/>
              </a:solidFill>
              <a:latin typeface="Arial"/>
              <a:ea typeface="Arial"/>
              <a:cs typeface="Arial"/>
              <a:sym typeface="Arial"/>
            </a:endParaRPr>
          </a:p>
        </p:txBody>
      </p:sp>
      <p:sp>
        <p:nvSpPr>
          <p:cNvPr id="364" name="Google Shape;364;p19"/>
          <p:cNvSpPr/>
          <p:nvPr/>
        </p:nvSpPr>
        <p:spPr>
          <a:xfrm>
            <a:off x="502963" y="4904230"/>
            <a:ext cx="2743200" cy="822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rPr b="1" i="0" lang="en-US" sz="2300" u="none" cap="none" strike="noStrike">
                <a:solidFill>
                  <a:srgbClr val="2F61B8"/>
                </a:solidFill>
                <a:latin typeface="Arial"/>
                <a:ea typeface="Arial"/>
                <a:cs typeface="Arial"/>
                <a:sym typeface="Arial"/>
              </a:rPr>
              <a:t>122 637 lignes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5A6673"/>
                </a:solidFill>
                <a:latin typeface="Arial"/>
                <a:ea typeface="Arial"/>
                <a:cs typeface="Arial"/>
                <a:sym typeface="Arial"/>
              </a:rPr>
              <a:t>dataset météo parfaite</a:t>
            </a:r>
            <a:endParaRPr b="0" i="0" sz="1400" u="none" cap="none" strike="noStrike">
              <a:solidFill>
                <a:srgbClr val="000000"/>
              </a:solidFill>
              <a:latin typeface="Arial"/>
              <a:ea typeface="Arial"/>
              <a:cs typeface="Arial"/>
              <a:sym typeface="Arial"/>
            </a:endParaRPr>
          </a:p>
        </p:txBody>
      </p:sp>
      <p:sp>
        <p:nvSpPr>
          <p:cNvPr id="365" name="Google Shape;365;p19"/>
          <p:cNvSpPr/>
          <p:nvPr/>
        </p:nvSpPr>
        <p:spPr>
          <a:xfrm>
            <a:off x="3520483" y="4904230"/>
            <a:ext cx="2011800" cy="822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rPr b="1" i="0" lang="en-US" sz="2300" u="none" cap="none" strike="noStrike">
                <a:solidFill>
                  <a:srgbClr val="2F61B8"/>
                </a:solidFill>
                <a:latin typeface="Arial"/>
                <a:ea typeface="Arial"/>
                <a:cs typeface="Arial"/>
                <a:sym typeface="Arial"/>
              </a:rPr>
              <a:t>15</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5A6673"/>
                </a:solidFill>
                <a:latin typeface="Arial"/>
                <a:ea typeface="Arial"/>
                <a:cs typeface="Arial"/>
                <a:sym typeface="Arial"/>
              </a:rPr>
              <a:t>13 variables + date + cible</a:t>
            </a:r>
            <a:endParaRPr b="0" i="0" sz="1400" u="none" cap="none" strike="noStrike">
              <a:solidFill>
                <a:srgbClr val="000000"/>
              </a:solidFill>
              <a:latin typeface="Arial"/>
              <a:ea typeface="Arial"/>
              <a:cs typeface="Arial"/>
              <a:sym typeface="Arial"/>
            </a:endParaRPr>
          </a:p>
        </p:txBody>
      </p:sp>
      <p:sp>
        <p:nvSpPr>
          <p:cNvPr id="366" name="Google Shape;366;p19"/>
          <p:cNvSpPr/>
          <p:nvPr/>
        </p:nvSpPr>
        <p:spPr>
          <a:xfrm>
            <a:off x="5897923" y="4904230"/>
            <a:ext cx="2560200" cy="822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rPr b="1" i="0" lang="en-US" sz="2300" u="none" cap="none" strike="noStrike">
                <a:solidFill>
                  <a:srgbClr val="2F61B8"/>
                </a:solidFill>
                <a:latin typeface="Arial"/>
                <a:ea typeface="Arial"/>
                <a:cs typeface="Arial"/>
                <a:sym typeface="Arial"/>
              </a:rPr>
              <a:t>2019-01-01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5A6673"/>
                </a:solidFill>
                <a:latin typeface="Arial"/>
                <a:ea typeface="Arial"/>
                <a:cs typeface="Arial"/>
                <a:sym typeface="Arial"/>
              </a:rPr>
              <a:t>début features</a:t>
            </a:r>
            <a:endParaRPr b="0" i="0" sz="1400" u="none" cap="none" strike="noStrike">
              <a:solidFill>
                <a:srgbClr val="000000"/>
              </a:solidFill>
              <a:latin typeface="Arial"/>
              <a:ea typeface="Arial"/>
              <a:cs typeface="Arial"/>
              <a:sym typeface="Arial"/>
            </a:endParaRPr>
          </a:p>
        </p:txBody>
      </p:sp>
      <p:sp>
        <p:nvSpPr>
          <p:cNvPr id="367" name="Google Shape;367;p19"/>
          <p:cNvSpPr/>
          <p:nvPr/>
        </p:nvSpPr>
        <p:spPr>
          <a:xfrm>
            <a:off x="8732563" y="4904230"/>
            <a:ext cx="2560200" cy="822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rPr b="1" i="0" lang="en-US" sz="2300" u="none" cap="none" strike="noStrike">
                <a:solidFill>
                  <a:srgbClr val="2F61B8"/>
                </a:solidFill>
                <a:latin typeface="Arial"/>
                <a:ea typeface="Arial"/>
                <a:cs typeface="Arial"/>
                <a:sym typeface="Arial"/>
              </a:rPr>
              <a:t>2025-12-30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5A6673"/>
                </a:solidFill>
                <a:latin typeface="Arial"/>
                <a:ea typeface="Arial"/>
                <a:cs typeface="Arial"/>
                <a:sym typeface="Arial"/>
              </a:rPr>
              <a:t>dernier instant source</a:t>
            </a:r>
            <a:endParaRPr b="0" i="0" sz="1400" u="none" cap="none" strike="noStrike">
              <a:solidFill>
                <a:srgbClr val="000000"/>
              </a:solidFill>
              <a:latin typeface="Arial"/>
              <a:ea typeface="Arial"/>
              <a:cs typeface="Arial"/>
              <a:sym typeface="Arial"/>
            </a:endParaRPr>
          </a:p>
        </p:txBody>
      </p:sp>
      <p:sp>
        <p:nvSpPr>
          <p:cNvPr id="368" name="Google Shape;368;p19"/>
          <p:cNvSpPr txBox="1"/>
          <p:nvPr/>
        </p:nvSpPr>
        <p:spPr>
          <a:xfrm>
            <a:off x="777250" y="1668360"/>
            <a:ext cx="36576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2F61B8"/>
                </a:solidFill>
                <a:latin typeface="Arial"/>
                <a:ea typeface="Arial"/>
                <a:cs typeface="Arial"/>
                <a:sym typeface="Arial"/>
              </a:rPr>
              <a:t>DÉCISIONS DE PRÉPARATION</a:t>
            </a:r>
            <a:endParaRPr b="0" i="0" sz="1400" u="none" cap="none" strike="noStrike">
              <a:solidFill>
                <a:srgbClr val="000000"/>
              </a:solidFill>
              <a:latin typeface="Arial"/>
              <a:ea typeface="Arial"/>
              <a:cs typeface="Arial"/>
              <a:sym typeface="Arial"/>
            </a:endParaRPr>
          </a:p>
        </p:txBody>
      </p:sp>
      <p:sp>
        <p:nvSpPr>
          <p:cNvPr id="369" name="Google Shape;369;p19"/>
          <p:cNvSpPr txBox="1"/>
          <p:nvPr/>
        </p:nvSpPr>
        <p:spPr>
          <a:xfrm>
            <a:off x="777250" y="2034120"/>
            <a:ext cx="6217800" cy="1923900"/>
          </a:xfrm>
          <a:prstGeom prst="rect">
            <a:avLst/>
          </a:prstGeom>
          <a:noFill/>
          <a:ln>
            <a:noFill/>
          </a:ln>
        </p:spPr>
        <p:txBody>
          <a:bodyPr anchorCtr="0" anchor="t" bIns="45700" lIns="91425" spcFirstLastPara="1" rIns="91425" wrap="square" tIns="45700">
            <a:spAutoFit/>
          </a:bodyPr>
          <a:lstStyle/>
          <a:p>
            <a:pPr indent="-336550" lvl="0" marL="457200" marR="0" rtl="0" algn="l">
              <a:lnSpc>
                <a:spcPct val="100000"/>
              </a:lnSpc>
              <a:spcBef>
                <a:spcPts val="0"/>
              </a:spcBef>
              <a:spcAft>
                <a:spcPts val="0"/>
              </a:spcAft>
              <a:buClr>
                <a:srgbClr val="12202F"/>
              </a:buClr>
              <a:buSzPts val="1700"/>
              <a:buFont typeface="Arial"/>
              <a:buChar char="●"/>
            </a:pPr>
            <a:r>
              <a:rPr b="0" i="0" lang="en-US" sz="1700" u="none" cap="none" strike="noStrike">
                <a:solidFill>
                  <a:srgbClr val="12202F"/>
                </a:solidFill>
                <a:latin typeface="Arial"/>
                <a:ea typeface="Arial"/>
                <a:cs typeface="Arial"/>
                <a:sym typeface="Arial"/>
              </a:rPr>
              <a:t>Filtrage sur la Nouvelle-Aquitaine et les années récentes.</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12202F"/>
              </a:buClr>
              <a:buSzPts val="1700"/>
              <a:buFont typeface="Arial"/>
              <a:buChar char="●"/>
            </a:pPr>
            <a:r>
              <a:rPr b="0" i="0" lang="en-US" sz="1700" u="none" cap="none" strike="noStrike">
                <a:solidFill>
                  <a:srgbClr val="12202F"/>
                </a:solidFill>
                <a:latin typeface="Arial"/>
                <a:ea typeface="Arial"/>
                <a:cs typeface="Arial"/>
                <a:sym typeface="Arial"/>
              </a:rPr>
              <a:t>Déduplication des timestamps liés aux changements d’heure.</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12202F"/>
              </a:buClr>
              <a:buSzPts val="1700"/>
              <a:buFont typeface="Arial"/>
              <a:buChar char="●"/>
            </a:pPr>
            <a:r>
              <a:rPr b="0" i="0" lang="en-US" sz="1700" u="none" cap="none" strike="noStrike">
                <a:solidFill>
                  <a:srgbClr val="12202F"/>
                </a:solidFill>
                <a:latin typeface="Arial"/>
                <a:ea typeface="Arial"/>
                <a:cs typeface="Arial"/>
                <a:sym typeface="Arial"/>
              </a:rPr>
              <a:t>Jointure météo observée sur le jour local de t + 24 h.</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12202F"/>
              </a:buClr>
              <a:buSzPts val="1700"/>
              <a:buFont typeface="Arial"/>
              <a:buChar char="●"/>
            </a:pPr>
            <a:r>
              <a:rPr b="0" i="0" lang="en-US" sz="1700" u="none" cap="none" strike="noStrike">
                <a:solidFill>
                  <a:srgbClr val="12202F"/>
                </a:solidFill>
                <a:latin typeface="Arial"/>
                <a:ea typeface="Arial"/>
                <a:cs typeface="Arial"/>
                <a:sym typeface="Arial"/>
              </a:rPr>
              <a:t>Cible construite sur la consommation observée 24 h plus tard.</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12202F"/>
              </a:buClr>
              <a:buSzPts val="1700"/>
              <a:buFont typeface="Arial"/>
              <a:buChar char="●"/>
            </a:pPr>
            <a:r>
              <a:rPr b="0" i="0" lang="en-US" sz="1700" u="none" cap="none" strike="noStrike">
                <a:solidFill>
                  <a:srgbClr val="12202F"/>
                </a:solidFill>
                <a:latin typeface="Arial"/>
                <a:ea typeface="Arial"/>
                <a:cs typeface="Arial"/>
                <a:sym typeface="Arial"/>
              </a:rPr>
              <a:t>Export d’un fichier parquet prêt pour la modélisation.</a:t>
            </a:r>
            <a:endParaRPr b="0" i="0" sz="1400" u="none" cap="none" strike="noStrike">
              <a:solidFill>
                <a:srgbClr val="000000"/>
              </a:solidFill>
              <a:latin typeface="Arial"/>
              <a:ea typeface="Arial"/>
              <a:cs typeface="Arial"/>
              <a:sym typeface="Arial"/>
            </a:endParaRPr>
          </a:p>
        </p:txBody>
      </p:sp>
      <p:sp>
        <p:nvSpPr>
          <p:cNvPr id="370" name="Google Shape;370;p19"/>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
        <p:nvSpPr>
          <p:cNvPr id="371" name="Google Shape;371;p19"/>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C5.2.1</a:t>
            </a:r>
            <a:endParaRPr b="1" i="0" sz="1200" u="none" cap="none" strike="noStrike">
              <a:solidFill>
                <a:srgbClr val="2F61B8"/>
              </a:solidFill>
              <a:latin typeface="Calibri"/>
              <a:ea typeface="Calibri"/>
              <a:cs typeface="Calibri"/>
              <a:sym typeface="Calibri"/>
            </a:endParaRPr>
          </a:p>
        </p:txBody>
      </p:sp>
      <p:sp>
        <p:nvSpPr>
          <p:cNvPr id="372" name="Google Shape;372;p19"/>
          <p:cNvSpPr/>
          <p:nvPr/>
        </p:nvSpPr>
        <p:spPr>
          <a:xfrm>
            <a:off x="11567225" y="4904225"/>
            <a:ext cx="2560200" cy="822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lang="en-US" sz="2600">
                <a:solidFill>
                  <a:srgbClr val="2F61B8"/>
                </a:solidFill>
                <a:latin typeface="Calibri"/>
                <a:ea typeface="Calibri"/>
                <a:cs typeface="Calibri"/>
                <a:sym typeface="Calibri"/>
              </a:rPr>
              <a:t>4717</a:t>
            </a:r>
            <a:r>
              <a:rPr b="1" i="0" lang="en-US" sz="2600" u="none" cap="none" strike="noStrike">
                <a:solidFill>
                  <a:srgbClr val="2F61B8"/>
                </a:solidFill>
                <a:latin typeface="Calibri"/>
                <a:ea typeface="Calibri"/>
                <a:cs typeface="Calibri"/>
                <a:sym typeface="Calibri"/>
              </a:rPr>
              <a:t> MW</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lang="en-US" sz="1100">
                <a:solidFill>
                  <a:srgbClr val="5A6673"/>
                </a:solidFill>
                <a:latin typeface="Calibri"/>
                <a:ea typeface="Calibri"/>
                <a:cs typeface="Calibri"/>
                <a:sym typeface="Calibri"/>
              </a:rPr>
              <a:t>Moyenne sur le test 2025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6" name="Shape 376"/>
        <p:cNvGrpSpPr/>
        <p:nvPr/>
      </p:nvGrpSpPr>
      <p:grpSpPr>
        <a:xfrm>
          <a:off x="0" y="0"/>
          <a:ext cx="0" cy="0"/>
          <a:chOff x="0" y="0"/>
          <a:chExt cx="0" cy="0"/>
        </a:xfrm>
      </p:grpSpPr>
      <p:sp>
        <p:nvSpPr>
          <p:cNvPr id="377" name="Google Shape;377;p20"/>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C5.2.1</a:t>
            </a:r>
            <a:endParaRPr b="1" i="0" sz="1200" u="none" cap="none" strike="noStrike">
              <a:solidFill>
                <a:srgbClr val="2F61B8"/>
              </a:solidFill>
              <a:latin typeface="Calibri"/>
              <a:ea typeface="Calibri"/>
              <a:cs typeface="Calibri"/>
              <a:sym typeface="Calibri"/>
            </a:endParaRPr>
          </a:p>
        </p:txBody>
      </p:sp>
      <p:sp>
        <p:nvSpPr>
          <p:cNvPr id="378" name="Google Shape;378;p20"/>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Construire le dataset et les variables</a:t>
            </a:r>
            <a:endParaRPr b="0" i="0" sz="1400" u="none" cap="none" strike="noStrike">
              <a:solidFill>
                <a:srgbClr val="000000"/>
              </a:solidFill>
              <a:latin typeface="Arial"/>
              <a:ea typeface="Arial"/>
              <a:cs typeface="Arial"/>
              <a:sym typeface="Arial"/>
            </a:endParaRPr>
          </a:p>
        </p:txBody>
      </p:sp>
      <p:sp>
        <p:nvSpPr>
          <p:cNvPr id="379" name="Google Shape;379;p20"/>
          <p:cNvSpPr txBox="1"/>
          <p:nvPr/>
        </p:nvSpPr>
        <p:spPr>
          <a:xfrm>
            <a:off x="82296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DATASET SUPERVISÉ</a:t>
            </a:r>
            <a:endParaRPr b="0" i="0" sz="1800" u="none" cap="none" strike="noStrike">
              <a:solidFill>
                <a:srgbClr val="000000"/>
              </a:solidFill>
              <a:latin typeface="Arial"/>
              <a:ea typeface="Arial"/>
              <a:cs typeface="Arial"/>
              <a:sym typeface="Arial"/>
            </a:endParaRPr>
          </a:p>
        </p:txBody>
      </p:sp>
      <p:sp>
        <p:nvSpPr>
          <p:cNvPr id="380" name="Google Shape;380;p20"/>
          <p:cNvSpPr txBox="1"/>
          <p:nvPr/>
        </p:nvSpPr>
        <p:spPr>
          <a:xfrm>
            <a:off x="822960" y="2011680"/>
            <a:ext cx="5303400" cy="12006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Données régionales éCO2mix</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Nouvelle-Aquitaine</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Observation : une demi-heure t</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Cible : consommation à t + 24 h</a:t>
            </a:r>
            <a:endParaRPr b="0" i="0" sz="1400" u="none" cap="none" strike="noStrike">
              <a:solidFill>
                <a:srgbClr val="000000"/>
              </a:solidFill>
              <a:latin typeface="Arial"/>
              <a:ea typeface="Arial"/>
              <a:cs typeface="Arial"/>
              <a:sym typeface="Arial"/>
            </a:endParaRPr>
          </a:p>
        </p:txBody>
      </p:sp>
      <p:sp>
        <p:nvSpPr>
          <p:cNvPr id="381" name="Google Shape;381;p20"/>
          <p:cNvSpPr txBox="1"/>
          <p:nvPr/>
        </p:nvSpPr>
        <p:spPr>
          <a:xfrm>
            <a:off x="685800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FEATURE ENGINEERING</a:t>
            </a:r>
            <a:endParaRPr b="0" i="0" sz="1800" u="none" cap="none" strike="noStrike">
              <a:solidFill>
                <a:srgbClr val="000000"/>
              </a:solidFill>
              <a:latin typeface="Arial"/>
              <a:ea typeface="Arial"/>
              <a:cs typeface="Arial"/>
              <a:sym typeface="Arial"/>
            </a:endParaRPr>
          </a:p>
        </p:txBody>
      </p:sp>
      <p:sp>
        <p:nvSpPr>
          <p:cNvPr id="382" name="Google Shape;382;p20"/>
          <p:cNvSpPr txBox="1"/>
          <p:nvPr/>
        </p:nvSpPr>
        <p:spPr>
          <a:xfrm>
            <a:off x="6858000" y="2011680"/>
            <a:ext cx="5852100" cy="17547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Lags : 30 min, 1 h, 24 h, 48 h, 7 j</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Moyennes et écarts-types glissants</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Différences de consommation</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Calendrier + 3 variables météo du jour cible</a:t>
            </a:r>
            <a:endParaRPr b="0" i="0" sz="1800" u="none" cap="none" strike="noStrike">
              <a:solidFill>
                <a:srgbClr val="12202F"/>
              </a:solidFill>
              <a:latin typeface="Calibri"/>
              <a:ea typeface="Calibri"/>
              <a:cs typeface="Calibri"/>
              <a:sym typeface="Calibri"/>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Températures réelle / ressentie et code WMO</a:t>
            </a:r>
            <a:endParaRPr b="0" i="0" sz="1800" u="none" cap="none" strike="noStrike">
              <a:solidFill>
                <a:srgbClr val="12202F"/>
              </a:solidFill>
              <a:latin typeface="Calibri"/>
              <a:ea typeface="Calibri"/>
              <a:cs typeface="Calibri"/>
              <a:sym typeface="Calibri"/>
            </a:endParaRPr>
          </a:p>
        </p:txBody>
      </p:sp>
      <p:sp>
        <p:nvSpPr>
          <p:cNvPr id="383" name="Google Shape;383;p20"/>
          <p:cNvSpPr txBox="1"/>
          <p:nvPr/>
        </p:nvSpPr>
        <p:spPr>
          <a:xfrm>
            <a:off x="822960" y="457200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CONTRÔLES QUALITÉ</a:t>
            </a:r>
            <a:endParaRPr b="0" i="0" sz="1800" u="none" cap="none" strike="noStrike">
              <a:solidFill>
                <a:srgbClr val="000000"/>
              </a:solidFill>
              <a:latin typeface="Arial"/>
              <a:ea typeface="Arial"/>
              <a:cs typeface="Arial"/>
              <a:sym typeface="Arial"/>
            </a:endParaRPr>
          </a:p>
        </p:txBody>
      </p:sp>
      <p:sp>
        <p:nvSpPr>
          <p:cNvPr id="384" name="Google Shape;384;p20"/>
          <p:cNvSpPr txBox="1"/>
          <p:nvPr/>
        </p:nvSpPr>
        <p:spPr>
          <a:xfrm>
            <a:off x="822955" y="4937750"/>
            <a:ext cx="6148800" cy="12006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Traitement des doublons de changement d’heure</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Suppression des colonnes vides</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Construction par timestamp pour éviter les décalages</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Oracle : météo future connue, hors production</a:t>
            </a:r>
            <a:endParaRPr b="0" i="0" sz="1400" u="none" cap="none" strike="noStrike">
              <a:solidFill>
                <a:srgbClr val="000000"/>
              </a:solidFill>
              <a:latin typeface="Arial"/>
              <a:ea typeface="Arial"/>
              <a:cs typeface="Arial"/>
              <a:sym typeface="Arial"/>
            </a:endParaRPr>
          </a:p>
        </p:txBody>
      </p:sp>
      <p:sp>
        <p:nvSpPr>
          <p:cNvPr id="385" name="Google Shape;385;p20"/>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6" name="Google Shape;386;p20"/>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pic>
        <p:nvPicPr>
          <p:cNvPr id="387" name="Google Shape;387;p20"/>
          <p:cNvPicPr preferRelativeResize="0"/>
          <p:nvPr/>
        </p:nvPicPr>
        <p:blipFill rotWithShape="1">
          <a:blip r:embed="rId3">
            <a:alphaModFix/>
          </a:blip>
          <a:srcRect b="0" l="0" r="0" t="0"/>
          <a:stretch/>
        </p:blipFill>
        <p:spPr>
          <a:xfrm>
            <a:off x="6858005" y="4024580"/>
            <a:ext cx="4438650" cy="3333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1" name="Shape 391"/>
        <p:cNvGrpSpPr/>
        <p:nvPr/>
      </p:nvGrpSpPr>
      <p:grpSpPr>
        <a:xfrm>
          <a:off x="0" y="0"/>
          <a:ext cx="0" cy="0"/>
          <a:chOff x="0" y="0"/>
          <a:chExt cx="0" cy="0"/>
        </a:xfrm>
      </p:grpSpPr>
      <p:sp>
        <p:nvSpPr>
          <p:cNvPr id="392" name="Google Shape;392;p21"/>
          <p:cNvSpPr txBox="1"/>
          <p:nvPr/>
        </p:nvSpPr>
        <p:spPr>
          <a:xfrm>
            <a:off x="731520" y="502920"/>
            <a:ext cx="98754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2202F"/>
                </a:solidFill>
                <a:latin typeface="Arial"/>
                <a:ea typeface="Arial"/>
                <a:cs typeface="Arial"/>
                <a:sym typeface="Arial"/>
              </a:rPr>
              <a:t>Exploration — identifier les effets temporels</a:t>
            </a:r>
            <a:endParaRPr b="0" i="0" sz="1400" u="none" cap="none" strike="noStrike">
              <a:solidFill>
                <a:srgbClr val="000000"/>
              </a:solidFill>
              <a:latin typeface="Arial"/>
              <a:ea typeface="Arial"/>
              <a:cs typeface="Arial"/>
              <a:sym typeface="Arial"/>
            </a:endParaRPr>
          </a:p>
        </p:txBody>
      </p:sp>
      <p:sp>
        <p:nvSpPr>
          <p:cNvPr id="393" name="Google Shape;393;p21"/>
          <p:cNvSpPr txBox="1"/>
          <p:nvPr/>
        </p:nvSpPr>
        <p:spPr>
          <a:xfrm>
            <a:off x="777240" y="1108332"/>
            <a:ext cx="10972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5A6673"/>
                </a:solidFill>
                <a:latin typeface="Arial"/>
                <a:ea typeface="Arial"/>
                <a:cs typeface="Arial"/>
                <a:sym typeface="Arial"/>
              </a:rPr>
              <a:t>Les graphiques motivent les variables calendaires et les lags</a:t>
            </a:r>
            <a:endParaRPr b="0" i="0" sz="1400" u="none" cap="none" strike="noStrike">
              <a:solidFill>
                <a:srgbClr val="000000"/>
              </a:solidFill>
              <a:latin typeface="Arial"/>
              <a:ea typeface="Arial"/>
              <a:cs typeface="Arial"/>
              <a:sym typeface="Arial"/>
            </a:endParaRPr>
          </a:p>
        </p:txBody>
      </p:sp>
      <p:pic>
        <p:nvPicPr>
          <p:cNvPr descr="exploration_cell37_out0.png" id="394" name="Google Shape;394;p21"/>
          <p:cNvPicPr preferRelativeResize="0"/>
          <p:nvPr/>
        </p:nvPicPr>
        <p:blipFill rotWithShape="1">
          <a:blip r:embed="rId3">
            <a:alphaModFix/>
          </a:blip>
          <a:srcRect b="0" l="0" r="0" t="0"/>
          <a:stretch/>
        </p:blipFill>
        <p:spPr>
          <a:xfrm>
            <a:off x="594360" y="1417320"/>
            <a:ext cx="6400799" cy="2635624"/>
          </a:xfrm>
          <a:prstGeom prst="rect">
            <a:avLst/>
          </a:prstGeom>
          <a:noFill/>
          <a:ln>
            <a:noFill/>
          </a:ln>
        </p:spPr>
      </p:pic>
      <p:pic>
        <p:nvPicPr>
          <p:cNvPr descr="exploration_cell39_out0.png" id="395" name="Google Shape;395;p21"/>
          <p:cNvPicPr preferRelativeResize="0"/>
          <p:nvPr/>
        </p:nvPicPr>
        <p:blipFill rotWithShape="1">
          <a:blip r:embed="rId4">
            <a:alphaModFix/>
          </a:blip>
          <a:srcRect b="0" l="0" r="0" t="0"/>
          <a:stretch/>
        </p:blipFill>
        <p:spPr>
          <a:xfrm>
            <a:off x="7406640" y="1417320"/>
            <a:ext cx="6126479" cy="3032298"/>
          </a:xfrm>
          <a:prstGeom prst="rect">
            <a:avLst/>
          </a:prstGeom>
          <a:noFill/>
          <a:ln>
            <a:noFill/>
          </a:ln>
        </p:spPr>
      </p:pic>
      <p:pic>
        <p:nvPicPr>
          <p:cNvPr descr="exploration_cell40_out0.png" id="396" name="Google Shape;396;p21"/>
          <p:cNvPicPr preferRelativeResize="0"/>
          <p:nvPr/>
        </p:nvPicPr>
        <p:blipFill rotWithShape="1">
          <a:blip r:embed="rId5">
            <a:alphaModFix/>
          </a:blip>
          <a:srcRect b="0" l="0" r="0" t="0"/>
          <a:stretch/>
        </p:blipFill>
        <p:spPr>
          <a:xfrm>
            <a:off x="594360" y="4663440"/>
            <a:ext cx="6126479" cy="3032298"/>
          </a:xfrm>
          <a:prstGeom prst="rect">
            <a:avLst/>
          </a:prstGeom>
          <a:noFill/>
          <a:ln>
            <a:noFill/>
          </a:ln>
        </p:spPr>
      </p:pic>
      <p:pic>
        <p:nvPicPr>
          <p:cNvPr descr="exploration_cell42_out0.png" id="397" name="Google Shape;397;p21"/>
          <p:cNvPicPr preferRelativeResize="0"/>
          <p:nvPr/>
        </p:nvPicPr>
        <p:blipFill rotWithShape="1">
          <a:blip r:embed="rId6">
            <a:alphaModFix/>
          </a:blip>
          <a:srcRect b="0" l="0" r="0" t="0"/>
          <a:stretch/>
        </p:blipFill>
        <p:spPr>
          <a:xfrm>
            <a:off x="7406640" y="4663440"/>
            <a:ext cx="6126481" cy="2802032"/>
          </a:xfrm>
          <a:prstGeom prst="rect">
            <a:avLst/>
          </a:prstGeom>
          <a:noFill/>
          <a:ln>
            <a:noFill/>
          </a:ln>
        </p:spPr>
      </p:pic>
      <p:sp>
        <p:nvSpPr>
          <p:cNvPr id="398" name="Google Shape;398;p21"/>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
        <p:nvSpPr>
          <p:cNvPr id="399" name="Google Shape;399;p21"/>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3" name="Shape 403"/>
        <p:cNvGrpSpPr/>
        <p:nvPr/>
      </p:nvGrpSpPr>
      <p:grpSpPr>
        <a:xfrm>
          <a:off x="0" y="0"/>
          <a:ext cx="0" cy="0"/>
          <a:chOff x="0" y="0"/>
          <a:chExt cx="0" cy="0"/>
        </a:xfrm>
      </p:grpSpPr>
      <p:sp>
        <p:nvSpPr>
          <p:cNvPr id="404" name="Google Shape;404;p22"/>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C5.2.2</a:t>
            </a:r>
            <a:endParaRPr b="0" i="0" sz="1400" u="none" cap="none" strike="noStrike">
              <a:solidFill>
                <a:srgbClr val="000000"/>
              </a:solidFill>
              <a:latin typeface="Arial"/>
              <a:ea typeface="Arial"/>
              <a:cs typeface="Arial"/>
              <a:sym typeface="Arial"/>
            </a:endParaRPr>
          </a:p>
        </p:txBody>
      </p:sp>
      <p:sp>
        <p:nvSpPr>
          <p:cNvPr id="405" name="Google Shape;405;p22"/>
          <p:cNvSpPr txBox="1"/>
          <p:nvPr/>
        </p:nvSpPr>
        <p:spPr>
          <a:xfrm>
            <a:off x="731520" y="502920"/>
            <a:ext cx="98754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Sélection initiale — avant météo</a:t>
            </a:r>
            <a:endParaRPr b="0" i="0" sz="1400" u="none" cap="none" strike="noStrike">
              <a:solidFill>
                <a:srgbClr val="000000"/>
              </a:solidFill>
              <a:latin typeface="Arial"/>
              <a:ea typeface="Arial"/>
              <a:cs typeface="Arial"/>
              <a:sym typeface="Arial"/>
            </a:endParaRPr>
          </a:p>
        </p:txBody>
      </p:sp>
      <p:sp>
        <p:nvSpPr>
          <p:cNvPr id="406" name="Google Shape;406;p22"/>
          <p:cNvSpPr txBox="1"/>
          <p:nvPr/>
        </p:nvSpPr>
        <p:spPr>
          <a:xfrm>
            <a:off x="82296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MÉTHODES UTILISÉES</a:t>
            </a:r>
            <a:endParaRPr b="0" i="0" sz="1800" u="none" cap="none" strike="noStrike">
              <a:solidFill>
                <a:srgbClr val="000000"/>
              </a:solidFill>
              <a:latin typeface="Arial"/>
              <a:ea typeface="Arial"/>
              <a:cs typeface="Arial"/>
              <a:sym typeface="Arial"/>
            </a:endParaRPr>
          </a:p>
        </p:txBody>
      </p:sp>
      <p:sp>
        <p:nvSpPr>
          <p:cNvPr id="407" name="Google Shape;407;p22"/>
          <p:cNvSpPr txBox="1"/>
          <p:nvPr/>
        </p:nvSpPr>
        <p:spPr>
          <a:xfrm>
            <a:off x="822960" y="2011680"/>
            <a:ext cx="6400800" cy="12006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Étude initiale sans météo : variables disponibles à t</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Corrélations avec la cible</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Permutation importance sur le modèle HGB</a:t>
            </a:r>
            <a:endParaRPr b="0" i="0" sz="1400" u="none" cap="none" strike="noStrike">
              <a:solidFill>
                <a:srgbClr val="000000"/>
              </a:solidFill>
              <a:latin typeface="Arial"/>
              <a:ea typeface="Arial"/>
              <a:cs typeface="Arial"/>
              <a:sym typeface="Arial"/>
            </a:endParaRPr>
          </a:p>
        </p:txBody>
      </p:sp>
      <p:sp>
        <p:nvSpPr>
          <p:cNvPr id="408" name="Google Shape;408;p22"/>
          <p:cNvSpPr txBox="1"/>
          <p:nvPr/>
        </p:nvSpPr>
        <p:spPr>
          <a:xfrm>
            <a:off x="786384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ÉTUDE INITIALE</a:t>
            </a:r>
            <a:endParaRPr b="0" i="0" sz="1800" u="none" cap="none" strike="noStrike">
              <a:solidFill>
                <a:srgbClr val="000000"/>
              </a:solidFill>
              <a:latin typeface="Arial"/>
              <a:ea typeface="Arial"/>
              <a:cs typeface="Arial"/>
              <a:sym typeface="Arial"/>
            </a:endParaRPr>
          </a:p>
        </p:txBody>
      </p:sp>
      <p:sp>
        <p:nvSpPr>
          <p:cNvPr id="409" name="Google Shape;409;p22"/>
          <p:cNvSpPr/>
          <p:nvPr/>
        </p:nvSpPr>
        <p:spPr>
          <a:xfrm>
            <a:off x="8046720" y="2103120"/>
            <a:ext cx="21030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27</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variables candidates</a:t>
            </a:r>
            <a:endParaRPr b="0" i="0" sz="1400" u="none" cap="none" strike="noStrike">
              <a:solidFill>
                <a:srgbClr val="000000"/>
              </a:solidFill>
              <a:latin typeface="Arial"/>
              <a:ea typeface="Arial"/>
              <a:cs typeface="Arial"/>
              <a:sym typeface="Arial"/>
            </a:endParaRPr>
          </a:p>
        </p:txBody>
      </p:sp>
      <p:sp>
        <p:nvSpPr>
          <p:cNvPr id="410" name="Google Shape;410;p22"/>
          <p:cNvSpPr/>
          <p:nvPr/>
        </p:nvSpPr>
        <p:spPr>
          <a:xfrm>
            <a:off x="10515600" y="2103120"/>
            <a:ext cx="21030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7</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variables étudiées (historique)</a:t>
            </a:r>
            <a:endParaRPr b="0" i="0" sz="1400" u="none" cap="none" strike="noStrike">
              <a:solidFill>
                <a:srgbClr val="000000"/>
              </a:solidFill>
              <a:latin typeface="Arial"/>
              <a:ea typeface="Arial"/>
              <a:cs typeface="Arial"/>
              <a:sym typeface="Arial"/>
            </a:endParaRPr>
          </a:p>
        </p:txBody>
      </p:sp>
      <p:sp>
        <p:nvSpPr>
          <p:cNvPr id="411" name="Google Shape;411;p22"/>
          <p:cNvSpPr txBox="1"/>
          <p:nvPr/>
        </p:nvSpPr>
        <p:spPr>
          <a:xfrm>
            <a:off x="822960" y="4332715"/>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REPÈRES HISTORIQUES — PÉRIODES DISTINCTES</a:t>
            </a:r>
            <a:endParaRPr b="0" i="0" sz="1800" u="none" cap="none" strike="noStrike">
              <a:solidFill>
                <a:srgbClr val="000000"/>
              </a:solidFill>
              <a:latin typeface="Arial"/>
              <a:ea typeface="Arial"/>
              <a:cs typeface="Arial"/>
              <a:sym typeface="Arial"/>
            </a:endParaRPr>
          </a:p>
        </p:txBody>
      </p:sp>
      <p:sp>
        <p:nvSpPr>
          <p:cNvPr id="412" name="Google Shape;412;p22"/>
          <p:cNvSpPr/>
          <p:nvPr/>
        </p:nvSpPr>
        <p:spPr>
          <a:xfrm>
            <a:off x="548688" y="5296548"/>
            <a:ext cx="23775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206,3 MW</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HGB initial (validation 2024)</a:t>
            </a:r>
            <a:br>
              <a:rPr b="0" i="0" lang="en-US" sz="1100" u="none" cap="none" strike="noStrike">
                <a:solidFill>
                  <a:srgbClr val="5A6673"/>
                </a:solidFill>
                <a:latin typeface="Calibri"/>
                <a:ea typeface="Calibri"/>
                <a:cs typeface="Calibri"/>
                <a:sym typeface="Calibri"/>
              </a:rPr>
            </a:br>
            <a:r>
              <a:rPr b="0" i="0" lang="en-US" sz="1100" u="none" cap="none" strike="noStrike">
                <a:solidFill>
                  <a:srgbClr val="5A6673"/>
                </a:solidFill>
                <a:latin typeface="Calibri"/>
                <a:ea typeface="Calibri"/>
                <a:cs typeface="Calibri"/>
                <a:sym typeface="Calibri"/>
              </a:rPr>
              <a:t>MAE</a:t>
            </a:r>
            <a:endParaRPr b="0" i="0" sz="1400" u="none" cap="none" strike="noStrike">
              <a:solidFill>
                <a:srgbClr val="000000"/>
              </a:solidFill>
              <a:latin typeface="Arial"/>
              <a:ea typeface="Arial"/>
              <a:cs typeface="Arial"/>
              <a:sym typeface="Arial"/>
            </a:endParaRPr>
          </a:p>
        </p:txBody>
      </p:sp>
      <p:sp>
        <p:nvSpPr>
          <p:cNvPr id="413" name="Google Shape;413;p22"/>
          <p:cNvSpPr/>
          <p:nvPr/>
        </p:nvSpPr>
        <p:spPr>
          <a:xfrm>
            <a:off x="3291888" y="5296548"/>
            <a:ext cx="23775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20</a:t>
            </a:r>
            <a:r>
              <a:rPr b="1" lang="en-US" sz="2600">
                <a:solidFill>
                  <a:srgbClr val="2F61B8"/>
                </a:solidFill>
                <a:latin typeface="Calibri"/>
                <a:ea typeface="Calibri"/>
                <a:cs typeface="Calibri"/>
                <a:sym typeface="Calibri"/>
              </a:rPr>
              <a:t>7,5 </a:t>
            </a:r>
            <a:r>
              <a:rPr b="1" i="0" lang="en-US" sz="2600" u="none" cap="none" strike="noStrike">
                <a:solidFill>
                  <a:srgbClr val="2F61B8"/>
                </a:solidFill>
                <a:latin typeface="Calibri"/>
                <a:ea typeface="Calibri"/>
                <a:cs typeface="Calibri"/>
                <a:sym typeface="Calibri"/>
              </a:rPr>
              <a:t>MW</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HGB sans météo (test 2025)</a:t>
            </a:r>
            <a:br>
              <a:rPr b="0" i="0" lang="en-US" sz="1100" u="none" cap="none" strike="noStrike">
                <a:solidFill>
                  <a:srgbClr val="5A6673"/>
                </a:solidFill>
                <a:latin typeface="Calibri"/>
                <a:ea typeface="Calibri"/>
                <a:cs typeface="Calibri"/>
                <a:sym typeface="Calibri"/>
              </a:rPr>
            </a:br>
            <a:r>
              <a:rPr b="0" i="0" lang="en-US" sz="1100" u="none" cap="none" strike="noStrike">
                <a:solidFill>
                  <a:srgbClr val="5A6673"/>
                </a:solidFill>
                <a:latin typeface="Calibri"/>
                <a:ea typeface="Calibri"/>
                <a:cs typeface="Calibri"/>
                <a:sym typeface="Calibri"/>
              </a:rPr>
              <a:t>MAE</a:t>
            </a:r>
            <a:endParaRPr b="0" i="0" sz="1400" u="none" cap="none" strike="noStrike">
              <a:solidFill>
                <a:srgbClr val="000000"/>
              </a:solidFill>
              <a:latin typeface="Arial"/>
              <a:ea typeface="Arial"/>
              <a:cs typeface="Arial"/>
              <a:sym typeface="Arial"/>
            </a:endParaRPr>
          </a:p>
        </p:txBody>
      </p:sp>
      <p:sp>
        <p:nvSpPr>
          <p:cNvPr id="414" name="Google Shape;414;p22"/>
          <p:cNvSpPr/>
          <p:nvPr/>
        </p:nvSpPr>
        <p:spPr>
          <a:xfrm>
            <a:off x="6035088" y="5296548"/>
            <a:ext cx="23775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≈0,9</a:t>
            </a:r>
            <a:r>
              <a:rPr b="1" lang="en-US" sz="2600">
                <a:solidFill>
                  <a:srgbClr val="2F61B8"/>
                </a:solidFill>
                <a:latin typeface="Calibri"/>
                <a:ea typeface="Calibri"/>
                <a:cs typeface="Calibri"/>
                <a:sym typeface="Calibri"/>
              </a:rPr>
              <a:t>25</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R² conservé</a:t>
            </a:r>
            <a:endParaRPr b="0" i="0" sz="1400" u="none" cap="none" strike="noStrike">
              <a:solidFill>
                <a:srgbClr val="000000"/>
              </a:solidFill>
              <a:latin typeface="Arial"/>
              <a:ea typeface="Arial"/>
              <a:cs typeface="Arial"/>
              <a:sym typeface="Arial"/>
            </a:endParaRPr>
          </a:p>
        </p:txBody>
      </p:sp>
      <p:sp>
        <p:nvSpPr>
          <p:cNvPr id="415" name="Google Shape;415;p22"/>
          <p:cNvSpPr/>
          <p:nvPr/>
        </p:nvSpPr>
        <p:spPr>
          <a:xfrm>
            <a:off x="8778288" y="5296548"/>
            <a:ext cx="2560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&gt;70%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variables supprimées</a:t>
            </a:r>
            <a:endParaRPr b="0" i="0" sz="1400" u="none" cap="none" strike="noStrike">
              <a:solidFill>
                <a:srgbClr val="000000"/>
              </a:solidFill>
              <a:latin typeface="Arial"/>
              <a:ea typeface="Arial"/>
              <a:cs typeface="Arial"/>
              <a:sym typeface="Arial"/>
            </a:endParaRPr>
          </a:p>
        </p:txBody>
      </p:sp>
      <p:sp>
        <p:nvSpPr>
          <p:cNvPr id="416" name="Google Shape;416;p22"/>
          <p:cNvSpPr/>
          <p:nvPr/>
        </p:nvSpPr>
        <p:spPr>
          <a:xfrm>
            <a:off x="0" y="8001000"/>
            <a:ext cx="14630400" cy="4560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7" name="Google Shape;417;p22"/>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sp>
        <p:nvSpPr>
          <p:cNvPr id="418" name="Google Shape;418;p22"/>
          <p:cNvSpPr/>
          <p:nvPr/>
        </p:nvSpPr>
        <p:spPr>
          <a:xfrm>
            <a:off x="11704188" y="5296548"/>
            <a:ext cx="23775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lang="en-US" sz="2600">
                <a:solidFill>
                  <a:srgbClr val="2F61B8"/>
                </a:solidFill>
                <a:latin typeface="Calibri"/>
                <a:ea typeface="Calibri"/>
                <a:cs typeface="Calibri"/>
                <a:sym typeface="Calibri"/>
              </a:rPr>
              <a:t>4,4 %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lang="en-US" sz="1100">
                <a:solidFill>
                  <a:srgbClr val="5A6673"/>
                </a:solidFill>
                <a:latin typeface="Calibri"/>
                <a:ea typeface="Calibri"/>
                <a:cs typeface="Calibri"/>
                <a:sym typeface="Calibri"/>
              </a:rPr>
              <a:t>MAE vs conso moyenne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2" name="Shape 422"/>
        <p:cNvGrpSpPr/>
        <p:nvPr/>
      </p:nvGrpSpPr>
      <p:grpSpPr>
        <a:xfrm>
          <a:off x="0" y="0"/>
          <a:ext cx="0" cy="0"/>
          <a:chOff x="0" y="0"/>
          <a:chExt cx="0" cy="0"/>
        </a:xfrm>
      </p:grpSpPr>
      <p:sp>
        <p:nvSpPr>
          <p:cNvPr id="423" name="Google Shape;423;p23"/>
          <p:cNvSpPr txBox="1"/>
          <p:nvPr/>
        </p:nvSpPr>
        <p:spPr>
          <a:xfrm>
            <a:off x="731520" y="502920"/>
            <a:ext cx="98754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Importance des variables — étude initiale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rgbClr val="12202F"/>
              </a:solidFill>
              <a:latin typeface="Arial"/>
              <a:ea typeface="Arial"/>
              <a:cs typeface="Arial"/>
              <a:sym typeface="Arial"/>
            </a:endParaRPr>
          </a:p>
        </p:txBody>
      </p:sp>
      <p:sp>
        <p:nvSpPr>
          <p:cNvPr id="424" name="Google Shape;424;p23"/>
          <p:cNvSpPr txBox="1"/>
          <p:nvPr/>
        </p:nvSpPr>
        <p:spPr>
          <a:xfrm>
            <a:off x="777240" y="1170432"/>
            <a:ext cx="10972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5A6673"/>
                </a:solidFill>
                <a:latin typeface="Arial"/>
                <a:ea typeface="Arial"/>
                <a:cs typeface="Arial"/>
                <a:sym typeface="Arial"/>
              </a:rPr>
              <a:t>Corrélation puis permutation importance pour réduire le nombre de variables</a:t>
            </a:r>
            <a:endParaRPr b="0" i="0" sz="1400" u="none" cap="none" strike="noStrike">
              <a:solidFill>
                <a:srgbClr val="000000"/>
              </a:solidFill>
              <a:latin typeface="Arial"/>
              <a:ea typeface="Arial"/>
              <a:cs typeface="Arial"/>
              <a:sym typeface="Arial"/>
            </a:endParaRPr>
          </a:p>
        </p:txBody>
      </p:sp>
      <p:pic>
        <p:nvPicPr>
          <p:cNvPr descr="modeling_evaluation_cell13_out0.png" id="425" name="Google Shape;425;p23"/>
          <p:cNvPicPr preferRelativeResize="0"/>
          <p:nvPr/>
        </p:nvPicPr>
        <p:blipFill rotWithShape="1">
          <a:blip r:embed="rId3">
            <a:alphaModFix/>
          </a:blip>
          <a:srcRect b="0" l="0" r="0" t="0"/>
          <a:stretch/>
        </p:blipFill>
        <p:spPr>
          <a:xfrm>
            <a:off x="640080" y="1508760"/>
            <a:ext cx="6035040" cy="4206240"/>
          </a:xfrm>
          <a:prstGeom prst="rect">
            <a:avLst/>
          </a:prstGeom>
          <a:noFill/>
          <a:ln>
            <a:noFill/>
          </a:ln>
        </p:spPr>
      </p:pic>
      <p:pic>
        <p:nvPicPr>
          <p:cNvPr descr="modeling_evaluation_cell23_out0.png" id="426" name="Google Shape;426;p23"/>
          <p:cNvPicPr preferRelativeResize="0"/>
          <p:nvPr/>
        </p:nvPicPr>
        <p:blipFill rotWithShape="1">
          <a:blip r:embed="rId4">
            <a:alphaModFix/>
          </a:blip>
          <a:srcRect b="0" l="0" r="0" t="0"/>
          <a:stretch/>
        </p:blipFill>
        <p:spPr>
          <a:xfrm>
            <a:off x="7498079" y="1508760"/>
            <a:ext cx="6035040" cy="4206240"/>
          </a:xfrm>
          <a:prstGeom prst="rect">
            <a:avLst/>
          </a:prstGeom>
          <a:noFill/>
          <a:ln>
            <a:noFill/>
          </a:ln>
        </p:spPr>
      </p:pic>
      <p:sp>
        <p:nvSpPr>
          <p:cNvPr id="427" name="Google Shape;427;p23"/>
          <p:cNvSpPr txBox="1"/>
          <p:nvPr/>
        </p:nvSpPr>
        <p:spPr>
          <a:xfrm>
            <a:off x="822950" y="6446525"/>
            <a:ext cx="6273300" cy="554100"/>
          </a:xfrm>
          <a:prstGeom prst="rect">
            <a:avLst/>
          </a:prstGeom>
          <a:noFill/>
          <a:ln>
            <a:noFill/>
          </a:ln>
        </p:spPr>
        <p:txBody>
          <a:bodyPr anchorCtr="0" anchor="t" bIns="45700" lIns="91425" spcFirstLastPara="1" rIns="91425" wrap="square" tIns="45700">
            <a:spAutoFit/>
          </a:bodyPr>
          <a:lstStyle/>
          <a:p>
            <a:pPr indent="-323850" lvl="0" marL="457200" marR="0" rtl="0" algn="l">
              <a:lnSpc>
                <a:spcPct val="100000"/>
              </a:lnSpc>
              <a:spcBef>
                <a:spcPts val="700"/>
              </a:spcBef>
              <a:spcAft>
                <a:spcPts val="0"/>
              </a:spcAft>
              <a:buClr>
                <a:srgbClr val="12202F"/>
              </a:buClr>
              <a:buSzPts val="1500"/>
              <a:buFont typeface="Arial"/>
              <a:buChar char="●"/>
            </a:pPr>
            <a:r>
              <a:rPr b="0" i="0" lang="en-US" sz="1500" u="none" cap="none" strike="noStrike">
                <a:solidFill>
                  <a:srgbClr val="12202F"/>
                </a:solidFill>
                <a:latin typeface="Arial"/>
                <a:ea typeface="Arial"/>
                <a:cs typeface="Arial"/>
                <a:sym typeface="Arial"/>
              </a:rPr>
              <a:t>10 variables historiques conservées dans la chaîne météo</a:t>
            </a:r>
            <a:endParaRPr b="0" i="0" sz="1500" u="none" cap="none" strike="noStrike">
              <a:solidFill>
                <a:srgbClr val="12202F"/>
              </a:solidFill>
              <a:latin typeface="Arial"/>
              <a:ea typeface="Arial"/>
              <a:cs typeface="Arial"/>
              <a:sym typeface="Arial"/>
            </a:endParaRPr>
          </a:p>
          <a:p>
            <a:pPr indent="-323850" lvl="0" marL="457200" marR="0" rtl="0" algn="l">
              <a:lnSpc>
                <a:spcPct val="100000"/>
              </a:lnSpc>
              <a:spcBef>
                <a:spcPts val="0"/>
              </a:spcBef>
              <a:spcAft>
                <a:spcPts val="0"/>
              </a:spcAft>
              <a:buClr>
                <a:srgbClr val="12202F"/>
              </a:buClr>
              <a:buSzPts val="1500"/>
              <a:buFont typeface="Arial"/>
              <a:buChar char="●"/>
            </a:pPr>
            <a:r>
              <a:rPr b="0" i="0" lang="en-US" sz="1500" u="none" cap="none" strike="noStrike">
                <a:solidFill>
                  <a:srgbClr val="12202F"/>
                </a:solidFill>
                <a:latin typeface="Arial"/>
                <a:ea typeface="Arial"/>
                <a:cs typeface="Arial"/>
                <a:sym typeface="Arial"/>
              </a:rPr>
              <a:t>Validation initiale sans météo (avant enrichissement) :</a:t>
            </a:r>
            <a:endParaRPr b="0" i="0" sz="1500" u="none" cap="none" strike="noStrike">
              <a:solidFill>
                <a:srgbClr val="12202F"/>
              </a:solidFill>
              <a:latin typeface="Arial"/>
              <a:ea typeface="Arial"/>
              <a:cs typeface="Arial"/>
              <a:sym typeface="Arial"/>
            </a:endParaRPr>
          </a:p>
        </p:txBody>
      </p:sp>
      <p:sp>
        <p:nvSpPr>
          <p:cNvPr id="428" name="Google Shape;428;p23"/>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
        <p:nvSpPr>
          <p:cNvPr id="429" name="Google Shape;429;p23"/>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C5.2.2</a:t>
            </a:r>
            <a:endParaRPr b="0" i="0" sz="1400" u="none" cap="none" strike="noStrike">
              <a:solidFill>
                <a:srgbClr val="000000"/>
              </a:solidFill>
              <a:latin typeface="Arial"/>
              <a:ea typeface="Arial"/>
              <a:cs typeface="Arial"/>
              <a:sym typeface="Arial"/>
            </a:endParaRPr>
          </a:p>
        </p:txBody>
      </p:sp>
      <p:pic>
        <p:nvPicPr>
          <p:cNvPr id="430" name="Google Shape;430;p23"/>
          <p:cNvPicPr preferRelativeResize="0"/>
          <p:nvPr/>
        </p:nvPicPr>
        <p:blipFill rotWithShape="1">
          <a:blip r:embed="rId5">
            <a:alphaModFix/>
          </a:blip>
          <a:srcRect b="0" l="0" r="0" t="0"/>
          <a:stretch/>
        </p:blipFill>
        <p:spPr>
          <a:xfrm>
            <a:off x="4930595" y="6724400"/>
            <a:ext cx="6124575" cy="276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4" name="Shape 434"/>
        <p:cNvGrpSpPr/>
        <p:nvPr/>
      </p:nvGrpSpPr>
      <p:grpSpPr>
        <a:xfrm>
          <a:off x="0" y="0"/>
          <a:ext cx="0" cy="0"/>
          <a:chOff x="0" y="0"/>
          <a:chExt cx="0" cy="0"/>
        </a:xfrm>
      </p:grpSpPr>
      <p:sp>
        <p:nvSpPr>
          <p:cNvPr id="435" name="Google Shape;435;p24"/>
          <p:cNvSpPr txBox="1"/>
          <p:nvPr/>
        </p:nvSpPr>
        <p:spPr>
          <a:xfrm>
            <a:off x="731520" y="502920"/>
            <a:ext cx="98754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Redondance — étude initiale et choix final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rgbClr val="12202F"/>
              </a:solidFill>
              <a:latin typeface="Arial"/>
              <a:ea typeface="Arial"/>
              <a:cs typeface="Arial"/>
              <a:sym typeface="Arial"/>
            </a:endParaRPr>
          </a:p>
        </p:txBody>
      </p:sp>
      <p:sp>
        <p:nvSpPr>
          <p:cNvPr id="436" name="Google Shape;436;p24"/>
          <p:cNvSpPr txBox="1"/>
          <p:nvPr/>
        </p:nvSpPr>
        <p:spPr>
          <a:xfrm>
            <a:off x="777240" y="1170432"/>
            <a:ext cx="10972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5A6673"/>
                </a:solidFill>
                <a:latin typeface="Arial"/>
                <a:ea typeface="Arial"/>
                <a:cs typeface="Arial"/>
                <a:sym typeface="Arial"/>
              </a:rPr>
              <a:t>Vérifier les variables trop redondantes et ne garder que les plus pertinentes</a:t>
            </a:r>
            <a:endParaRPr b="0" i="0" sz="1400" u="none" cap="none" strike="noStrike">
              <a:solidFill>
                <a:srgbClr val="000000"/>
              </a:solidFill>
              <a:latin typeface="Arial"/>
              <a:ea typeface="Arial"/>
              <a:cs typeface="Arial"/>
              <a:sym typeface="Arial"/>
            </a:endParaRPr>
          </a:p>
        </p:txBody>
      </p:sp>
      <p:sp>
        <p:nvSpPr>
          <p:cNvPr id="437" name="Google Shape;437;p24"/>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
        <p:nvSpPr>
          <p:cNvPr id="438" name="Google Shape;438;p24"/>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C5.2.2</a:t>
            </a:r>
            <a:endParaRPr b="0" i="0" sz="1400" u="none" cap="none" strike="noStrike">
              <a:solidFill>
                <a:srgbClr val="000000"/>
              </a:solidFill>
              <a:latin typeface="Arial"/>
              <a:ea typeface="Arial"/>
              <a:cs typeface="Arial"/>
              <a:sym typeface="Arial"/>
            </a:endParaRPr>
          </a:p>
        </p:txBody>
      </p:sp>
      <p:pic>
        <p:nvPicPr>
          <p:cNvPr id="439" name="Google Shape;439;p24"/>
          <p:cNvPicPr preferRelativeResize="0"/>
          <p:nvPr/>
        </p:nvPicPr>
        <p:blipFill rotWithShape="1">
          <a:blip r:embed="rId3">
            <a:alphaModFix/>
          </a:blip>
          <a:srcRect b="0" l="0" r="0" t="0"/>
          <a:stretch/>
        </p:blipFill>
        <p:spPr>
          <a:xfrm>
            <a:off x="1068700" y="1757911"/>
            <a:ext cx="3694751" cy="3888501"/>
          </a:xfrm>
          <a:prstGeom prst="rect">
            <a:avLst/>
          </a:prstGeom>
          <a:noFill/>
          <a:ln>
            <a:noFill/>
          </a:ln>
        </p:spPr>
      </p:pic>
      <p:pic>
        <p:nvPicPr>
          <p:cNvPr id="440" name="Google Shape;440;p24"/>
          <p:cNvPicPr preferRelativeResize="0"/>
          <p:nvPr/>
        </p:nvPicPr>
        <p:blipFill rotWithShape="1">
          <a:blip r:embed="rId4">
            <a:alphaModFix/>
          </a:blip>
          <a:srcRect b="0" l="0" r="0" t="0"/>
          <a:stretch/>
        </p:blipFill>
        <p:spPr>
          <a:xfrm>
            <a:off x="5967625" y="1746249"/>
            <a:ext cx="5110819" cy="3911800"/>
          </a:xfrm>
          <a:prstGeom prst="rect">
            <a:avLst/>
          </a:prstGeom>
          <a:noFill/>
          <a:ln>
            <a:noFill/>
          </a:ln>
        </p:spPr>
      </p:pic>
      <p:sp>
        <p:nvSpPr>
          <p:cNvPr id="441" name="Google Shape;441;p24"/>
          <p:cNvSpPr txBox="1"/>
          <p:nvPr/>
        </p:nvSpPr>
        <p:spPr>
          <a:xfrm>
            <a:off x="11402275" y="2378325"/>
            <a:ext cx="2770800" cy="1939500"/>
          </a:xfrm>
          <a:prstGeom prst="rect">
            <a:avLst/>
          </a:prstGeom>
          <a:noFill/>
          <a:ln>
            <a:noFill/>
          </a:ln>
        </p:spPr>
        <p:txBody>
          <a:bodyPr anchorCtr="0" anchor="t" bIns="45700" lIns="91425" spcFirstLastPara="1" rIns="91425" wrap="square" tIns="45700">
            <a:spAutoFit/>
          </a:bodyPr>
          <a:lstStyle/>
          <a:p>
            <a:pPr indent="-323850" lvl="0" marL="457200" marR="0" rtl="0" algn="l">
              <a:lnSpc>
                <a:spcPct val="100000"/>
              </a:lnSpc>
              <a:spcBef>
                <a:spcPts val="700"/>
              </a:spcBef>
              <a:spcAft>
                <a:spcPts val="0"/>
              </a:spcAft>
              <a:buClr>
                <a:srgbClr val="12202F"/>
              </a:buClr>
              <a:buSzPts val="1500"/>
              <a:buFont typeface="Arial"/>
              <a:buChar char="●"/>
            </a:pPr>
            <a:r>
              <a:rPr b="0" i="0" lang="en-US" sz="1500" u="none" cap="none" strike="noStrike">
                <a:solidFill>
                  <a:srgbClr val="12202F"/>
                </a:solidFill>
                <a:latin typeface="Arial"/>
                <a:ea typeface="Arial"/>
                <a:cs typeface="Arial"/>
                <a:sym typeface="Arial"/>
              </a:rPr>
              <a:t>Modèle météo final : 10 + 3 = 13 variables</a:t>
            </a:r>
            <a:endParaRPr b="0" i="0" sz="1500" u="none" cap="none" strike="noStrike">
              <a:solidFill>
                <a:srgbClr val="12202F"/>
              </a:solidFill>
              <a:latin typeface="Arial"/>
              <a:ea typeface="Arial"/>
              <a:cs typeface="Arial"/>
              <a:sym typeface="Arial"/>
            </a:endParaRPr>
          </a:p>
          <a:p>
            <a:pPr indent="-323850" lvl="0" marL="457200" marR="0" rtl="0" algn="l">
              <a:lnSpc>
                <a:spcPct val="100000"/>
              </a:lnSpc>
              <a:spcBef>
                <a:spcPts val="0"/>
              </a:spcBef>
              <a:spcAft>
                <a:spcPts val="0"/>
              </a:spcAft>
              <a:buClr>
                <a:srgbClr val="12202F"/>
              </a:buClr>
              <a:buSzPts val="1500"/>
              <a:buFont typeface="Arial"/>
              <a:buChar char="●"/>
            </a:pPr>
            <a:r>
              <a:rPr b="0" i="0" lang="en-US" sz="1500" u="none" cap="none" strike="noStrike">
                <a:solidFill>
                  <a:srgbClr val="12202F"/>
                </a:solidFill>
                <a:latin typeface="Arial"/>
                <a:ea typeface="Arial"/>
                <a:cs typeface="Arial"/>
                <a:sym typeface="Arial"/>
              </a:rPr>
              <a:t>La réduction à 7 variables appartient à l’étude initiale. La chaîne météo conserve les 10 variables historiques et ajoute 3 variables du jour cible.</a:t>
            </a:r>
            <a:endParaRPr b="0" i="0" sz="1500" u="none" cap="none" strike="noStrike">
              <a:solidFill>
                <a:srgbClr val="12202F"/>
              </a:solidFill>
              <a:latin typeface="Arial"/>
              <a:ea typeface="Arial"/>
              <a:cs typeface="Arial"/>
              <a:sym typeface="Arial"/>
            </a:endParaRPr>
          </a:p>
        </p:txBody>
      </p:sp>
      <p:pic>
        <p:nvPicPr>
          <p:cNvPr id="442" name="Google Shape;442;p24"/>
          <p:cNvPicPr preferRelativeResize="0"/>
          <p:nvPr/>
        </p:nvPicPr>
        <p:blipFill rotWithShape="1">
          <a:blip r:embed="rId5">
            <a:alphaModFix/>
          </a:blip>
          <a:srcRect b="0" l="0" r="0" t="0"/>
          <a:stretch/>
        </p:blipFill>
        <p:spPr>
          <a:xfrm>
            <a:off x="5967613" y="6246874"/>
            <a:ext cx="5476875" cy="1143000"/>
          </a:xfrm>
          <a:prstGeom prst="rect">
            <a:avLst/>
          </a:prstGeom>
          <a:noFill/>
          <a:ln>
            <a:noFill/>
          </a:ln>
        </p:spPr>
      </p:pic>
      <p:sp>
        <p:nvSpPr>
          <p:cNvPr id="443" name="Google Shape;443;p24"/>
          <p:cNvSpPr txBox="1"/>
          <p:nvPr/>
        </p:nvSpPr>
        <p:spPr>
          <a:xfrm>
            <a:off x="957550" y="5793208"/>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COMPARAISONS INITIALES SANS MÉTÉO</a:t>
            </a:r>
            <a:endParaRPr b="0" i="0" sz="1800" u="none" cap="none" strike="noStrike">
              <a:solidFill>
                <a:srgbClr val="000000"/>
              </a:solidFill>
              <a:latin typeface="Arial"/>
              <a:ea typeface="Arial"/>
              <a:cs typeface="Arial"/>
              <a:sym typeface="Arial"/>
            </a:endParaRPr>
          </a:p>
        </p:txBody>
      </p:sp>
      <p:sp>
        <p:nvSpPr>
          <p:cNvPr id="444" name="Google Shape;444;p24"/>
          <p:cNvSpPr txBox="1"/>
          <p:nvPr/>
        </p:nvSpPr>
        <p:spPr>
          <a:xfrm>
            <a:off x="957550" y="1423158"/>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ANALYSE INITIALE DE CORRÉLATION</a:t>
            </a:r>
            <a:endParaRPr b="0" i="0" sz="1800" u="none" cap="none" strike="noStrike">
              <a:solidFill>
                <a:srgbClr val="000000"/>
              </a:solidFill>
              <a:latin typeface="Arial"/>
              <a:ea typeface="Arial"/>
              <a:cs typeface="Arial"/>
              <a:sym typeface="Arial"/>
            </a:endParaRPr>
          </a:p>
        </p:txBody>
      </p:sp>
      <p:pic>
        <p:nvPicPr>
          <p:cNvPr id="445" name="Google Shape;445;p24"/>
          <p:cNvPicPr preferRelativeResize="0"/>
          <p:nvPr/>
        </p:nvPicPr>
        <p:blipFill rotWithShape="1">
          <a:blip r:embed="rId6">
            <a:alphaModFix/>
          </a:blip>
          <a:srcRect b="0" l="0" r="0" t="0"/>
          <a:stretch/>
        </p:blipFill>
        <p:spPr>
          <a:xfrm>
            <a:off x="2319188" y="6108763"/>
            <a:ext cx="2038350" cy="1419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9" name="Shape 449"/>
        <p:cNvGrpSpPr/>
        <p:nvPr/>
      </p:nvGrpSpPr>
      <p:grpSpPr>
        <a:xfrm>
          <a:off x="0" y="0"/>
          <a:ext cx="0" cy="0"/>
          <a:chOff x="0" y="0"/>
          <a:chExt cx="0" cy="0"/>
        </a:xfrm>
      </p:grpSpPr>
      <p:sp>
        <p:nvSpPr>
          <p:cNvPr id="450" name="Google Shape;450;p25"/>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C5.2.3 </a:t>
            </a:r>
            <a:endParaRPr b="0" i="0" sz="1400" u="none" cap="none" strike="noStrike">
              <a:solidFill>
                <a:srgbClr val="000000"/>
              </a:solidFill>
              <a:latin typeface="Arial"/>
              <a:ea typeface="Arial"/>
              <a:cs typeface="Arial"/>
              <a:sym typeface="Arial"/>
            </a:endParaRPr>
          </a:p>
        </p:txBody>
      </p:sp>
      <p:sp>
        <p:nvSpPr>
          <p:cNvPr id="451" name="Google Shape;451;p25"/>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Comparaison initiale des modèles</a:t>
            </a:r>
            <a:endParaRPr b="0" i="0" sz="1400" u="none" cap="none" strike="noStrike">
              <a:solidFill>
                <a:srgbClr val="000000"/>
              </a:solidFill>
              <a:latin typeface="Arial"/>
              <a:ea typeface="Arial"/>
              <a:cs typeface="Arial"/>
              <a:sym typeface="Arial"/>
            </a:endParaRPr>
          </a:p>
        </p:txBody>
      </p:sp>
      <p:sp>
        <p:nvSpPr>
          <p:cNvPr id="452" name="Google Shape;452;p25"/>
          <p:cNvSpPr txBox="1"/>
          <p:nvPr/>
        </p:nvSpPr>
        <p:spPr>
          <a:xfrm>
            <a:off x="82296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ÉTUDE INITIALE SANS MÉTÉO</a:t>
            </a:r>
            <a:endParaRPr b="0" i="0" sz="1800" u="none" cap="none" strike="noStrike">
              <a:solidFill>
                <a:srgbClr val="000000"/>
              </a:solidFill>
              <a:latin typeface="Arial"/>
              <a:ea typeface="Arial"/>
              <a:cs typeface="Arial"/>
              <a:sym typeface="Arial"/>
            </a:endParaRPr>
          </a:p>
        </p:txBody>
      </p:sp>
      <p:sp>
        <p:nvSpPr>
          <p:cNvPr id="453" name="Google Shape;453;p25"/>
          <p:cNvSpPr txBox="1"/>
          <p:nvPr/>
        </p:nvSpPr>
        <p:spPr>
          <a:xfrm>
            <a:off x="822960" y="2011680"/>
            <a:ext cx="5029200" cy="13236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Baseline temporelle</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Ridge Regression</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HistGradientBoostingRegressor</a:t>
            </a:r>
            <a:endParaRPr b="0" i="0" sz="2000" u="none" cap="none" strike="noStrike">
              <a:solidFill>
                <a:srgbClr val="12202F"/>
              </a:solidFill>
              <a:latin typeface="Calibri"/>
              <a:ea typeface="Calibri"/>
              <a:cs typeface="Calibri"/>
              <a:sym typeface="Calibri"/>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Random Forest</a:t>
            </a:r>
            <a:endParaRPr b="0" i="0" sz="2000" u="none" cap="none" strike="noStrike">
              <a:solidFill>
                <a:srgbClr val="12202F"/>
              </a:solidFill>
              <a:latin typeface="Calibri"/>
              <a:ea typeface="Calibri"/>
              <a:cs typeface="Calibri"/>
              <a:sym typeface="Calibri"/>
            </a:endParaRPr>
          </a:p>
        </p:txBody>
      </p:sp>
      <p:sp>
        <p:nvSpPr>
          <p:cNvPr id="454" name="Google Shape;454;p25"/>
          <p:cNvSpPr txBox="1"/>
          <p:nvPr/>
        </p:nvSpPr>
        <p:spPr>
          <a:xfrm>
            <a:off x="822950" y="4294233"/>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POURQUOI HGB ?</a:t>
            </a:r>
            <a:endParaRPr b="0" i="0" sz="1800" u="none" cap="none" strike="noStrike">
              <a:solidFill>
                <a:srgbClr val="000000"/>
              </a:solidFill>
              <a:latin typeface="Arial"/>
              <a:ea typeface="Arial"/>
              <a:cs typeface="Arial"/>
              <a:sym typeface="Arial"/>
            </a:endParaRPr>
          </a:p>
        </p:txBody>
      </p:sp>
      <p:sp>
        <p:nvSpPr>
          <p:cNvPr id="455" name="Google Shape;455;p25"/>
          <p:cNvSpPr txBox="1"/>
          <p:nvPr/>
        </p:nvSpPr>
        <p:spPr>
          <a:xfrm>
            <a:off x="822950" y="4659993"/>
            <a:ext cx="5852100" cy="10158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Capte des relations non linéaires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Adapté aux données tabulaires volumineuses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Bon compromis performance / simplicité</a:t>
            </a:r>
            <a:endParaRPr b="0" i="0" sz="1400" u="none" cap="none" strike="noStrike">
              <a:solidFill>
                <a:srgbClr val="000000"/>
              </a:solidFill>
              <a:latin typeface="Arial"/>
              <a:ea typeface="Arial"/>
              <a:cs typeface="Arial"/>
              <a:sym typeface="Arial"/>
            </a:endParaRPr>
          </a:p>
        </p:txBody>
      </p:sp>
      <p:sp>
        <p:nvSpPr>
          <p:cNvPr id="456" name="Google Shape;456;p25"/>
          <p:cNvSpPr txBox="1"/>
          <p:nvPr/>
        </p:nvSpPr>
        <p:spPr>
          <a:xfrm>
            <a:off x="7047285" y="4294228"/>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CHAÎNE MÉTÉO : HGB CONSERVÉ</a:t>
            </a:r>
            <a:endParaRPr b="0" i="0" sz="1800" u="none" cap="none" strike="noStrike">
              <a:solidFill>
                <a:srgbClr val="000000"/>
              </a:solidFill>
              <a:latin typeface="Arial"/>
              <a:ea typeface="Arial"/>
              <a:cs typeface="Arial"/>
              <a:sym typeface="Arial"/>
            </a:endParaRPr>
          </a:p>
        </p:txBody>
      </p:sp>
      <p:sp>
        <p:nvSpPr>
          <p:cNvPr id="457" name="Google Shape;457;p25"/>
          <p:cNvSpPr txBox="1"/>
          <p:nvPr/>
        </p:nvSpPr>
        <p:spPr>
          <a:xfrm>
            <a:off x="7047280" y="4659988"/>
            <a:ext cx="5799600" cy="10158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Évaluation sur période future</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Jeu de test 2025 non utilisé pour les choix</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Métriques : MAE, RMSE, R²</a:t>
            </a:r>
            <a:endParaRPr b="0" i="0" sz="1400" u="none" cap="none" strike="noStrike">
              <a:solidFill>
                <a:srgbClr val="000000"/>
              </a:solidFill>
              <a:latin typeface="Arial"/>
              <a:ea typeface="Arial"/>
              <a:cs typeface="Arial"/>
              <a:sym typeface="Arial"/>
            </a:endParaRPr>
          </a:p>
        </p:txBody>
      </p:sp>
      <p:sp>
        <p:nvSpPr>
          <p:cNvPr id="458" name="Google Shape;458;p25"/>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9" name="Google Shape;459;p25"/>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pic>
        <p:nvPicPr>
          <p:cNvPr id="460" name="Google Shape;460;p25"/>
          <p:cNvPicPr preferRelativeResize="0"/>
          <p:nvPr/>
        </p:nvPicPr>
        <p:blipFill rotWithShape="1">
          <a:blip r:embed="rId3">
            <a:alphaModFix/>
          </a:blip>
          <a:srcRect b="0" l="0" r="0" t="0"/>
          <a:stretch/>
        </p:blipFill>
        <p:spPr>
          <a:xfrm>
            <a:off x="7691025" y="1783268"/>
            <a:ext cx="4305300" cy="1381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4" name="Shape 464"/>
        <p:cNvGrpSpPr/>
        <p:nvPr/>
      </p:nvGrpSpPr>
      <p:grpSpPr>
        <a:xfrm>
          <a:off x="0" y="0"/>
          <a:ext cx="0" cy="0"/>
          <a:chOff x="0" y="0"/>
          <a:chExt cx="0" cy="0"/>
        </a:xfrm>
      </p:grpSpPr>
      <p:sp>
        <p:nvSpPr>
          <p:cNvPr id="465" name="Google Shape;465;p26"/>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C5.2.4</a:t>
            </a:r>
            <a:endParaRPr b="0" i="0" sz="1400" u="none" cap="none" strike="noStrike">
              <a:solidFill>
                <a:srgbClr val="000000"/>
              </a:solidFill>
              <a:latin typeface="Arial"/>
              <a:ea typeface="Arial"/>
              <a:cs typeface="Arial"/>
              <a:sym typeface="Arial"/>
            </a:endParaRPr>
          </a:p>
        </p:txBody>
      </p:sp>
      <p:sp>
        <p:nvSpPr>
          <p:cNvPr id="466" name="Google Shape;466;p26"/>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Optimisation initiale — paramètres conservés</a:t>
            </a:r>
            <a:endParaRPr b="0" i="0" sz="1400" u="none" cap="none" strike="noStrike">
              <a:solidFill>
                <a:srgbClr val="000000"/>
              </a:solidFill>
              <a:latin typeface="Arial"/>
              <a:ea typeface="Arial"/>
              <a:cs typeface="Arial"/>
              <a:sym typeface="Arial"/>
            </a:endParaRPr>
          </a:p>
        </p:txBody>
      </p:sp>
      <p:sp>
        <p:nvSpPr>
          <p:cNvPr id="467" name="Google Shape;467;p26"/>
          <p:cNvSpPr txBox="1"/>
          <p:nvPr/>
        </p:nvSpPr>
        <p:spPr>
          <a:xfrm>
            <a:off x="82296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MÉTHODE</a:t>
            </a:r>
            <a:endParaRPr b="0" i="0" sz="1800" u="none" cap="none" strike="noStrike">
              <a:solidFill>
                <a:srgbClr val="000000"/>
              </a:solidFill>
              <a:latin typeface="Arial"/>
              <a:ea typeface="Arial"/>
              <a:cs typeface="Arial"/>
              <a:sym typeface="Arial"/>
            </a:endParaRPr>
          </a:p>
        </p:txBody>
      </p:sp>
      <p:sp>
        <p:nvSpPr>
          <p:cNvPr id="468" name="Google Shape;468;p26"/>
          <p:cNvSpPr txBox="1"/>
          <p:nvPr/>
        </p:nvSpPr>
        <p:spPr>
          <a:xfrm>
            <a:off x="822960" y="2011680"/>
            <a:ext cx="5669400" cy="12006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RandomizedSearchCV</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TimeSeriesSplit avec gap de 48 demi-heures</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Optimisation sur la MAE</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Recherche limitée pour éviter le sur-ajustement</a:t>
            </a:r>
            <a:endParaRPr b="0" i="0" sz="1400" u="none" cap="none" strike="noStrike">
              <a:solidFill>
                <a:srgbClr val="000000"/>
              </a:solidFill>
              <a:latin typeface="Arial"/>
              <a:ea typeface="Arial"/>
              <a:cs typeface="Arial"/>
              <a:sym typeface="Arial"/>
            </a:endParaRPr>
          </a:p>
        </p:txBody>
      </p:sp>
      <p:sp>
        <p:nvSpPr>
          <p:cNvPr id="469" name="Google Shape;469;p26"/>
          <p:cNvSpPr txBox="1"/>
          <p:nvPr/>
        </p:nvSpPr>
        <p:spPr>
          <a:xfrm>
            <a:off x="731520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HYPERPARAMÈTRES</a:t>
            </a:r>
            <a:endParaRPr b="0" i="0" sz="1800" u="none" cap="none" strike="noStrike">
              <a:solidFill>
                <a:srgbClr val="000000"/>
              </a:solidFill>
              <a:latin typeface="Arial"/>
              <a:ea typeface="Arial"/>
              <a:cs typeface="Arial"/>
              <a:sym typeface="Arial"/>
            </a:endParaRPr>
          </a:p>
        </p:txBody>
      </p:sp>
      <p:sp>
        <p:nvSpPr>
          <p:cNvPr id="470" name="Google Shape;470;p26"/>
          <p:cNvSpPr txBox="1"/>
          <p:nvPr/>
        </p:nvSpPr>
        <p:spPr>
          <a:xfrm>
            <a:off x="7315200" y="2011680"/>
            <a:ext cx="4389000" cy="14775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learning_rate</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max_iter</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max_leaf_nodes</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min_samples_leaf</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l2_regularization</a:t>
            </a:r>
            <a:endParaRPr b="0" i="0" sz="1400" u="none" cap="none" strike="noStrike">
              <a:solidFill>
                <a:srgbClr val="000000"/>
              </a:solidFill>
              <a:latin typeface="Arial"/>
              <a:ea typeface="Arial"/>
              <a:cs typeface="Arial"/>
              <a:sym typeface="Arial"/>
            </a:endParaRPr>
          </a:p>
        </p:txBody>
      </p:sp>
      <p:sp>
        <p:nvSpPr>
          <p:cNvPr id="471" name="Google Shape;471;p26"/>
          <p:cNvSpPr/>
          <p:nvPr/>
        </p:nvSpPr>
        <p:spPr>
          <a:xfrm>
            <a:off x="1097280" y="5166360"/>
            <a:ext cx="2743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≈1.3%</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gain du tuning</a:t>
            </a:r>
            <a:endParaRPr b="0" i="0" sz="1400" u="none" cap="none" strike="noStrike">
              <a:solidFill>
                <a:srgbClr val="000000"/>
              </a:solidFill>
              <a:latin typeface="Arial"/>
              <a:ea typeface="Arial"/>
              <a:cs typeface="Arial"/>
              <a:sym typeface="Arial"/>
            </a:endParaRPr>
          </a:p>
        </p:txBody>
      </p:sp>
      <p:sp>
        <p:nvSpPr>
          <p:cNvPr id="472" name="Google Shape;472;p26"/>
          <p:cNvSpPr txBox="1"/>
          <p:nvPr/>
        </p:nvSpPr>
        <p:spPr>
          <a:xfrm>
            <a:off x="4496085" y="5289520"/>
            <a:ext cx="7863900" cy="749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Chaîne météo : mêmes hyperparamètres, sans nouveau tuning.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Le gain météo est évalué séparément sur 2024 puis 2025.</a:t>
            </a:r>
            <a:endParaRPr b="0" i="0" sz="1400" u="none" cap="none" strike="noStrike">
              <a:solidFill>
                <a:srgbClr val="000000"/>
              </a:solidFill>
              <a:latin typeface="Arial"/>
              <a:ea typeface="Arial"/>
              <a:cs typeface="Arial"/>
              <a:sym typeface="Arial"/>
            </a:endParaRPr>
          </a:p>
        </p:txBody>
      </p:sp>
      <p:sp>
        <p:nvSpPr>
          <p:cNvPr id="473" name="Google Shape;473;p26"/>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4" name="Google Shape;474;p26"/>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pic>
        <p:nvPicPr>
          <p:cNvPr id="475" name="Google Shape;475;p26"/>
          <p:cNvPicPr preferRelativeResize="0"/>
          <p:nvPr/>
        </p:nvPicPr>
        <p:blipFill rotWithShape="1">
          <a:blip r:embed="rId3">
            <a:alphaModFix/>
          </a:blip>
          <a:srcRect b="0" l="0" r="0" t="0"/>
          <a:stretch/>
        </p:blipFill>
        <p:spPr>
          <a:xfrm>
            <a:off x="10802775" y="1925793"/>
            <a:ext cx="1891012" cy="1372380"/>
          </a:xfrm>
          <a:prstGeom prst="rect">
            <a:avLst/>
          </a:prstGeom>
          <a:noFill/>
          <a:ln>
            <a:noFill/>
          </a:ln>
        </p:spPr>
      </p:pic>
      <p:pic>
        <p:nvPicPr>
          <p:cNvPr id="476" name="Google Shape;476;p26"/>
          <p:cNvPicPr preferRelativeResize="0"/>
          <p:nvPr/>
        </p:nvPicPr>
        <p:blipFill rotWithShape="1">
          <a:blip r:embed="rId4">
            <a:alphaModFix/>
          </a:blip>
          <a:srcRect b="0" l="0" r="0" t="0"/>
          <a:stretch/>
        </p:blipFill>
        <p:spPr>
          <a:xfrm>
            <a:off x="499188" y="3643305"/>
            <a:ext cx="4486275" cy="942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0" name="Shape 480"/>
        <p:cNvGrpSpPr/>
        <p:nvPr/>
      </p:nvGrpSpPr>
      <p:grpSpPr>
        <a:xfrm>
          <a:off x="0" y="0"/>
          <a:ext cx="0" cy="0"/>
          <a:chOff x="0" y="0"/>
          <a:chExt cx="0" cy="0"/>
        </a:xfrm>
      </p:grpSpPr>
      <p:sp>
        <p:nvSpPr>
          <p:cNvPr id="481" name="Google Shape;481;p27"/>
          <p:cNvSpPr txBox="1"/>
          <p:nvPr/>
        </p:nvSpPr>
        <p:spPr>
          <a:xfrm>
            <a:off x="685800" y="475488"/>
            <a:ext cx="10058400" cy="6400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12202F"/>
                </a:solidFill>
                <a:latin typeface="Arial"/>
                <a:ea typeface="Arial"/>
                <a:cs typeface="Arial"/>
                <a:sym typeface="Arial"/>
              </a:rPr>
              <a:t>Enrichissement par données météo externes</a:t>
            </a:r>
            <a:endParaRPr/>
          </a:p>
        </p:txBody>
      </p:sp>
      <p:sp>
        <p:nvSpPr>
          <p:cNvPr id="482" name="Google Shape;482;p27"/>
          <p:cNvSpPr txBox="1"/>
          <p:nvPr/>
        </p:nvSpPr>
        <p:spPr>
          <a:xfrm>
            <a:off x="749808" y="1115568"/>
            <a:ext cx="11430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5A6673"/>
                </a:solidFill>
                <a:latin typeface="Arial"/>
                <a:ea typeface="Arial"/>
                <a:cs typeface="Arial"/>
                <a:sym typeface="Arial"/>
              </a:rPr>
              <a:t>Tester si la météo explique une part de la consommation non captée par les historiques</a:t>
            </a:r>
            <a:endParaRPr/>
          </a:p>
        </p:txBody>
      </p:sp>
      <p:sp>
        <p:nvSpPr>
          <p:cNvPr id="483" name="Google Shape;483;p27"/>
          <p:cNvSpPr/>
          <p:nvPr/>
        </p:nvSpPr>
        <p:spPr>
          <a:xfrm>
            <a:off x="777240" y="1691640"/>
            <a:ext cx="4160520" cy="2057400"/>
          </a:xfrm>
          <a:prstGeom prst="roundRect">
            <a:avLst>
              <a:gd fmla="val 16667" name="adj"/>
            </a:avLst>
          </a:prstGeom>
          <a:solidFill>
            <a:srgbClr val="EBF1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46300"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2F61B8"/>
                </a:solidFill>
                <a:latin typeface="Arial"/>
                <a:ea typeface="Arial"/>
                <a:cs typeface="Arial"/>
                <a:sym typeface="Arial"/>
              </a:rPr>
              <a:t>SOURCE EXTERNE</a:t>
            </a:r>
            <a:endParaRPr b="1" i="0" sz="1100" u="none" cap="none" strike="noStrike">
              <a:solidFill>
                <a:srgbClr val="2F61B8"/>
              </a:solidFill>
              <a:latin typeface="Arial"/>
              <a:ea typeface="Arial"/>
              <a:cs typeface="Arial"/>
              <a:sym typeface="Arial"/>
            </a:endParaRPr>
          </a:p>
          <a:p>
            <a:pPr indent="0" lvl="0" marL="0" marR="0" rtl="0" algn="ctr">
              <a:lnSpc>
                <a:spcPct val="100000"/>
              </a:lnSpc>
              <a:spcBef>
                <a:spcPts val="0"/>
              </a:spcBef>
              <a:spcAft>
                <a:spcPts val="0"/>
              </a:spcAft>
              <a:buNone/>
            </a:pPr>
            <a:r>
              <a:t/>
            </a:r>
            <a:endParaRPr b="1" sz="1100">
              <a:solidFill>
                <a:srgbClr val="2F61B8"/>
              </a:solidFill>
            </a:endParaRPr>
          </a:p>
          <a:p>
            <a:pPr indent="0" lvl="0" marL="0" marR="0" rtl="0" algn="l">
              <a:lnSpc>
                <a:spcPct val="100000"/>
              </a:lnSpc>
              <a:spcBef>
                <a:spcPts val="300"/>
              </a:spcBef>
              <a:spcAft>
                <a:spcPts val="0"/>
              </a:spcAft>
              <a:buNone/>
            </a:pPr>
            <a:r>
              <a:rPr b="0" i="0" lang="en-US" sz="1500" u="none" cap="none" strike="noStrike">
                <a:solidFill>
                  <a:srgbClr val="12202F"/>
                </a:solidFill>
                <a:latin typeface="Arial"/>
                <a:ea typeface="Arial"/>
                <a:cs typeface="Arial"/>
                <a:sym typeface="Arial"/>
              </a:rPr>
              <a:t>Open-Meteo Historical Weather API</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Données quotidiennes, sans clé API</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Bordeaux, Limoges, La Rochelle, Bayonne, Pau</a:t>
            </a:r>
            <a:endParaRPr/>
          </a:p>
        </p:txBody>
      </p:sp>
      <p:sp>
        <p:nvSpPr>
          <p:cNvPr id="484" name="Google Shape;484;p27"/>
          <p:cNvSpPr/>
          <p:nvPr/>
        </p:nvSpPr>
        <p:spPr>
          <a:xfrm>
            <a:off x="5257800" y="1691640"/>
            <a:ext cx="4160520" cy="2057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46300"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2F61B8"/>
                </a:solidFill>
                <a:latin typeface="Arial"/>
                <a:ea typeface="Arial"/>
                <a:cs typeface="Arial"/>
                <a:sym typeface="Arial"/>
              </a:rPr>
              <a:t>VARIABLES AJOUTÉES</a:t>
            </a:r>
            <a:endParaRPr/>
          </a:p>
          <a:p>
            <a:pPr indent="0" lvl="0" marL="0" marR="0" rtl="0" algn="l">
              <a:lnSpc>
                <a:spcPct val="100000"/>
              </a:lnSpc>
              <a:spcBef>
                <a:spcPts val="300"/>
              </a:spcBef>
              <a:spcAft>
                <a:spcPts val="0"/>
              </a:spcAft>
              <a:buNone/>
            </a:pPr>
            <a:r>
              <a:rPr b="0" i="0" lang="en-US" sz="1500" u="none" cap="none" strike="noStrike">
                <a:solidFill>
                  <a:srgbClr val="12202F"/>
                </a:solidFill>
                <a:latin typeface="Arial"/>
                <a:ea typeface="Arial"/>
                <a:cs typeface="Arial"/>
                <a:sym typeface="Arial"/>
              </a:rPr>
              <a:t>Température moyenne</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Température ressentie moyenne</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Code météo WMO</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Agrégation régionale par moyenne / mode</a:t>
            </a:r>
            <a:endParaRPr/>
          </a:p>
        </p:txBody>
      </p:sp>
      <p:sp>
        <p:nvSpPr>
          <p:cNvPr id="485" name="Google Shape;485;p27"/>
          <p:cNvSpPr/>
          <p:nvPr/>
        </p:nvSpPr>
        <p:spPr>
          <a:xfrm>
            <a:off x="9738360" y="1691640"/>
            <a:ext cx="4114800" cy="2057400"/>
          </a:xfrm>
          <a:prstGeom prst="roundRect">
            <a:avLst>
              <a:gd fmla="val 16667" name="adj"/>
            </a:avLst>
          </a:prstGeom>
          <a:solidFill>
            <a:srgbClr val="FFF5E8"/>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46300"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E68D35"/>
                </a:solidFill>
                <a:latin typeface="Arial"/>
                <a:ea typeface="Arial"/>
                <a:cs typeface="Arial"/>
                <a:sym typeface="Arial"/>
              </a:rPr>
              <a:t>CONTRÔLE MÉTHODOLOGIQUE</a:t>
            </a:r>
            <a:endParaRPr b="1" i="0" sz="1100" u="none" cap="none" strike="noStrike">
              <a:solidFill>
                <a:srgbClr val="E68D35"/>
              </a:solidFill>
              <a:latin typeface="Arial"/>
              <a:ea typeface="Arial"/>
              <a:cs typeface="Arial"/>
              <a:sym typeface="Arial"/>
            </a:endParaRPr>
          </a:p>
          <a:p>
            <a:pPr indent="0" lvl="0" marL="0" marR="0" rtl="0" algn="ctr">
              <a:lnSpc>
                <a:spcPct val="100000"/>
              </a:lnSpc>
              <a:spcBef>
                <a:spcPts val="0"/>
              </a:spcBef>
              <a:spcAft>
                <a:spcPts val="0"/>
              </a:spcAft>
              <a:buNone/>
            </a:pPr>
            <a:r>
              <a:t/>
            </a:r>
            <a:endParaRPr b="1" sz="1100">
              <a:solidFill>
                <a:srgbClr val="E68D35"/>
              </a:solidFill>
            </a:endParaRPr>
          </a:p>
          <a:p>
            <a:pPr indent="0" lvl="0" marL="0" marR="0" rtl="0" algn="l">
              <a:lnSpc>
                <a:spcPct val="100000"/>
              </a:lnSpc>
              <a:spcBef>
                <a:spcPts val="300"/>
              </a:spcBef>
              <a:spcAft>
                <a:spcPts val="0"/>
              </a:spcAft>
              <a:buNone/>
            </a:pPr>
            <a:r>
              <a:rPr b="0" i="0" lang="en-US" sz="1500" u="none" cap="none" strike="noStrike">
                <a:solidFill>
                  <a:srgbClr val="12202F"/>
                </a:solidFill>
                <a:latin typeface="Arial"/>
                <a:ea typeface="Arial"/>
                <a:cs typeface="Arial"/>
                <a:sym typeface="Arial"/>
              </a:rPr>
              <a:t>Veille : disponibilité réelle à vérifier</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Jour cible observé : météo parfaite</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En production : utiliser la prévision J+1</a:t>
            </a:r>
            <a:endParaRPr/>
          </a:p>
        </p:txBody>
      </p:sp>
      <p:pic>
        <p:nvPicPr>
          <p:cNvPr descr="image.png" id="486" name="Google Shape;486;p27"/>
          <p:cNvPicPr preferRelativeResize="0"/>
          <p:nvPr/>
        </p:nvPicPr>
        <p:blipFill rotWithShape="1">
          <a:blip r:embed="rId3">
            <a:alphaModFix/>
          </a:blip>
          <a:srcRect b="0" l="0" r="0" t="0"/>
          <a:stretch/>
        </p:blipFill>
        <p:spPr>
          <a:xfrm>
            <a:off x="3611875" y="4438650"/>
            <a:ext cx="7406641" cy="2465944"/>
          </a:xfrm>
          <a:prstGeom prst="rect">
            <a:avLst/>
          </a:prstGeom>
          <a:noFill/>
          <a:ln>
            <a:noFill/>
          </a:ln>
        </p:spPr>
      </p:pic>
      <p:sp>
        <p:nvSpPr>
          <p:cNvPr id="487" name="Google Shape;487;p27"/>
          <p:cNvSpPr/>
          <p:nvPr/>
        </p:nvSpPr>
        <p:spPr>
          <a:xfrm>
            <a:off x="0" y="7973568"/>
            <a:ext cx="14630400" cy="36576"/>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8" name="Google Shape;488;p27"/>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900" u="none" cap="none" strike="noStrike">
                <a:solidFill>
                  <a:srgbClr val="5A6673"/>
                </a:solidFill>
                <a:latin typeface="Arial"/>
                <a:ea typeface="Arial"/>
                <a:cs typeface="Arial"/>
                <a:sym typeface="Arial"/>
              </a:rPr>
              <a:t>RNCP39586 — Bloc 5 — Apprentissage automatique</a:t>
            </a:r>
            <a:endParaRPr/>
          </a:p>
        </p:txBody>
      </p:sp>
      <p:sp>
        <p:nvSpPr>
          <p:cNvPr id="489" name="Google Shape;489;p27"/>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a:t>
            </a:r>
            <a:r>
              <a:rPr b="1" lang="en-US" sz="1200">
                <a:solidFill>
                  <a:srgbClr val="2F61B8"/>
                </a:solidFill>
                <a:latin typeface="Calibri"/>
                <a:ea typeface="Calibri"/>
                <a:cs typeface="Calibri"/>
                <a:sym typeface="Calibri"/>
              </a:rPr>
              <a:t>4</a:t>
            </a:r>
            <a:endParaRPr b="1" sz="1200">
              <a:solidFill>
                <a:srgbClr val="2F61B8"/>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3" name="Shape 493"/>
        <p:cNvGrpSpPr/>
        <p:nvPr/>
      </p:nvGrpSpPr>
      <p:grpSpPr>
        <a:xfrm>
          <a:off x="0" y="0"/>
          <a:ext cx="0" cy="0"/>
          <a:chOff x="0" y="0"/>
          <a:chExt cx="0" cy="0"/>
        </a:xfrm>
      </p:grpSpPr>
      <p:sp>
        <p:nvSpPr>
          <p:cNvPr id="494" name="Google Shape;494;p28"/>
          <p:cNvSpPr txBox="1"/>
          <p:nvPr/>
        </p:nvSpPr>
        <p:spPr>
          <a:xfrm>
            <a:off x="685800" y="475488"/>
            <a:ext cx="10058400" cy="6400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12202F"/>
                </a:solidFill>
                <a:latin typeface="Arial"/>
                <a:ea typeface="Arial"/>
                <a:cs typeface="Arial"/>
                <a:sym typeface="Arial"/>
              </a:rPr>
              <a:t>Impact de la météo sur les performances</a:t>
            </a:r>
            <a:endParaRPr/>
          </a:p>
        </p:txBody>
      </p:sp>
      <p:sp>
        <p:nvSpPr>
          <p:cNvPr id="495" name="Google Shape;495;p28"/>
          <p:cNvSpPr txBox="1"/>
          <p:nvPr/>
        </p:nvSpPr>
        <p:spPr>
          <a:xfrm>
            <a:off x="749808" y="1115568"/>
            <a:ext cx="11430000" cy="32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5A6673"/>
                </a:solidFill>
                <a:latin typeface="Arial"/>
                <a:ea typeface="Arial"/>
                <a:cs typeface="Arial"/>
                <a:sym typeface="Arial"/>
              </a:rPr>
              <a:t>Comparer le modèle historique/calendaire avec le modèle enrichi par météo</a:t>
            </a:r>
            <a:endParaRPr/>
          </a:p>
        </p:txBody>
      </p:sp>
      <p:sp>
        <p:nvSpPr>
          <p:cNvPr id="496" name="Google Shape;496;p28"/>
          <p:cNvSpPr/>
          <p:nvPr/>
        </p:nvSpPr>
        <p:spPr>
          <a:xfrm>
            <a:off x="1828810" y="1819600"/>
            <a:ext cx="24690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500" u="none" cap="none" strike="noStrike">
                <a:solidFill>
                  <a:srgbClr val="2F61B8"/>
                </a:solidFill>
                <a:latin typeface="Arial"/>
                <a:ea typeface="Arial"/>
                <a:cs typeface="Arial"/>
                <a:sym typeface="Arial"/>
              </a:rPr>
              <a:t>258,9 MW</a:t>
            </a:r>
            <a:endParaRPr/>
          </a:p>
          <a:p>
            <a:pPr indent="0" lvl="0" marL="0" marR="0" rtl="0" algn="ctr">
              <a:lnSpc>
                <a:spcPct val="100000"/>
              </a:lnSpc>
              <a:spcBef>
                <a:spcPts val="0"/>
              </a:spcBef>
              <a:spcAft>
                <a:spcPts val="0"/>
              </a:spcAft>
              <a:buNone/>
            </a:pPr>
            <a:r>
              <a:rPr b="0" i="0" lang="en-US" sz="1100" u="none" cap="none" strike="noStrike">
                <a:solidFill>
                  <a:srgbClr val="5A6673"/>
                </a:solidFill>
                <a:latin typeface="Arial"/>
                <a:ea typeface="Arial"/>
                <a:cs typeface="Arial"/>
                <a:sym typeface="Arial"/>
              </a:rPr>
              <a:t>Baseline J-1</a:t>
            </a:r>
            <a:br>
              <a:rPr b="0" i="0" lang="en-US" sz="1100" u="none" cap="none" strike="noStrike">
                <a:solidFill>
                  <a:srgbClr val="5A6673"/>
                </a:solidFill>
                <a:latin typeface="Arial"/>
                <a:ea typeface="Arial"/>
                <a:cs typeface="Arial"/>
                <a:sym typeface="Arial"/>
              </a:rPr>
            </a:br>
            <a:r>
              <a:rPr b="0" i="0" lang="en-US" sz="1100" u="none" cap="none" strike="noStrike">
                <a:solidFill>
                  <a:srgbClr val="5A6673"/>
                </a:solidFill>
                <a:latin typeface="Arial"/>
                <a:ea typeface="Arial"/>
                <a:cs typeface="Arial"/>
                <a:sym typeface="Arial"/>
              </a:rPr>
              <a:t>MAE test</a:t>
            </a:r>
            <a:endParaRPr/>
          </a:p>
        </p:txBody>
      </p:sp>
      <p:sp>
        <p:nvSpPr>
          <p:cNvPr id="497" name="Google Shape;497;p28"/>
          <p:cNvSpPr/>
          <p:nvPr/>
        </p:nvSpPr>
        <p:spPr>
          <a:xfrm>
            <a:off x="4663450" y="1819600"/>
            <a:ext cx="24690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500" u="none" cap="none" strike="noStrike">
                <a:solidFill>
                  <a:srgbClr val="2F61B8"/>
                </a:solidFill>
                <a:latin typeface="Arial"/>
                <a:ea typeface="Arial"/>
                <a:cs typeface="Arial"/>
                <a:sym typeface="Arial"/>
              </a:rPr>
              <a:t>20</a:t>
            </a:r>
            <a:r>
              <a:rPr b="1" lang="en-US" sz="2500">
                <a:solidFill>
                  <a:srgbClr val="2F61B8"/>
                </a:solidFill>
              </a:rPr>
              <a:t>7,5</a:t>
            </a:r>
            <a:r>
              <a:rPr b="1" i="0" lang="en-US" sz="2500" u="none" cap="none" strike="noStrike">
                <a:solidFill>
                  <a:srgbClr val="2F61B8"/>
                </a:solidFill>
                <a:latin typeface="Arial"/>
                <a:ea typeface="Arial"/>
                <a:cs typeface="Arial"/>
                <a:sym typeface="Arial"/>
              </a:rPr>
              <a:t> MW</a:t>
            </a:r>
            <a:endParaRPr/>
          </a:p>
          <a:p>
            <a:pPr indent="0" lvl="0" marL="0" marR="0" rtl="0" algn="ctr">
              <a:lnSpc>
                <a:spcPct val="100000"/>
              </a:lnSpc>
              <a:spcBef>
                <a:spcPts val="0"/>
              </a:spcBef>
              <a:spcAft>
                <a:spcPts val="0"/>
              </a:spcAft>
              <a:buNone/>
            </a:pPr>
            <a:r>
              <a:rPr b="0" i="0" lang="en-US" sz="1100" u="none" cap="none" strike="noStrike">
                <a:solidFill>
                  <a:srgbClr val="5A6673"/>
                </a:solidFill>
                <a:latin typeface="Arial"/>
                <a:ea typeface="Arial"/>
                <a:cs typeface="Arial"/>
                <a:sym typeface="Arial"/>
              </a:rPr>
              <a:t>HGB sans météo</a:t>
            </a:r>
            <a:br>
              <a:rPr b="0" i="0" lang="en-US" sz="1100" u="none" cap="none" strike="noStrike">
                <a:solidFill>
                  <a:srgbClr val="5A6673"/>
                </a:solidFill>
                <a:latin typeface="Arial"/>
                <a:ea typeface="Arial"/>
                <a:cs typeface="Arial"/>
                <a:sym typeface="Arial"/>
              </a:rPr>
            </a:br>
            <a:r>
              <a:rPr b="0" i="0" lang="en-US" sz="1100" u="none" cap="none" strike="noStrike">
                <a:solidFill>
                  <a:srgbClr val="5A6673"/>
                </a:solidFill>
                <a:latin typeface="Arial"/>
                <a:ea typeface="Arial"/>
                <a:cs typeface="Arial"/>
                <a:sym typeface="Arial"/>
              </a:rPr>
              <a:t>MAE test</a:t>
            </a:r>
            <a:endParaRPr/>
          </a:p>
        </p:txBody>
      </p:sp>
      <p:sp>
        <p:nvSpPr>
          <p:cNvPr id="498" name="Google Shape;498;p28"/>
          <p:cNvSpPr/>
          <p:nvPr/>
        </p:nvSpPr>
        <p:spPr>
          <a:xfrm>
            <a:off x="7498090" y="1819600"/>
            <a:ext cx="2469000" cy="914400"/>
          </a:xfrm>
          <a:prstGeom prst="roundRect">
            <a:avLst>
              <a:gd fmla="val 16667" name="adj"/>
            </a:avLst>
          </a:prstGeom>
          <a:solidFill>
            <a:srgbClr val="E8F2EE"/>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500" u="none" cap="none" strike="noStrike">
                <a:solidFill>
                  <a:srgbClr val="2F61B8"/>
                </a:solidFill>
                <a:latin typeface="Arial"/>
                <a:ea typeface="Arial"/>
                <a:cs typeface="Arial"/>
                <a:sym typeface="Arial"/>
              </a:rPr>
              <a:t>1</a:t>
            </a:r>
            <a:r>
              <a:rPr b="1" lang="en-US" sz="2500">
                <a:solidFill>
                  <a:srgbClr val="2F61B8"/>
                </a:solidFill>
              </a:rPr>
              <a:t>61,8</a:t>
            </a:r>
            <a:r>
              <a:rPr b="1" i="0" lang="en-US" sz="2500" u="none" cap="none" strike="noStrike">
                <a:solidFill>
                  <a:srgbClr val="2F61B8"/>
                </a:solidFill>
                <a:latin typeface="Arial"/>
                <a:ea typeface="Arial"/>
                <a:cs typeface="Arial"/>
                <a:sym typeface="Arial"/>
              </a:rPr>
              <a:t> MW</a:t>
            </a:r>
            <a:endParaRPr/>
          </a:p>
          <a:p>
            <a:pPr indent="0" lvl="0" marL="0" marR="0" rtl="0" algn="ctr">
              <a:lnSpc>
                <a:spcPct val="100000"/>
              </a:lnSpc>
              <a:spcBef>
                <a:spcPts val="0"/>
              </a:spcBef>
              <a:spcAft>
                <a:spcPts val="0"/>
              </a:spcAft>
              <a:buNone/>
            </a:pPr>
            <a:r>
              <a:rPr b="0" i="0" lang="en-US" sz="1100" u="none" cap="none" strike="noStrike">
                <a:solidFill>
                  <a:srgbClr val="5A6673"/>
                </a:solidFill>
                <a:latin typeface="Arial"/>
                <a:ea typeface="Arial"/>
                <a:cs typeface="Arial"/>
                <a:sym typeface="Arial"/>
              </a:rPr>
              <a:t>HGB + météo cible</a:t>
            </a:r>
            <a:br>
              <a:rPr b="0" i="0" lang="en-US" sz="1100" u="none" cap="none" strike="noStrike">
                <a:solidFill>
                  <a:srgbClr val="5A6673"/>
                </a:solidFill>
                <a:latin typeface="Arial"/>
                <a:ea typeface="Arial"/>
                <a:cs typeface="Arial"/>
                <a:sym typeface="Arial"/>
              </a:rPr>
            </a:br>
            <a:r>
              <a:rPr b="0" i="0" lang="en-US" sz="1100" u="none" cap="none" strike="noStrike">
                <a:solidFill>
                  <a:srgbClr val="5A6673"/>
                </a:solidFill>
                <a:latin typeface="Arial"/>
                <a:ea typeface="Arial"/>
                <a:cs typeface="Arial"/>
                <a:sym typeface="Arial"/>
              </a:rPr>
              <a:t>MAE test</a:t>
            </a:r>
            <a:endParaRPr/>
          </a:p>
        </p:txBody>
      </p:sp>
      <p:sp>
        <p:nvSpPr>
          <p:cNvPr id="499" name="Google Shape;499;p28"/>
          <p:cNvSpPr/>
          <p:nvPr/>
        </p:nvSpPr>
        <p:spPr>
          <a:xfrm>
            <a:off x="10332730" y="1819600"/>
            <a:ext cx="2469000" cy="914400"/>
          </a:xfrm>
          <a:prstGeom prst="roundRect">
            <a:avLst>
              <a:gd fmla="val 16667" name="adj"/>
            </a:avLst>
          </a:prstGeom>
          <a:solidFill>
            <a:srgbClr val="E8F2EE"/>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2500">
                <a:solidFill>
                  <a:srgbClr val="2F61B8"/>
                </a:solidFill>
              </a:rPr>
              <a:t>~22</a:t>
            </a:r>
            <a:r>
              <a:rPr b="1" i="0" lang="en-US" sz="2500" u="none" cap="none" strike="noStrike">
                <a:solidFill>
                  <a:srgbClr val="2F61B8"/>
                </a:solidFill>
                <a:latin typeface="Arial"/>
                <a:ea typeface="Arial"/>
                <a:cs typeface="Arial"/>
                <a:sym typeface="Arial"/>
              </a:rPr>
              <a:t>%</a:t>
            </a:r>
            <a:endParaRPr/>
          </a:p>
          <a:p>
            <a:pPr indent="0" lvl="0" marL="0" marR="0" rtl="0" algn="ctr">
              <a:lnSpc>
                <a:spcPct val="100000"/>
              </a:lnSpc>
              <a:spcBef>
                <a:spcPts val="0"/>
              </a:spcBef>
              <a:spcAft>
                <a:spcPts val="0"/>
              </a:spcAft>
              <a:buNone/>
            </a:pPr>
            <a:r>
              <a:rPr b="0" i="0" lang="en-US" sz="1100" u="none" cap="none" strike="noStrike">
                <a:solidFill>
                  <a:srgbClr val="5A6673"/>
                </a:solidFill>
                <a:latin typeface="Arial"/>
                <a:ea typeface="Arial"/>
                <a:cs typeface="Arial"/>
                <a:sym typeface="Arial"/>
              </a:rPr>
              <a:t>Gain météo</a:t>
            </a:r>
            <a:br>
              <a:rPr b="0" i="0" lang="en-US" sz="1100" u="none" cap="none" strike="noStrike">
                <a:solidFill>
                  <a:srgbClr val="5A6673"/>
                </a:solidFill>
                <a:latin typeface="Arial"/>
                <a:ea typeface="Arial"/>
                <a:cs typeface="Arial"/>
                <a:sym typeface="Arial"/>
              </a:rPr>
            </a:br>
            <a:r>
              <a:rPr b="0" i="0" lang="en-US" sz="1100" u="none" cap="none" strike="noStrike">
                <a:solidFill>
                  <a:srgbClr val="5A6673"/>
                </a:solidFill>
                <a:latin typeface="Arial"/>
                <a:ea typeface="Arial"/>
                <a:cs typeface="Arial"/>
                <a:sym typeface="Arial"/>
              </a:rPr>
              <a:t>vs sans météo</a:t>
            </a:r>
            <a:endParaRPr/>
          </a:p>
        </p:txBody>
      </p:sp>
      <p:sp>
        <p:nvSpPr>
          <p:cNvPr id="500" name="Google Shape;500;p28"/>
          <p:cNvSpPr/>
          <p:nvPr/>
        </p:nvSpPr>
        <p:spPr>
          <a:xfrm>
            <a:off x="868680" y="3657600"/>
            <a:ext cx="6217920" cy="201168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46300"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2F61B8"/>
                </a:solidFill>
                <a:latin typeface="Arial"/>
                <a:ea typeface="Arial"/>
                <a:cs typeface="Arial"/>
                <a:sym typeface="Arial"/>
              </a:rPr>
              <a:t>INTERPRÉTATION</a:t>
            </a:r>
            <a:endParaRPr/>
          </a:p>
          <a:p>
            <a:pPr indent="0" lvl="0" marL="0" marR="0" rtl="0" algn="l">
              <a:lnSpc>
                <a:spcPct val="100000"/>
              </a:lnSpc>
              <a:spcBef>
                <a:spcPts val="300"/>
              </a:spcBef>
              <a:spcAft>
                <a:spcPts val="0"/>
              </a:spcAft>
              <a:buNone/>
            </a:pPr>
            <a:r>
              <a:rPr b="0" i="0" lang="en-US" sz="1500" u="none" cap="none" strike="noStrike">
                <a:solidFill>
                  <a:srgbClr val="12202F"/>
                </a:solidFill>
                <a:latin typeface="Arial"/>
                <a:ea typeface="Arial"/>
                <a:cs typeface="Arial"/>
                <a:sym typeface="Arial"/>
              </a:rPr>
              <a:t>Les 3 variables météo cible améliorent la MAE de 22 %.</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Effet mesuré sur les mêmes lignes du test 2025.</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Ce gain porte sur la météo observée ; il reste à confirmer avec des prévisions archivées.</a:t>
            </a:r>
            <a:endParaRPr/>
          </a:p>
        </p:txBody>
      </p:sp>
      <p:sp>
        <p:nvSpPr>
          <p:cNvPr id="501" name="Google Shape;501;p28"/>
          <p:cNvSpPr/>
          <p:nvPr/>
        </p:nvSpPr>
        <p:spPr>
          <a:xfrm>
            <a:off x="7543800" y="3657600"/>
            <a:ext cx="6126480" cy="2011680"/>
          </a:xfrm>
          <a:prstGeom prst="roundRect">
            <a:avLst>
              <a:gd fmla="val 16667" name="adj"/>
            </a:avLst>
          </a:prstGeom>
          <a:solidFill>
            <a:srgbClr val="FFF5E8"/>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46300"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E68D35"/>
                </a:solidFill>
                <a:latin typeface="Arial"/>
                <a:ea typeface="Arial"/>
                <a:cs typeface="Arial"/>
                <a:sym typeface="Arial"/>
              </a:rPr>
              <a:t>POINT DE VIGILANCE</a:t>
            </a:r>
            <a:endParaRPr/>
          </a:p>
          <a:p>
            <a:pPr indent="0" lvl="0" marL="0" marR="0" rtl="0" algn="l">
              <a:lnSpc>
                <a:spcPct val="100000"/>
              </a:lnSpc>
              <a:spcBef>
                <a:spcPts val="300"/>
              </a:spcBef>
              <a:spcAft>
                <a:spcPts val="0"/>
              </a:spcAft>
              <a:buNone/>
            </a:pPr>
            <a:r>
              <a:rPr b="0" i="0" lang="en-US" sz="1500" u="none" cap="none" strike="noStrike">
                <a:solidFill>
                  <a:srgbClr val="12202F"/>
                </a:solidFill>
                <a:latin typeface="Arial"/>
                <a:ea typeface="Arial"/>
                <a:cs typeface="Arial"/>
                <a:sym typeface="Arial"/>
              </a:rPr>
              <a:t>Si la météo du jour cible est observée, elle n'est pas disponible au moment t.</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Elle doit être présentée comme une expérience oracle hors production.</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En production, on utiliserait la prévision météo J+1 disponible au moment de l'inférence.</a:t>
            </a:r>
            <a:endParaRPr/>
          </a:p>
        </p:txBody>
      </p:sp>
      <p:sp>
        <p:nvSpPr>
          <p:cNvPr id="502" name="Google Shape;502;p28"/>
          <p:cNvSpPr/>
          <p:nvPr/>
        </p:nvSpPr>
        <p:spPr>
          <a:xfrm>
            <a:off x="0" y="7973568"/>
            <a:ext cx="14630400" cy="36576"/>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3" name="Google Shape;503;p28"/>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900" u="none" cap="none" strike="noStrike">
                <a:solidFill>
                  <a:srgbClr val="5A6673"/>
                </a:solidFill>
                <a:latin typeface="Arial"/>
                <a:ea typeface="Arial"/>
                <a:cs typeface="Arial"/>
                <a:sym typeface="Arial"/>
              </a:rPr>
              <a:t>RNCP39586 — Bloc 5 — Apprentissage automatique</a:t>
            </a:r>
            <a:endParaRPr/>
          </a:p>
        </p:txBody>
      </p:sp>
      <p:sp>
        <p:nvSpPr>
          <p:cNvPr id="504" name="Google Shape;504;p28"/>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a:t>
            </a:r>
            <a:r>
              <a:rPr b="1" lang="en-US" sz="1200">
                <a:solidFill>
                  <a:srgbClr val="2F61B8"/>
                </a:solidFill>
                <a:latin typeface="Calibri"/>
                <a:ea typeface="Calibri"/>
                <a:cs typeface="Calibri"/>
                <a:sym typeface="Calibri"/>
              </a:rPr>
              <a:t>4</a:t>
            </a:r>
            <a:endParaRPr b="1" sz="1200">
              <a:solidFill>
                <a:srgbClr val="2F61B8"/>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8" name="Shape 508"/>
        <p:cNvGrpSpPr/>
        <p:nvPr/>
      </p:nvGrpSpPr>
      <p:grpSpPr>
        <a:xfrm>
          <a:off x="0" y="0"/>
          <a:ext cx="0" cy="0"/>
          <a:chOff x="0" y="0"/>
          <a:chExt cx="0" cy="0"/>
        </a:xfrm>
      </p:grpSpPr>
      <p:sp>
        <p:nvSpPr>
          <p:cNvPr id="509" name="Google Shape;509;p29"/>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Résultats</a:t>
            </a:r>
            <a:endParaRPr b="0" i="0" sz="1400" u="none" cap="none" strike="noStrike">
              <a:solidFill>
                <a:srgbClr val="000000"/>
              </a:solidFill>
              <a:latin typeface="Arial"/>
              <a:ea typeface="Arial"/>
              <a:cs typeface="Arial"/>
              <a:sym typeface="Arial"/>
            </a:endParaRPr>
          </a:p>
        </p:txBody>
      </p:sp>
      <p:sp>
        <p:nvSpPr>
          <p:cNvPr id="510" name="Google Shape;510;p29"/>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Test 2025 — modèle avec météo parfaite</a:t>
            </a:r>
            <a:endParaRPr b="0" i="0" sz="1400" u="none" cap="none" strike="noStrike">
              <a:solidFill>
                <a:srgbClr val="000000"/>
              </a:solidFill>
              <a:latin typeface="Arial"/>
              <a:ea typeface="Arial"/>
              <a:cs typeface="Arial"/>
              <a:sym typeface="Arial"/>
            </a:endParaRPr>
          </a:p>
        </p:txBody>
      </p:sp>
      <p:sp>
        <p:nvSpPr>
          <p:cNvPr id="511" name="Google Shape;511;p29"/>
          <p:cNvSpPr/>
          <p:nvPr/>
        </p:nvSpPr>
        <p:spPr>
          <a:xfrm>
            <a:off x="187050" y="2486763"/>
            <a:ext cx="2560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258,9 MW</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Baseline MAE</a:t>
            </a:r>
            <a:endParaRPr b="0" i="0" sz="1400" u="none" cap="none" strike="noStrike">
              <a:solidFill>
                <a:srgbClr val="000000"/>
              </a:solidFill>
              <a:latin typeface="Arial"/>
              <a:ea typeface="Arial"/>
              <a:cs typeface="Arial"/>
              <a:sym typeface="Arial"/>
            </a:endParaRPr>
          </a:p>
        </p:txBody>
      </p:sp>
      <p:sp>
        <p:nvSpPr>
          <p:cNvPr id="512" name="Google Shape;512;p29"/>
          <p:cNvSpPr/>
          <p:nvPr/>
        </p:nvSpPr>
        <p:spPr>
          <a:xfrm>
            <a:off x="3113130" y="2486763"/>
            <a:ext cx="2560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lang="en-US" sz="2600">
                <a:solidFill>
                  <a:srgbClr val="2F61B8"/>
                </a:solidFill>
                <a:latin typeface="Calibri"/>
                <a:ea typeface="Calibri"/>
                <a:cs typeface="Calibri"/>
                <a:sym typeface="Calibri"/>
              </a:rPr>
              <a:t>161,8</a:t>
            </a:r>
            <a:r>
              <a:rPr b="1" i="0" lang="en-US" sz="2600" u="none" cap="none" strike="noStrike">
                <a:solidFill>
                  <a:srgbClr val="2F61B8"/>
                </a:solidFill>
                <a:latin typeface="Calibri"/>
                <a:ea typeface="Calibri"/>
                <a:cs typeface="Calibri"/>
                <a:sym typeface="Calibri"/>
              </a:rPr>
              <a:t> MW</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MAE météo parfaite</a:t>
            </a:r>
            <a:endParaRPr b="0" i="0" sz="1400" u="none" cap="none" strike="noStrike">
              <a:solidFill>
                <a:srgbClr val="000000"/>
              </a:solidFill>
              <a:latin typeface="Arial"/>
              <a:ea typeface="Arial"/>
              <a:cs typeface="Arial"/>
              <a:sym typeface="Arial"/>
            </a:endParaRPr>
          </a:p>
        </p:txBody>
      </p:sp>
      <p:sp>
        <p:nvSpPr>
          <p:cNvPr id="513" name="Google Shape;513;p29"/>
          <p:cNvSpPr/>
          <p:nvPr/>
        </p:nvSpPr>
        <p:spPr>
          <a:xfrm>
            <a:off x="6039210" y="2486763"/>
            <a:ext cx="2560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a:t>
            </a:r>
            <a:r>
              <a:rPr b="1" lang="en-US" sz="2600">
                <a:solidFill>
                  <a:srgbClr val="2F61B8"/>
                </a:solidFill>
                <a:latin typeface="Calibri"/>
                <a:ea typeface="Calibri"/>
                <a:cs typeface="Calibri"/>
                <a:sym typeface="Calibri"/>
              </a:rPr>
              <a:t>38</a:t>
            </a:r>
            <a:r>
              <a:rPr b="1" i="0" lang="en-US" sz="2600" u="none" cap="none" strike="noStrike">
                <a:solidFill>
                  <a:srgbClr val="2F61B8"/>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gain vs baseline</a:t>
            </a:r>
            <a:endParaRPr b="0" i="0" sz="1400" u="none" cap="none" strike="noStrike">
              <a:solidFill>
                <a:srgbClr val="000000"/>
              </a:solidFill>
              <a:latin typeface="Arial"/>
              <a:ea typeface="Arial"/>
              <a:cs typeface="Arial"/>
              <a:sym typeface="Arial"/>
            </a:endParaRPr>
          </a:p>
        </p:txBody>
      </p:sp>
      <p:sp>
        <p:nvSpPr>
          <p:cNvPr id="514" name="Google Shape;514;p29"/>
          <p:cNvSpPr/>
          <p:nvPr/>
        </p:nvSpPr>
        <p:spPr>
          <a:xfrm>
            <a:off x="8965290" y="2486763"/>
            <a:ext cx="2560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0,9</a:t>
            </a:r>
            <a:r>
              <a:rPr b="1" lang="en-US" sz="2600">
                <a:solidFill>
                  <a:srgbClr val="2F61B8"/>
                </a:solidFill>
                <a:latin typeface="Calibri"/>
                <a:ea typeface="Calibri"/>
                <a:cs typeface="Calibri"/>
                <a:sym typeface="Calibri"/>
              </a:rPr>
              <a:t>57</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R² final</a:t>
            </a:r>
            <a:endParaRPr b="0" i="0" sz="1400" u="none" cap="none" strike="noStrike">
              <a:solidFill>
                <a:srgbClr val="000000"/>
              </a:solidFill>
              <a:latin typeface="Arial"/>
              <a:ea typeface="Arial"/>
              <a:cs typeface="Arial"/>
              <a:sym typeface="Arial"/>
            </a:endParaRPr>
          </a:p>
        </p:txBody>
      </p:sp>
      <p:sp>
        <p:nvSpPr>
          <p:cNvPr id="515" name="Google Shape;515;p29"/>
          <p:cNvSpPr txBox="1"/>
          <p:nvPr/>
        </p:nvSpPr>
        <p:spPr>
          <a:xfrm>
            <a:off x="914388" y="4361283"/>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LECTURE MÉTIER</a:t>
            </a:r>
            <a:endParaRPr b="0" i="0" sz="1800" u="none" cap="none" strike="noStrike">
              <a:solidFill>
                <a:srgbClr val="000000"/>
              </a:solidFill>
              <a:latin typeface="Arial"/>
              <a:ea typeface="Arial"/>
              <a:cs typeface="Arial"/>
              <a:sym typeface="Arial"/>
            </a:endParaRPr>
          </a:p>
        </p:txBody>
      </p:sp>
      <p:sp>
        <p:nvSpPr>
          <p:cNvPr id="516" name="Google Shape;516;p29"/>
          <p:cNvSpPr txBox="1"/>
          <p:nvPr/>
        </p:nvSpPr>
        <p:spPr>
          <a:xfrm>
            <a:off x="914388" y="4727043"/>
            <a:ext cx="10972800" cy="10158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Le modèle améliore nettement une règle naïve simple.</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Il suit correctement la dynamique générale de consommation.</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Les pics restent plus difficiles : axe d’amélioration identifié.</a:t>
            </a:r>
            <a:endParaRPr b="0" i="0" sz="1400" u="none" cap="none" strike="noStrike">
              <a:solidFill>
                <a:srgbClr val="000000"/>
              </a:solidFill>
              <a:latin typeface="Arial"/>
              <a:ea typeface="Arial"/>
              <a:cs typeface="Arial"/>
              <a:sym typeface="Arial"/>
            </a:endParaRPr>
          </a:p>
        </p:txBody>
      </p:sp>
      <p:sp>
        <p:nvSpPr>
          <p:cNvPr id="517" name="Google Shape;517;p29"/>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8" name="Google Shape;518;p29"/>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sp>
        <p:nvSpPr>
          <p:cNvPr id="519" name="Google Shape;519;p29"/>
          <p:cNvSpPr/>
          <p:nvPr/>
        </p:nvSpPr>
        <p:spPr>
          <a:xfrm>
            <a:off x="11883125" y="2486763"/>
            <a:ext cx="2560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lang="en-US" sz="2600">
                <a:solidFill>
                  <a:srgbClr val="2F61B8"/>
                </a:solidFill>
                <a:latin typeface="Calibri"/>
                <a:ea typeface="Calibri"/>
                <a:cs typeface="Calibri"/>
                <a:sym typeface="Calibri"/>
              </a:rPr>
              <a:t>3,43 %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lang="en-US" sz="1100">
                <a:solidFill>
                  <a:srgbClr val="5A6673"/>
                </a:solidFill>
                <a:latin typeface="Calibri"/>
                <a:ea typeface="Calibri"/>
                <a:cs typeface="Calibri"/>
                <a:sym typeface="Calibri"/>
              </a:rPr>
              <a:t>MAE / moyenne (pas MAPE)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3" name="Shape 523"/>
        <p:cNvGrpSpPr/>
        <p:nvPr/>
      </p:nvGrpSpPr>
      <p:grpSpPr>
        <a:xfrm>
          <a:off x="0" y="0"/>
          <a:ext cx="0" cy="0"/>
          <a:chOff x="0" y="0"/>
          <a:chExt cx="0" cy="0"/>
        </a:xfrm>
      </p:grpSpPr>
      <p:sp>
        <p:nvSpPr>
          <p:cNvPr id="524" name="Google Shape;524;p30"/>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Résultats</a:t>
            </a:r>
            <a:endParaRPr b="0" i="0" sz="1400" u="none" cap="none" strike="noStrike">
              <a:solidFill>
                <a:srgbClr val="000000"/>
              </a:solidFill>
              <a:latin typeface="Arial"/>
              <a:ea typeface="Arial"/>
              <a:cs typeface="Arial"/>
              <a:sym typeface="Arial"/>
            </a:endParaRPr>
          </a:p>
        </p:txBody>
      </p:sp>
      <p:sp>
        <p:nvSpPr>
          <p:cNvPr id="525" name="Google Shape;525;p30"/>
          <p:cNvSpPr txBox="1"/>
          <p:nvPr/>
        </p:nvSpPr>
        <p:spPr>
          <a:xfrm>
            <a:off x="731520" y="502920"/>
            <a:ext cx="98754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Test 2025 — réel vs météo parfaite</a:t>
            </a:r>
            <a:endParaRPr b="0" i="0" sz="1400" u="none" cap="none" strike="noStrike">
              <a:solidFill>
                <a:srgbClr val="000000"/>
              </a:solidFill>
              <a:latin typeface="Arial"/>
              <a:ea typeface="Arial"/>
              <a:cs typeface="Arial"/>
              <a:sym typeface="Arial"/>
            </a:endParaRPr>
          </a:p>
        </p:txBody>
      </p:sp>
      <p:sp>
        <p:nvSpPr>
          <p:cNvPr id="526" name="Google Shape;526;p30"/>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7" name="Google Shape;527;p30"/>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pic>
        <p:nvPicPr>
          <p:cNvPr id="528" name="Google Shape;528;p30"/>
          <p:cNvPicPr preferRelativeResize="0"/>
          <p:nvPr/>
        </p:nvPicPr>
        <p:blipFill>
          <a:blip r:embed="rId3">
            <a:alphaModFix/>
          </a:blip>
          <a:stretch>
            <a:fillRect/>
          </a:stretch>
        </p:blipFill>
        <p:spPr>
          <a:xfrm>
            <a:off x="2040400" y="1270920"/>
            <a:ext cx="10549601" cy="633079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2" name="Shape 532"/>
        <p:cNvGrpSpPr/>
        <p:nvPr/>
      </p:nvGrpSpPr>
      <p:grpSpPr>
        <a:xfrm>
          <a:off x="0" y="0"/>
          <a:ext cx="0" cy="0"/>
          <a:chOff x="0" y="0"/>
          <a:chExt cx="0" cy="0"/>
        </a:xfrm>
      </p:grpSpPr>
      <p:sp>
        <p:nvSpPr>
          <p:cNvPr id="533" name="Google Shape;533;p31"/>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C5.3.1</a:t>
            </a:r>
            <a:endParaRPr b="0" i="0" sz="1400" u="none" cap="none" strike="noStrike">
              <a:solidFill>
                <a:srgbClr val="000000"/>
              </a:solidFill>
              <a:latin typeface="Arial"/>
              <a:ea typeface="Arial"/>
              <a:cs typeface="Arial"/>
              <a:sym typeface="Arial"/>
            </a:endParaRPr>
          </a:p>
        </p:txBody>
      </p:sp>
      <p:sp>
        <p:nvSpPr>
          <p:cNvPr id="534" name="Google Shape;534;p31"/>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Sauvegarder et réutiliser le modèle</a:t>
            </a:r>
            <a:endParaRPr b="0" i="0" sz="1400" u="none" cap="none" strike="noStrike">
              <a:solidFill>
                <a:srgbClr val="000000"/>
              </a:solidFill>
              <a:latin typeface="Arial"/>
              <a:ea typeface="Arial"/>
              <a:cs typeface="Arial"/>
              <a:sym typeface="Arial"/>
            </a:endParaRPr>
          </a:p>
        </p:txBody>
      </p:sp>
      <p:sp>
        <p:nvSpPr>
          <p:cNvPr id="535" name="Google Shape;535;p31"/>
          <p:cNvSpPr txBox="1"/>
          <p:nvPr/>
        </p:nvSpPr>
        <p:spPr>
          <a:xfrm>
            <a:off x="822960" y="173736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ARTEFACTS</a:t>
            </a:r>
            <a:endParaRPr b="0" i="0" sz="1800" u="none" cap="none" strike="noStrike">
              <a:solidFill>
                <a:srgbClr val="000000"/>
              </a:solidFill>
              <a:latin typeface="Arial"/>
              <a:ea typeface="Arial"/>
              <a:cs typeface="Arial"/>
              <a:sym typeface="Arial"/>
            </a:endParaRPr>
          </a:p>
        </p:txBody>
      </p:sp>
      <p:sp>
        <p:nvSpPr>
          <p:cNvPr id="536" name="Google Shape;536;p31"/>
          <p:cNvSpPr txBox="1"/>
          <p:nvPr/>
        </p:nvSpPr>
        <p:spPr>
          <a:xfrm>
            <a:off x="822960" y="2103120"/>
            <a:ext cx="5669400" cy="7080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artifacts/oracle_pipeline/model.joblib</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artifacts/oracle_pipeline/metadata.json</a:t>
            </a:r>
            <a:endParaRPr b="0" i="0" sz="1400" u="none" cap="none" strike="noStrike">
              <a:solidFill>
                <a:srgbClr val="000000"/>
              </a:solidFill>
              <a:latin typeface="Arial"/>
              <a:ea typeface="Arial"/>
              <a:cs typeface="Arial"/>
              <a:sym typeface="Arial"/>
            </a:endParaRPr>
          </a:p>
        </p:txBody>
      </p:sp>
      <p:sp>
        <p:nvSpPr>
          <p:cNvPr id="537" name="Google Shape;537;p31"/>
          <p:cNvSpPr txBox="1"/>
          <p:nvPr/>
        </p:nvSpPr>
        <p:spPr>
          <a:xfrm>
            <a:off x="7594700" y="4389135"/>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MÉTADONNÉES</a:t>
            </a:r>
            <a:endParaRPr b="0" i="0" sz="1800" u="none" cap="none" strike="noStrike">
              <a:solidFill>
                <a:srgbClr val="000000"/>
              </a:solidFill>
              <a:latin typeface="Arial"/>
              <a:ea typeface="Arial"/>
              <a:cs typeface="Arial"/>
              <a:sym typeface="Arial"/>
            </a:endParaRPr>
          </a:p>
        </p:txBody>
      </p:sp>
      <p:sp>
        <p:nvSpPr>
          <p:cNvPr id="538" name="Google Shape;538;p31"/>
          <p:cNvSpPr txBox="1"/>
          <p:nvPr/>
        </p:nvSpPr>
        <p:spPr>
          <a:xfrm>
            <a:off x="7594700" y="4754903"/>
            <a:ext cx="4114800" cy="16317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version : 2.0.0-oracle</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13 variables (10 + 3 météo)</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hyperparamètres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metrics : validation 2024 / test 2025</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experimental_oracle : true</a:t>
            </a:r>
            <a:endParaRPr b="0" i="0" sz="1400" u="none" cap="none" strike="noStrike">
              <a:solidFill>
                <a:srgbClr val="000000"/>
              </a:solidFill>
              <a:latin typeface="Arial"/>
              <a:ea typeface="Arial"/>
              <a:cs typeface="Arial"/>
              <a:sym typeface="Arial"/>
            </a:endParaRPr>
          </a:p>
        </p:txBody>
      </p:sp>
      <p:sp>
        <p:nvSpPr>
          <p:cNvPr id="539" name="Google Shape;539;p31"/>
          <p:cNvSpPr txBox="1"/>
          <p:nvPr/>
        </p:nvSpPr>
        <p:spPr>
          <a:xfrm>
            <a:off x="822960" y="43891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RÉUTILISATION</a:t>
            </a:r>
            <a:endParaRPr b="0" i="0" sz="1800" u="none" cap="none" strike="noStrike">
              <a:solidFill>
                <a:srgbClr val="000000"/>
              </a:solidFill>
              <a:latin typeface="Arial"/>
              <a:ea typeface="Arial"/>
              <a:cs typeface="Arial"/>
              <a:sym typeface="Arial"/>
            </a:endParaRPr>
          </a:p>
        </p:txBody>
      </p:sp>
      <p:sp>
        <p:nvSpPr>
          <p:cNvPr id="540" name="Google Shape;540;p31"/>
          <p:cNvSpPr txBox="1"/>
          <p:nvPr/>
        </p:nvSpPr>
        <p:spPr>
          <a:xfrm>
            <a:off x="822960" y="4754880"/>
            <a:ext cx="10058400" cy="10158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features.py + weather.py : variables oracle</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predict_oracle.py : simulation à H+24</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Artefact rechargé et prédiction vérifiée</a:t>
            </a:r>
            <a:endParaRPr b="0" i="0" sz="1400" u="none" cap="none" strike="noStrike">
              <a:solidFill>
                <a:srgbClr val="000000"/>
              </a:solidFill>
              <a:latin typeface="Arial"/>
              <a:ea typeface="Arial"/>
              <a:cs typeface="Arial"/>
              <a:sym typeface="Arial"/>
            </a:endParaRPr>
          </a:p>
        </p:txBody>
      </p:sp>
      <p:sp>
        <p:nvSpPr>
          <p:cNvPr id="541" name="Google Shape;541;p31"/>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2" name="Google Shape;542;p31"/>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pic>
        <p:nvPicPr>
          <p:cNvPr id="543" name="Google Shape;543;p31"/>
          <p:cNvPicPr preferRelativeResize="0"/>
          <p:nvPr/>
        </p:nvPicPr>
        <p:blipFill rotWithShape="1">
          <a:blip r:embed="rId3">
            <a:alphaModFix/>
          </a:blip>
          <a:srcRect b="0" l="0" r="0" t="0"/>
          <a:stretch/>
        </p:blipFill>
        <p:spPr>
          <a:xfrm>
            <a:off x="8368215" y="1000470"/>
            <a:ext cx="3718561" cy="319734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7" name="Shape 547"/>
        <p:cNvGrpSpPr/>
        <p:nvPr/>
      </p:nvGrpSpPr>
      <p:grpSpPr>
        <a:xfrm>
          <a:off x="0" y="0"/>
          <a:ext cx="0" cy="0"/>
          <a:chOff x="0" y="0"/>
          <a:chExt cx="0" cy="0"/>
        </a:xfrm>
      </p:grpSpPr>
      <p:sp>
        <p:nvSpPr>
          <p:cNvPr id="548" name="Google Shape;548;p32"/>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C5.3.2</a:t>
            </a:r>
            <a:endParaRPr b="0" i="0" sz="1400" u="none" cap="none" strike="noStrike">
              <a:solidFill>
                <a:srgbClr val="000000"/>
              </a:solidFill>
              <a:latin typeface="Arial"/>
              <a:ea typeface="Arial"/>
              <a:cs typeface="Arial"/>
              <a:sym typeface="Arial"/>
            </a:endParaRPr>
          </a:p>
        </p:txBody>
      </p:sp>
      <p:sp>
        <p:nvSpPr>
          <p:cNvPr id="549" name="Google Shape;549;p32"/>
          <p:cNvSpPr txBox="1"/>
          <p:nvPr/>
        </p:nvSpPr>
        <p:spPr>
          <a:xfrm>
            <a:off x="731520" y="502920"/>
            <a:ext cx="98754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Automatiser les tests et la traçabilité</a:t>
            </a:r>
            <a:endParaRPr b="0" i="0" sz="1400" u="none" cap="none" strike="noStrike">
              <a:solidFill>
                <a:srgbClr val="000000"/>
              </a:solidFill>
              <a:latin typeface="Arial"/>
              <a:ea typeface="Arial"/>
              <a:cs typeface="Arial"/>
              <a:sym typeface="Arial"/>
            </a:endParaRPr>
          </a:p>
        </p:txBody>
      </p:sp>
      <p:sp>
        <p:nvSpPr>
          <p:cNvPr id="550" name="Google Shape;550;p32"/>
          <p:cNvSpPr txBox="1"/>
          <p:nvPr/>
        </p:nvSpPr>
        <p:spPr>
          <a:xfrm>
            <a:off x="822972" y="1405245"/>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CI/CD LÉGER</a:t>
            </a:r>
            <a:endParaRPr b="0" i="0" sz="1800" u="none" cap="none" strike="noStrike">
              <a:solidFill>
                <a:srgbClr val="000000"/>
              </a:solidFill>
              <a:latin typeface="Arial"/>
              <a:ea typeface="Arial"/>
              <a:cs typeface="Arial"/>
              <a:sym typeface="Arial"/>
            </a:endParaRPr>
          </a:p>
        </p:txBody>
      </p:sp>
      <p:sp>
        <p:nvSpPr>
          <p:cNvPr id="551" name="Google Shape;551;p32"/>
          <p:cNvSpPr txBox="1"/>
          <p:nvPr/>
        </p:nvSpPr>
        <p:spPr>
          <a:xfrm>
            <a:off x="822972" y="1771005"/>
            <a:ext cx="5669400" cy="969600"/>
          </a:xfrm>
          <a:prstGeom prst="rect">
            <a:avLst/>
          </a:prstGeom>
          <a:noFill/>
          <a:ln>
            <a:noFill/>
          </a:ln>
        </p:spPr>
        <p:txBody>
          <a:bodyPr anchorCtr="0" anchor="t" bIns="45700" lIns="91425" spcFirstLastPara="1" rIns="91425" wrap="square" tIns="45700">
            <a:spAutoFit/>
          </a:bodyPr>
          <a:lstStyle/>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Pytest : 22 tests locaux réussis</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GitHub Actions : exécution automatique des tests</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Météo, H+24, splits et standardisation testés</a:t>
            </a:r>
            <a:endParaRPr b="0" i="0" sz="1400" u="none" cap="none" strike="noStrike">
              <a:solidFill>
                <a:srgbClr val="000000"/>
              </a:solidFill>
              <a:latin typeface="Arial"/>
              <a:ea typeface="Arial"/>
              <a:cs typeface="Arial"/>
              <a:sym typeface="Arial"/>
            </a:endParaRPr>
          </a:p>
        </p:txBody>
      </p:sp>
      <p:sp>
        <p:nvSpPr>
          <p:cNvPr id="552" name="Google Shape;552;p32"/>
          <p:cNvSpPr/>
          <p:nvPr/>
        </p:nvSpPr>
        <p:spPr>
          <a:xfrm>
            <a:off x="0" y="8001000"/>
            <a:ext cx="14630400" cy="4560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3" name="Google Shape;553;p32"/>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pic>
        <p:nvPicPr>
          <p:cNvPr id="554" name="Google Shape;554;p32"/>
          <p:cNvPicPr preferRelativeResize="0"/>
          <p:nvPr/>
        </p:nvPicPr>
        <p:blipFill rotWithShape="1">
          <a:blip r:embed="rId3">
            <a:alphaModFix/>
          </a:blip>
          <a:srcRect b="0" l="0" r="0" t="0"/>
          <a:stretch/>
        </p:blipFill>
        <p:spPr>
          <a:xfrm>
            <a:off x="774290" y="3227399"/>
            <a:ext cx="5766725" cy="4388875"/>
          </a:xfrm>
          <a:prstGeom prst="rect">
            <a:avLst/>
          </a:prstGeom>
          <a:noFill/>
          <a:ln>
            <a:noFill/>
          </a:ln>
        </p:spPr>
      </p:pic>
      <p:pic>
        <p:nvPicPr>
          <p:cNvPr id="555" name="Google Shape;555;p32"/>
          <p:cNvPicPr preferRelativeResize="0"/>
          <p:nvPr/>
        </p:nvPicPr>
        <p:blipFill rotWithShape="1">
          <a:blip r:embed="rId4">
            <a:alphaModFix/>
          </a:blip>
          <a:srcRect b="0" l="0" r="0" t="0"/>
          <a:stretch/>
        </p:blipFill>
        <p:spPr>
          <a:xfrm>
            <a:off x="6949615" y="3227395"/>
            <a:ext cx="2657475" cy="857250"/>
          </a:xfrm>
          <a:prstGeom prst="rect">
            <a:avLst/>
          </a:prstGeom>
          <a:noFill/>
          <a:ln>
            <a:noFill/>
          </a:ln>
        </p:spPr>
      </p:pic>
      <p:pic>
        <p:nvPicPr>
          <p:cNvPr id="556" name="Google Shape;556;p32"/>
          <p:cNvPicPr preferRelativeResize="0"/>
          <p:nvPr/>
        </p:nvPicPr>
        <p:blipFill rotWithShape="1">
          <a:blip r:embed="rId5">
            <a:alphaModFix/>
          </a:blip>
          <a:srcRect b="0" l="0" r="0" t="0"/>
          <a:stretch/>
        </p:blipFill>
        <p:spPr>
          <a:xfrm>
            <a:off x="6949615" y="4612208"/>
            <a:ext cx="7353300" cy="1619250"/>
          </a:xfrm>
          <a:prstGeom prst="rect">
            <a:avLst/>
          </a:prstGeom>
          <a:noFill/>
          <a:ln>
            <a:noFill/>
          </a:ln>
        </p:spPr>
      </p:pic>
      <p:sp>
        <p:nvSpPr>
          <p:cNvPr id="557" name="Google Shape;557;p32"/>
          <p:cNvSpPr txBox="1"/>
          <p:nvPr/>
        </p:nvSpPr>
        <p:spPr>
          <a:xfrm>
            <a:off x="7057260" y="140524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OBJECTIF</a:t>
            </a:r>
            <a:endParaRPr b="0" i="0" sz="1800" u="none" cap="none" strike="noStrike">
              <a:solidFill>
                <a:srgbClr val="000000"/>
              </a:solidFill>
              <a:latin typeface="Arial"/>
              <a:ea typeface="Arial"/>
              <a:cs typeface="Arial"/>
              <a:sym typeface="Arial"/>
            </a:endParaRPr>
          </a:p>
        </p:txBody>
      </p:sp>
      <p:sp>
        <p:nvSpPr>
          <p:cNvPr id="558" name="Google Shape;558;p32"/>
          <p:cNvSpPr txBox="1"/>
          <p:nvPr/>
        </p:nvSpPr>
        <p:spPr>
          <a:xfrm>
            <a:off x="7057250" y="1771000"/>
            <a:ext cx="6133500" cy="9234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Détecter les régressions du code</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Faciliter le déploiement d’une nouvelle version</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2" name="Shape 562"/>
        <p:cNvGrpSpPr/>
        <p:nvPr/>
      </p:nvGrpSpPr>
      <p:grpSpPr>
        <a:xfrm>
          <a:off x="0" y="0"/>
          <a:ext cx="0" cy="0"/>
          <a:chOff x="0" y="0"/>
          <a:chExt cx="0" cy="0"/>
        </a:xfrm>
      </p:grpSpPr>
      <p:sp>
        <p:nvSpPr>
          <p:cNvPr id="563" name="Google Shape;563;p33"/>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C5.3.2</a:t>
            </a:r>
            <a:endParaRPr b="0" i="0" sz="1400" u="none" cap="none" strike="noStrike">
              <a:solidFill>
                <a:srgbClr val="000000"/>
              </a:solidFill>
              <a:latin typeface="Arial"/>
              <a:ea typeface="Arial"/>
              <a:cs typeface="Arial"/>
              <a:sym typeface="Arial"/>
            </a:endParaRPr>
          </a:p>
        </p:txBody>
      </p:sp>
      <p:sp>
        <p:nvSpPr>
          <p:cNvPr id="564" name="Google Shape;564;p33"/>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Automatiser les tests et la traçabilité</a:t>
            </a:r>
            <a:endParaRPr b="0" i="0" sz="1400" u="none" cap="none" strike="noStrike">
              <a:solidFill>
                <a:srgbClr val="000000"/>
              </a:solidFill>
              <a:latin typeface="Arial"/>
              <a:ea typeface="Arial"/>
              <a:cs typeface="Arial"/>
              <a:sym typeface="Arial"/>
            </a:endParaRPr>
          </a:p>
        </p:txBody>
      </p:sp>
      <p:sp>
        <p:nvSpPr>
          <p:cNvPr id="565" name="Google Shape;565;p33"/>
          <p:cNvSpPr txBox="1"/>
          <p:nvPr/>
        </p:nvSpPr>
        <p:spPr>
          <a:xfrm>
            <a:off x="731525" y="116457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MLFLOW</a:t>
            </a:r>
            <a:endParaRPr b="0" i="0" sz="1800" u="none" cap="none" strike="noStrike">
              <a:solidFill>
                <a:srgbClr val="000000"/>
              </a:solidFill>
              <a:latin typeface="Arial"/>
              <a:ea typeface="Arial"/>
              <a:cs typeface="Arial"/>
              <a:sym typeface="Arial"/>
            </a:endParaRPr>
          </a:p>
        </p:txBody>
      </p:sp>
      <p:sp>
        <p:nvSpPr>
          <p:cNvPr id="566" name="Google Shape;566;p33"/>
          <p:cNvSpPr txBox="1"/>
          <p:nvPr/>
        </p:nvSpPr>
        <p:spPr>
          <a:xfrm>
            <a:off x="731525" y="1530330"/>
            <a:ext cx="5212200" cy="1262100"/>
          </a:xfrm>
          <a:prstGeom prst="rect">
            <a:avLst/>
          </a:prstGeom>
          <a:noFill/>
          <a:ln>
            <a:noFill/>
          </a:ln>
        </p:spPr>
        <p:txBody>
          <a:bodyPr anchorCtr="0" anchor="t" bIns="45700" lIns="91425" spcFirstLastPara="1" rIns="91425" wrap="square" tIns="45700">
            <a:spAutoFit/>
          </a:bodyPr>
          <a:lstStyle/>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Expérience : electricity_consumption_j1_oracle</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Métriques 2024 / 2025 + paramètres</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Modèle, JSON et prédictions CSV</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Registry : modèle oracle, version 1</a:t>
            </a:r>
            <a:endParaRPr b="0" i="0" sz="1400" u="none" cap="none" strike="noStrike">
              <a:solidFill>
                <a:srgbClr val="000000"/>
              </a:solidFill>
              <a:latin typeface="Arial"/>
              <a:ea typeface="Arial"/>
              <a:cs typeface="Arial"/>
              <a:sym typeface="Arial"/>
            </a:endParaRPr>
          </a:p>
        </p:txBody>
      </p:sp>
      <p:sp>
        <p:nvSpPr>
          <p:cNvPr id="567" name="Google Shape;567;p33"/>
          <p:cNvSpPr txBox="1"/>
          <p:nvPr/>
        </p:nvSpPr>
        <p:spPr>
          <a:xfrm>
            <a:off x="822960" y="466344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OBJECTIF</a:t>
            </a:r>
            <a:endParaRPr b="0" i="0" sz="1800" u="none" cap="none" strike="noStrike">
              <a:solidFill>
                <a:srgbClr val="000000"/>
              </a:solidFill>
              <a:latin typeface="Arial"/>
              <a:ea typeface="Arial"/>
              <a:cs typeface="Arial"/>
              <a:sym typeface="Arial"/>
            </a:endParaRPr>
          </a:p>
        </p:txBody>
      </p:sp>
      <p:sp>
        <p:nvSpPr>
          <p:cNvPr id="568" name="Google Shape;568;p33"/>
          <p:cNvSpPr txBox="1"/>
          <p:nvPr/>
        </p:nvSpPr>
        <p:spPr>
          <a:xfrm>
            <a:off x="822955" y="5029200"/>
            <a:ext cx="5669400" cy="10158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Assurer la reproductibilité</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Limiter les régressions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Tracer les versions du modèle</a:t>
            </a:r>
            <a:endParaRPr b="0" i="0" sz="1400" u="none" cap="none" strike="noStrike">
              <a:solidFill>
                <a:srgbClr val="000000"/>
              </a:solidFill>
              <a:latin typeface="Arial"/>
              <a:ea typeface="Arial"/>
              <a:cs typeface="Arial"/>
              <a:sym typeface="Arial"/>
            </a:endParaRPr>
          </a:p>
        </p:txBody>
      </p:sp>
      <p:sp>
        <p:nvSpPr>
          <p:cNvPr id="569" name="Google Shape;569;p33"/>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0" name="Google Shape;570;p33"/>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pic>
        <p:nvPicPr>
          <p:cNvPr id="571" name="Google Shape;571;p33"/>
          <p:cNvPicPr preferRelativeResize="0"/>
          <p:nvPr/>
        </p:nvPicPr>
        <p:blipFill rotWithShape="1">
          <a:blip r:embed="rId3">
            <a:alphaModFix/>
          </a:blip>
          <a:srcRect b="0" l="0" r="0" t="0"/>
          <a:stretch/>
        </p:blipFill>
        <p:spPr>
          <a:xfrm>
            <a:off x="6492355" y="1234440"/>
            <a:ext cx="7833246" cy="489150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5" name="Shape 575"/>
        <p:cNvGrpSpPr/>
        <p:nvPr/>
      </p:nvGrpSpPr>
      <p:grpSpPr>
        <a:xfrm>
          <a:off x="0" y="0"/>
          <a:ext cx="0" cy="0"/>
          <a:chOff x="0" y="0"/>
          <a:chExt cx="0" cy="0"/>
        </a:xfrm>
      </p:grpSpPr>
      <p:sp>
        <p:nvSpPr>
          <p:cNvPr id="576" name="Google Shape;576;p34"/>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C5.3.3</a:t>
            </a:r>
            <a:endParaRPr b="0" i="0" sz="1400" u="none" cap="none" strike="noStrike">
              <a:solidFill>
                <a:srgbClr val="000000"/>
              </a:solidFill>
              <a:latin typeface="Arial"/>
              <a:ea typeface="Arial"/>
              <a:cs typeface="Arial"/>
              <a:sym typeface="Arial"/>
            </a:endParaRPr>
          </a:p>
        </p:txBody>
      </p:sp>
      <p:sp>
        <p:nvSpPr>
          <p:cNvPr id="577" name="Google Shape;577;p34"/>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Suivi des erreurs — prototype et oracle</a:t>
            </a:r>
            <a:endParaRPr b="0" i="0" sz="1400" u="none" cap="none" strike="noStrike">
              <a:solidFill>
                <a:srgbClr val="000000"/>
              </a:solidFill>
              <a:latin typeface="Arial"/>
              <a:ea typeface="Arial"/>
              <a:cs typeface="Arial"/>
              <a:sym typeface="Arial"/>
            </a:endParaRPr>
          </a:p>
        </p:txBody>
      </p:sp>
      <p:sp>
        <p:nvSpPr>
          <p:cNvPr id="578" name="Google Shape;578;p34"/>
          <p:cNvSpPr txBox="1"/>
          <p:nvPr/>
        </p:nvSpPr>
        <p:spPr>
          <a:xfrm>
            <a:off x="82296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PROTOTYPE DE MONITORING</a:t>
            </a:r>
            <a:endParaRPr b="0" i="0" sz="1800" u="none" cap="none" strike="noStrike">
              <a:solidFill>
                <a:srgbClr val="000000"/>
              </a:solidFill>
              <a:latin typeface="Arial"/>
              <a:ea typeface="Arial"/>
              <a:cs typeface="Arial"/>
              <a:sym typeface="Arial"/>
            </a:endParaRPr>
          </a:p>
        </p:txBody>
      </p:sp>
      <p:sp>
        <p:nvSpPr>
          <p:cNvPr id="579" name="Google Shape;579;p34"/>
          <p:cNvSpPr txBox="1"/>
          <p:nvPr/>
        </p:nvSpPr>
        <p:spPr>
          <a:xfrm>
            <a:off x="822950" y="2011673"/>
            <a:ext cx="4755000" cy="1554600"/>
          </a:xfrm>
          <a:prstGeom prst="rect">
            <a:avLst/>
          </a:prstGeom>
          <a:noFill/>
          <a:ln>
            <a:noFill/>
          </a:ln>
        </p:spPr>
        <p:txBody>
          <a:bodyPr anchorCtr="0" anchor="t" bIns="45700" lIns="91425" spcFirstLastPara="1" rIns="91425" wrap="square" tIns="45700">
            <a:spAutoFit/>
          </a:bodyPr>
          <a:lstStyle/>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timestamp source</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timestamp prédit</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prédiction MW</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valeur réelle quand disponible</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version du modèle</a:t>
            </a:r>
            <a:endParaRPr b="0" i="0" sz="1400" u="none" cap="none" strike="noStrike">
              <a:solidFill>
                <a:srgbClr val="000000"/>
              </a:solidFill>
              <a:latin typeface="Arial"/>
              <a:ea typeface="Arial"/>
              <a:cs typeface="Arial"/>
              <a:sym typeface="Arial"/>
            </a:endParaRPr>
          </a:p>
        </p:txBody>
      </p:sp>
      <p:sp>
        <p:nvSpPr>
          <p:cNvPr id="580" name="Google Shape;580;p34"/>
          <p:cNvSpPr txBox="1"/>
          <p:nvPr/>
        </p:nvSpPr>
        <p:spPr>
          <a:xfrm>
            <a:off x="685800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MÉTRIQUES RECALCULÉES</a:t>
            </a:r>
            <a:endParaRPr b="0" i="0" sz="1800" u="none" cap="none" strike="noStrike">
              <a:solidFill>
                <a:srgbClr val="000000"/>
              </a:solidFill>
              <a:latin typeface="Arial"/>
              <a:ea typeface="Arial"/>
              <a:cs typeface="Arial"/>
              <a:sym typeface="Arial"/>
            </a:endParaRPr>
          </a:p>
        </p:txBody>
      </p:sp>
      <p:sp>
        <p:nvSpPr>
          <p:cNvPr id="581" name="Google Shape;581;p34"/>
          <p:cNvSpPr txBox="1"/>
          <p:nvPr/>
        </p:nvSpPr>
        <p:spPr>
          <a:xfrm>
            <a:off x="6858000" y="2011672"/>
            <a:ext cx="4755000" cy="1262100"/>
          </a:xfrm>
          <a:prstGeom prst="rect">
            <a:avLst/>
          </a:prstGeom>
          <a:noFill/>
          <a:ln>
            <a:noFill/>
          </a:ln>
        </p:spPr>
        <p:txBody>
          <a:bodyPr anchorCtr="0" anchor="t" bIns="45700" lIns="91425" spcFirstLastPara="1" rIns="91425" wrap="square" tIns="45700">
            <a:spAutoFit/>
          </a:bodyPr>
          <a:lstStyle/>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MAE</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RMSE</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R²</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fenêtre récente de prédictions</a:t>
            </a:r>
            <a:endParaRPr b="0" i="0" sz="1400" u="none" cap="none" strike="noStrike">
              <a:solidFill>
                <a:srgbClr val="000000"/>
              </a:solidFill>
              <a:latin typeface="Arial"/>
              <a:ea typeface="Arial"/>
              <a:cs typeface="Arial"/>
              <a:sym typeface="Arial"/>
            </a:endParaRPr>
          </a:p>
        </p:txBody>
      </p:sp>
      <p:sp>
        <p:nvSpPr>
          <p:cNvPr id="582" name="Google Shape;582;p34"/>
          <p:cNvSpPr/>
          <p:nvPr/>
        </p:nvSpPr>
        <p:spPr>
          <a:xfrm>
            <a:off x="929925" y="5202978"/>
            <a:ext cx="2743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&gt; +20%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alerte si MAE</a:t>
            </a:r>
            <a:endParaRPr b="0" i="0" sz="1400" u="none" cap="none" strike="noStrike">
              <a:solidFill>
                <a:srgbClr val="000000"/>
              </a:solidFill>
              <a:latin typeface="Arial"/>
              <a:ea typeface="Arial"/>
              <a:cs typeface="Arial"/>
              <a:sym typeface="Arial"/>
            </a:endParaRPr>
          </a:p>
        </p:txBody>
      </p:sp>
      <p:sp>
        <p:nvSpPr>
          <p:cNvPr id="583" name="Google Shape;583;p34"/>
          <p:cNvSpPr txBox="1"/>
          <p:nvPr/>
        </p:nvSpPr>
        <p:spPr>
          <a:xfrm>
            <a:off x="4297650" y="5147200"/>
            <a:ext cx="8229600" cy="102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monitoring.py compare la MAE récente à la référence ; MLflow conserve les runs.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Oracle : erreurs exportées dans predictions_2025.csv ; pas de suivi en production.</a:t>
            </a:r>
            <a:endParaRPr b="0" i="0" sz="1400" u="none" cap="none" strike="noStrike">
              <a:solidFill>
                <a:srgbClr val="000000"/>
              </a:solidFill>
              <a:latin typeface="Arial"/>
              <a:ea typeface="Arial"/>
              <a:cs typeface="Arial"/>
              <a:sym typeface="Arial"/>
            </a:endParaRPr>
          </a:p>
        </p:txBody>
      </p:sp>
      <p:sp>
        <p:nvSpPr>
          <p:cNvPr id="584" name="Google Shape;584;p34"/>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5" name="Google Shape;585;p34"/>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9" name="Shape 589"/>
        <p:cNvGrpSpPr/>
        <p:nvPr/>
      </p:nvGrpSpPr>
      <p:grpSpPr>
        <a:xfrm>
          <a:off x="0" y="0"/>
          <a:ext cx="0" cy="0"/>
          <a:chOff x="0" y="0"/>
          <a:chExt cx="0" cy="0"/>
        </a:xfrm>
      </p:grpSpPr>
      <p:sp>
        <p:nvSpPr>
          <p:cNvPr id="590" name="Google Shape;590;p35"/>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C5.3.4</a:t>
            </a:r>
            <a:endParaRPr b="0" i="0" sz="1400" u="none" cap="none" strike="noStrike">
              <a:solidFill>
                <a:srgbClr val="000000"/>
              </a:solidFill>
              <a:latin typeface="Arial"/>
              <a:ea typeface="Arial"/>
              <a:cs typeface="Arial"/>
              <a:sym typeface="Arial"/>
            </a:endParaRPr>
          </a:p>
        </p:txBody>
      </p:sp>
      <p:sp>
        <p:nvSpPr>
          <p:cNvPr id="591" name="Google Shape;591;p35"/>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Réentraîner — chaîne oracle reproductible</a:t>
            </a:r>
            <a:endParaRPr b="0" i="0" sz="1400" u="none" cap="none" strike="noStrike">
              <a:solidFill>
                <a:srgbClr val="000000"/>
              </a:solidFill>
              <a:latin typeface="Arial"/>
              <a:ea typeface="Arial"/>
              <a:cs typeface="Arial"/>
              <a:sym typeface="Arial"/>
            </a:endParaRPr>
          </a:p>
        </p:txBody>
      </p:sp>
      <p:sp>
        <p:nvSpPr>
          <p:cNvPr id="592" name="Google Shape;592;p35"/>
          <p:cNvSpPr/>
          <p:nvPr/>
        </p:nvSpPr>
        <p:spPr>
          <a:xfrm>
            <a:off x="845817" y="2926080"/>
            <a:ext cx="17373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202F"/>
                </a:solidFill>
                <a:latin typeface="Calibri"/>
                <a:ea typeface="Calibri"/>
                <a:cs typeface="Calibri"/>
                <a:sym typeface="Calibri"/>
              </a:rPr>
              <a:t>Nouvelles</a:t>
            </a:r>
            <a:br>
              <a:rPr b="1" i="0" lang="en-US" sz="1400" u="none" cap="none" strike="noStrike">
                <a:solidFill>
                  <a:srgbClr val="12202F"/>
                </a:solidFill>
                <a:latin typeface="Calibri"/>
                <a:ea typeface="Calibri"/>
                <a:cs typeface="Calibri"/>
                <a:sym typeface="Calibri"/>
              </a:rPr>
            </a:br>
            <a:r>
              <a:rPr b="1" i="0" lang="en-US" sz="1400" u="none" cap="none" strike="noStrike">
                <a:solidFill>
                  <a:srgbClr val="12202F"/>
                </a:solidFill>
                <a:latin typeface="Calibri"/>
                <a:ea typeface="Calibri"/>
                <a:cs typeface="Calibri"/>
                <a:sym typeface="Calibri"/>
              </a:rPr>
              <a:t>données</a:t>
            </a:r>
            <a:endParaRPr b="0" i="0" sz="1400" u="none" cap="none" strike="noStrike">
              <a:solidFill>
                <a:srgbClr val="000000"/>
              </a:solidFill>
              <a:latin typeface="Arial"/>
              <a:ea typeface="Arial"/>
              <a:cs typeface="Arial"/>
              <a:sym typeface="Arial"/>
            </a:endParaRPr>
          </a:p>
        </p:txBody>
      </p:sp>
      <p:cxnSp>
        <p:nvCxnSpPr>
          <p:cNvPr id="593" name="Google Shape;593;p35"/>
          <p:cNvCxnSpPr/>
          <p:nvPr/>
        </p:nvCxnSpPr>
        <p:spPr>
          <a:xfrm>
            <a:off x="2610610" y="3337560"/>
            <a:ext cx="4482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594" name="Google Shape;594;p35"/>
          <p:cNvSpPr/>
          <p:nvPr/>
        </p:nvSpPr>
        <p:spPr>
          <a:xfrm>
            <a:off x="3086098" y="2926080"/>
            <a:ext cx="17373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202F"/>
                </a:solidFill>
                <a:latin typeface="Calibri"/>
                <a:ea typeface="Calibri"/>
                <a:cs typeface="Calibri"/>
                <a:sym typeface="Calibri"/>
              </a:rPr>
              <a:t>Monitoring</a:t>
            </a:r>
            <a:endParaRPr b="0" i="0" sz="1400" u="none" cap="none" strike="noStrike">
              <a:solidFill>
                <a:srgbClr val="000000"/>
              </a:solidFill>
              <a:latin typeface="Arial"/>
              <a:ea typeface="Arial"/>
              <a:cs typeface="Arial"/>
              <a:sym typeface="Arial"/>
            </a:endParaRPr>
          </a:p>
        </p:txBody>
      </p:sp>
      <p:cxnSp>
        <p:nvCxnSpPr>
          <p:cNvPr id="595" name="Google Shape;595;p35"/>
          <p:cNvCxnSpPr/>
          <p:nvPr/>
        </p:nvCxnSpPr>
        <p:spPr>
          <a:xfrm>
            <a:off x="4850890" y="3337560"/>
            <a:ext cx="4482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596" name="Google Shape;596;p35"/>
          <p:cNvSpPr/>
          <p:nvPr/>
        </p:nvSpPr>
        <p:spPr>
          <a:xfrm>
            <a:off x="5326378" y="2926080"/>
            <a:ext cx="17373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202F"/>
                </a:solidFill>
                <a:latin typeface="Calibri"/>
                <a:ea typeface="Calibri"/>
                <a:cs typeface="Calibri"/>
                <a:sym typeface="Calibri"/>
              </a:rPr>
              <a:t>Réentraînement</a:t>
            </a:r>
            <a:endParaRPr b="0" i="0" sz="1400" u="none" cap="none" strike="noStrike">
              <a:solidFill>
                <a:srgbClr val="000000"/>
              </a:solidFill>
              <a:latin typeface="Arial"/>
              <a:ea typeface="Arial"/>
              <a:cs typeface="Arial"/>
              <a:sym typeface="Arial"/>
            </a:endParaRPr>
          </a:p>
        </p:txBody>
      </p:sp>
      <p:cxnSp>
        <p:nvCxnSpPr>
          <p:cNvPr id="597" name="Google Shape;597;p35"/>
          <p:cNvCxnSpPr/>
          <p:nvPr/>
        </p:nvCxnSpPr>
        <p:spPr>
          <a:xfrm>
            <a:off x="7091170" y="3337560"/>
            <a:ext cx="4482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598" name="Google Shape;598;p35"/>
          <p:cNvSpPr/>
          <p:nvPr/>
        </p:nvSpPr>
        <p:spPr>
          <a:xfrm>
            <a:off x="7566658" y="2926080"/>
            <a:ext cx="17373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202F"/>
                </a:solidFill>
                <a:latin typeface="Calibri"/>
                <a:ea typeface="Calibri"/>
                <a:cs typeface="Calibri"/>
                <a:sym typeface="Calibri"/>
              </a:rPr>
              <a:t>Modèle</a:t>
            </a:r>
            <a:br>
              <a:rPr b="1" i="0" lang="en-US" sz="1400" u="none" cap="none" strike="noStrike">
                <a:solidFill>
                  <a:srgbClr val="12202F"/>
                </a:solidFill>
                <a:latin typeface="Calibri"/>
                <a:ea typeface="Calibri"/>
                <a:cs typeface="Calibri"/>
                <a:sym typeface="Calibri"/>
              </a:rPr>
            </a:br>
            <a:r>
              <a:rPr b="1" i="0" lang="en-US" sz="1400" u="none" cap="none" strike="noStrike">
                <a:solidFill>
                  <a:srgbClr val="12202F"/>
                </a:solidFill>
                <a:latin typeface="Calibri"/>
                <a:ea typeface="Calibri"/>
                <a:cs typeface="Calibri"/>
                <a:sym typeface="Calibri"/>
              </a:rPr>
              <a:t>candidat</a:t>
            </a:r>
            <a:endParaRPr b="0" i="0" sz="1400" u="none" cap="none" strike="noStrike">
              <a:solidFill>
                <a:srgbClr val="000000"/>
              </a:solidFill>
              <a:latin typeface="Arial"/>
              <a:ea typeface="Arial"/>
              <a:cs typeface="Arial"/>
              <a:sym typeface="Arial"/>
            </a:endParaRPr>
          </a:p>
        </p:txBody>
      </p:sp>
      <p:cxnSp>
        <p:nvCxnSpPr>
          <p:cNvPr id="599" name="Google Shape;599;p35"/>
          <p:cNvCxnSpPr/>
          <p:nvPr/>
        </p:nvCxnSpPr>
        <p:spPr>
          <a:xfrm>
            <a:off x="9331450" y="3337560"/>
            <a:ext cx="4482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600" name="Google Shape;600;p35"/>
          <p:cNvSpPr/>
          <p:nvPr/>
        </p:nvSpPr>
        <p:spPr>
          <a:xfrm>
            <a:off x="9806938" y="2926080"/>
            <a:ext cx="17373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202F"/>
                </a:solidFill>
                <a:latin typeface="Calibri"/>
                <a:ea typeface="Calibri"/>
                <a:cs typeface="Calibri"/>
                <a:sym typeface="Calibri"/>
              </a:rPr>
              <a:t>MLflow</a:t>
            </a:r>
            <a:br>
              <a:rPr b="1" i="0" lang="en-US" sz="1400" u="none" cap="none" strike="noStrike">
                <a:solidFill>
                  <a:srgbClr val="12202F"/>
                </a:solidFill>
                <a:latin typeface="Calibri"/>
                <a:ea typeface="Calibri"/>
                <a:cs typeface="Calibri"/>
                <a:sym typeface="Calibri"/>
              </a:rPr>
            </a:br>
            <a:r>
              <a:rPr b="1" i="0" lang="en-US" sz="1400" u="none" cap="none" strike="noStrike">
                <a:solidFill>
                  <a:srgbClr val="12202F"/>
                </a:solidFill>
                <a:latin typeface="Calibri"/>
                <a:ea typeface="Calibri"/>
                <a:cs typeface="Calibri"/>
                <a:sym typeface="Calibri"/>
              </a:rPr>
              <a:t>Registry</a:t>
            </a:r>
            <a:endParaRPr b="0" i="0" sz="1400" u="none" cap="none" strike="noStrike">
              <a:solidFill>
                <a:srgbClr val="000000"/>
              </a:solidFill>
              <a:latin typeface="Arial"/>
              <a:ea typeface="Arial"/>
              <a:cs typeface="Arial"/>
              <a:sym typeface="Arial"/>
            </a:endParaRPr>
          </a:p>
        </p:txBody>
      </p:sp>
      <p:cxnSp>
        <p:nvCxnSpPr>
          <p:cNvPr id="601" name="Google Shape;601;p35"/>
          <p:cNvCxnSpPr/>
          <p:nvPr/>
        </p:nvCxnSpPr>
        <p:spPr>
          <a:xfrm>
            <a:off x="11571730" y="3337560"/>
            <a:ext cx="4482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602" name="Google Shape;602;p35"/>
          <p:cNvSpPr/>
          <p:nvPr/>
        </p:nvSpPr>
        <p:spPr>
          <a:xfrm>
            <a:off x="12047218" y="2926080"/>
            <a:ext cx="17373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202F"/>
                </a:solidFill>
                <a:latin typeface="Calibri"/>
                <a:ea typeface="Calibri"/>
                <a:cs typeface="Calibri"/>
                <a:sym typeface="Calibri"/>
              </a:rPr>
              <a:t>Promotion</a:t>
            </a:r>
            <a:br>
              <a:rPr b="1" i="0" lang="en-US" sz="1400" u="none" cap="none" strike="noStrike">
                <a:solidFill>
                  <a:srgbClr val="12202F"/>
                </a:solidFill>
                <a:latin typeface="Calibri"/>
                <a:ea typeface="Calibri"/>
                <a:cs typeface="Calibri"/>
                <a:sym typeface="Calibri"/>
              </a:rPr>
            </a:br>
            <a:r>
              <a:rPr b="1" i="0" lang="en-US" sz="1400" u="none" cap="none" strike="noStrike">
                <a:solidFill>
                  <a:srgbClr val="12202F"/>
                </a:solidFill>
                <a:latin typeface="Calibri"/>
                <a:ea typeface="Calibri"/>
                <a:cs typeface="Calibri"/>
                <a:sym typeface="Calibri"/>
              </a:rPr>
              <a:t>possible</a:t>
            </a:r>
            <a:endParaRPr b="0" i="0" sz="1400" u="none" cap="none" strike="noStrike">
              <a:solidFill>
                <a:srgbClr val="000000"/>
              </a:solidFill>
              <a:latin typeface="Arial"/>
              <a:ea typeface="Arial"/>
              <a:cs typeface="Arial"/>
              <a:sym typeface="Arial"/>
            </a:endParaRPr>
          </a:p>
        </p:txBody>
      </p:sp>
      <p:sp>
        <p:nvSpPr>
          <p:cNvPr id="603" name="Google Shape;603;p35"/>
          <p:cNvSpPr txBox="1"/>
          <p:nvPr/>
        </p:nvSpPr>
        <p:spPr>
          <a:xfrm>
            <a:off x="822960" y="466344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PRINCIPE</a:t>
            </a:r>
            <a:endParaRPr b="0" i="0" sz="1800" u="none" cap="none" strike="noStrike">
              <a:solidFill>
                <a:srgbClr val="000000"/>
              </a:solidFill>
              <a:latin typeface="Arial"/>
              <a:ea typeface="Arial"/>
              <a:cs typeface="Arial"/>
              <a:sym typeface="Arial"/>
            </a:endParaRPr>
          </a:p>
        </p:txBody>
      </p:sp>
      <p:sp>
        <p:nvSpPr>
          <p:cNvPr id="604" name="Google Shape;604;p35"/>
          <p:cNvSpPr txBox="1"/>
          <p:nvPr/>
        </p:nvSpPr>
        <p:spPr>
          <a:xfrm>
            <a:off x="822960" y="5029200"/>
            <a:ext cx="12070200" cy="13236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oracle_pipeline.py : dataset, validation, test et exports.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Modèle évalué sur 2025, entraîné avant le test.</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Modèle oracle enregistré séparément dans MLflow.</a:t>
            </a:r>
            <a:endParaRPr b="0" i="0" sz="2000" u="none" cap="none" strike="noStrike">
              <a:solidFill>
                <a:srgbClr val="12202F"/>
              </a:solidFill>
              <a:latin typeface="Calibri"/>
              <a:ea typeface="Calibri"/>
              <a:cs typeface="Calibri"/>
              <a:sym typeface="Calibri"/>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Rafraîchissement et contrôle du drift : automatisations envisagées, non planifiées dans cette chaîne.</a:t>
            </a:r>
            <a:endParaRPr b="0" i="0" sz="2000" u="none" cap="none" strike="noStrike">
              <a:solidFill>
                <a:srgbClr val="12202F"/>
              </a:solidFill>
              <a:latin typeface="Calibri"/>
              <a:ea typeface="Calibri"/>
              <a:cs typeface="Calibri"/>
              <a:sym typeface="Calibri"/>
            </a:endParaRPr>
          </a:p>
        </p:txBody>
      </p:sp>
      <p:sp>
        <p:nvSpPr>
          <p:cNvPr id="605" name="Google Shape;605;p35"/>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6" name="Google Shape;606;p35"/>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0" name="Shape 610"/>
        <p:cNvGrpSpPr/>
        <p:nvPr/>
      </p:nvGrpSpPr>
      <p:grpSpPr>
        <a:xfrm>
          <a:off x="0" y="0"/>
          <a:ext cx="0" cy="0"/>
          <a:chOff x="0" y="0"/>
          <a:chExt cx="0" cy="0"/>
        </a:xfrm>
      </p:grpSpPr>
      <p:sp>
        <p:nvSpPr>
          <p:cNvPr id="611" name="Google Shape;611;p36"/>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Conclusion</a:t>
            </a:r>
            <a:endParaRPr b="0" i="0" sz="1400" u="none" cap="none" strike="noStrike">
              <a:solidFill>
                <a:srgbClr val="000000"/>
              </a:solidFill>
              <a:latin typeface="Arial"/>
              <a:ea typeface="Arial"/>
              <a:cs typeface="Arial"/>
              <a:sym typeface="Arial"/>
            </a:endParaRPr>
          </a:p>
        </p:txBody>
      </p:sp>
      <p:sp>
        <p:nvSpPr>
          <p:cNvPr id="612" name="Google Shape;612;p36"/>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Bilan et perspectives</a:t>
            </a:r>
            <a:endParaRPr b="0" i="0" sz="1400" u="none" cap="none" strike="noStrike">
              <a:solidFill>
                <a:srgbClr val="000000"/>
              </a:solidFill>
              <a:latin typeface="Arial"/>
              <a:ea typeface="Arial"/>
              <a:cs typeface="Arial"/>
              <a:sym typeface="Arial"/>
            </a:endParaRPr>
          </a:p>
        </p:txBody>
      </p:sp>
      <p:sp>
        <p:nvSpPr>
          <p:cNvPr id="613" name="Google Shape;613;p36"/>
          <p:cNvSpPr txBox="1"/>
          <p:nvPr/>
        </p:nvSpPr>
        <p:spPr>
          <a:xfrm>
            <a:off x="822960" y="173736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BILAN</a:t>
            </a:r>
            <a:endParaRPr b="0" i="0" sz="1800" u="none" cap="none" strike="noStrike">
              <a:solidFill>
                <a:srgbClr val="000000"/>
              </a:solidFill>
              <a:latin typeface="Arial"/>
              <a:ea typeface="Arial"/>
              <a:cs typeface="Arial"/>
              <a:sym typeface="Arial"/>
            </a:endParaRPr>
          </a:p>
        </p:txBody>
      </p:sp>
      <p:sp>
        <p:nvSpPr>
          <p:cNvPr id="614" name="Google Shape;614;p36"/>
          <p:cNvSpPr txBox="1"/>
          <p:nvPr/>
        </p:nvSpPr>
        <p:spPr>
          <a:xfrm>
            <a:off x="822950" y="2103127"/>
            <a:ext cx="5943600" cy="13236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Chaîne H+24 avec météo parfaite</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MAE : −37,5 % vs baseline ; −22 % vs HGB</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MAE 161,8 MW ; 3,43 % de la conso moyenne</a:t>
            </a:r>
            <a:endParaRPr b="0" i="0" sz="1400" u="none" cap="none" strike="noStrike">
              <a:solidFill>
                <a:srgbClr val="000000"/>
              </a:solidFill>
              <a:latin typeface="Arial"/>
              <a:ea typeface="Arial"/>
              <a:cs typeface="Arial"/>
              <a:sym typeface="Arial"/>
            </a:endParaRPr>
          </a:p>
        </p:txBody>
      </p:sp>
      <p:sp>
        <p:nvSpPr>
          <p:cNvPr id="615" name="Google Shape;615;p36"/>
          <p:cNvSpPr txBox="1"/>
          <p:nvPr/>
        </p:nvSpPr>
        <p:spPr>
          <a:xfrm>
            <a:off x="7315200" y="173736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LIMITES</a:t>
            </a:r>
            <a:endParaRPr b="0" i="0" sz="1800" u="none" cap="none" strike="noStrike">
              <a:solidFill>
                <a:srgbClr val="000000"/>
              </a:solidFill>
              <a:latin typeface="Arial"/>
              <a:ea typeface="Arial"/>
              <a:cs typeface="Arial"/>
              <a:sym typeface="Arial"/>
            </a:endParaRPr>
          </a:p>
        </p:txBody>
      </p:sp>
      <p:sp>
        <p:nvSpPr>
          <p:cNvPr id="616" name="Google Shape;616;p36"/>
          <p:cNvSpPr txBox="1"/>
          <p:nvPr/>
        </p:nvSpPr>
        <p:spPr>
          <a:xfrm>
            <a:off x="7315200" y="2103127"/>
            <a:ext cx="5669400" cy="13236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Performance plus faible pendant les pics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Météo intégrée en expérimentation ; jours fériés non intégrés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Oracle rétrospectif ; production à adapter</a:t>
            </a:r>
            <a:endParaRPr b="0" i="0" sz="1400" u="none" cap="none" strike="noStrike">
              <a:solidFill>
                <a:srgbClr val="000000"/>
              </a:solidFill>
              <a:latin typeface="Arial"/>
              <a:ea typeface="Arial"/>
              <a:cs typeface="Arial"/>
              <a:sym typeface="Arial"/>
            </a:endParaRPr>
          </a:p>
        </p:txBody>
      </p:sp>
      <p:sp>
        <p:nvSpPr>
          <p:cNvPr id="617" name="Google Shape;617;p36"/>
          <p:cNvSpPr txBox="1"/>
          <p:nvPr/>
        </p:nvSpPr>
        <p:spPr>
          <a:xfrm>
            <a:off x="822960" y="457200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PERSPECTIVES</a:t>
            </a:r>
            <a:endParaRPr b="0" i="0" sz="1800" u="none" cap="none" strike="noStrike">
              <a:solidFill>
                <a:srgbClr val="000000"/>
              </a:solidFill>
              <a:latin typeface="Arial"/>
              <a:ea typeface="Arial"/>
              <a:cs typeface="Arial"/>
              <a:sym typeface="Arial"/>
            </a:endParaRPr>
          </a:p>
        </p:txBody>
      </p:sp>
      <p:sp>
        <p:nvSpPr>
          <p:cNvPr id="618" name="Google Shape;618;p36"/>
          <p:cNvSpPr txBox="1"/>
          <p:nvPr/>
        </p:nvSpPr>
        <p:spPr>
          <a:xfrm>
            <a:off x="822950" y="4937746"/>
            <a:ext cx="11887200" cy="16317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Remplacer l'oracle météo par des prévisions J+1</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Déployer une API de prédiction</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Automatiser davantage la promotion des modèles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Surveiller le data drift</a:t>
            </a:r>
            <a:endParaRPr b="0" i="0" sz="2000" u="none" cap="none" strike="noStrike">
              <a:solidFill>
                <a:srgbClr val="12202F"/>
              </a:solidFill>
              <a:latin typeface="Calibri"/>
              <a:ea typeface="Calibri"/>
              <a:cs typeface="Calibri"/>
              <a:sym typeface="Calibri"/>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Découper la prédiction en prédisant un tableau de types d’énergies consommées à J+1 dans chaque région</a:t>
            </a:r>
            <a:endParaRPr b="0" i="0" sz="2000" u="none" cap="none" strike="noStrike">
              <a:solidFill>
                <a:srgbClr val="12202F"/>
              </a:solidFill>
              <a:latin typeface="Calibri"/>
              <a:ea typeface="Calibri"/>
              <a:cs typeface="Calibri"/>
              <a:sym typeface="Calibri"/>
            </a:endParaRPr>
          </a:p>
        </p:txBody>
      </p:sp>
      <p:sp>
        <p:nvSpPr>
          <p:cNvPr id="619" name="Google Shape;619;p36"/>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0" name="Google Shape;620;p36"/>
          <p:cNvSpPr txBox="1"/>
          <p:nvPr/>
        </p:nvSpPr>
        <p:spPr>
          <a:xfrm>
            <a:off x="731520" y="7754112"/>
            <a:ext cx="7315200" cy="22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Calibri"/>
                <a:ea typeface="Calibri"/>
                <a:cs typeface="Calibri"/>
                <a:sym typeface="Calibri"/>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