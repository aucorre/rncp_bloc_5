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8229600" cx="14630400"/>
  <p:notesSz cx="6858000" cy="9144000"/>
  <p:embeddedFontLst>
    <p:embeddedFont>
      <p:font typeface="Nunito"/>
      <p:regular r:id="rId37"/>
      <p:bold r:id="rId38"/>
      <p:italic r:id="rId39"/>
      <p:boldItalic r:id="rId40"/>
    </p:embeddedFont>
    <p:embeddedFont>
      <p:font typeface="Maven Pro"/>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boldItalic.fntdata"/><Relationship Id="rId20" Type="http://schemas.openxmlformats.org/officeDocument/2006/relationships/slide" Target="slides/slide14.xml"/><Relationship Id="rId42" Type="http://schemas.openxmlformats.org/officeDocument/2006/relationships/font" Target="fonts/MavenPro-bold.fntdata"/><Relationship Id="rId41" Type="http://schemas.openxmlformats.org/officeDocument/2006/relationships/font" Target="fonts/MavenPro-regular.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Nunito-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Nunito-italic.fntdata"/><Relationship Id="rId16" Type="http://schemas.openxmlformats.org/officeDocument/2006/relationships/slide" Target="slides/slide10.xml"/><Relationship Id="rId38" Type="http://schemas.openxmlformats.org/officeDocument/2006/relationships/font" Target="fonts/Nunit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3" name="Google Shape;54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SAS Viya / SAS Enterprise Miner</a:t>
            </a:r>
            <a:r>
              <a:rPr lang="en-US">
                <a:solidFill>
                  <a:schemeClr val="dk1"/>
                </a:solidFill>
              </a:rPr>
              <a:t> : propriétaire, licence payante, environnement spécifique.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IBM SPSS Modeler</a:t>
            </a:r>
            <a:r>
              <a:rPr lang="en-US">
                <a:solidFill>
                  <a:schemeClr val="dk1"/>
                </a:solidFill>
              </a:rPr>
              <a:t> : propriétaire, orienté plateforme graphique, licence commerciale.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MATLAB + Statistics and Machine Learning Toolbox</a:t>
            </a:r>
            <a:r>
              <a:rPr lang="en-US">
                <a:solidFill>
                  <a:schemeClr val="dk1"/>
                </a:solidFill>
              </a:rPr>
              <a:t> : propriétaire, licence requise, environnement MATLAB dédié.</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Altair RapidMiner / AI Studio</a:t>
            </a:r>
            <a:r>
              <a:rPr lang="en-US">
                <a:solidFill>
                  <a:schemeClr val="dk1"/>
                </a:solidFill>
              </a:rPr>
              <a:t> : solution propriétaire, plateforme distincte de ton environnement Python local.</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Dataiku DSS</a:t>
            </a:r>
            <a:r>
              <a:rPr lang="en-US">
                <a:solidFill>
                  <a:schemeClr val="dk1"/>
                </a:solidFill>
              </a:rPr>
              <a:t> : plateforme propriétaire, même si elle permet d’exécuter du Python.</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Azure Machine Learning</a:t>
            </a:r>
            <a:r>
              <a:rPr lang="en-US">
                <a:solidFill>
                  <a:schemeClr val="dk1"/>
                </a:solidFill>
              </a:rPr>
              <a:t> : service cloud propriétaire, coûts d’infrastructure et dépendance Azure.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AWS SageMaker</a:t>
            </a:r>
            <a:r>
              <a:rPr lang="en-US">
                <a:solidFill>
                  <a:schemeClr val="dk1"/>
                </a:solidFill>
              </a:rPr>
              <a:t> : service cloud propriétaire, dépendance AWS et facturation associée.</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a:solidFill>
                  <a:schemeClr val="dk1"/>
                </a:solidFill>
              </a:rPr>
              <a:t>Google Vertex AI</a:t>
            </a:r>
            <a:r>
              <a:rPr lang="en-US">
                <a:solidFill>
                  <a:schemeClr val="dk1"/>
                </a:solidFill>
              </a:rPr>
              <a:t> : plateforme cloud propriétaire, dépendance GCP.</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551" name="Google Shape;551;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7" name="Google Shape;567;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1" name="Google Shape;581;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3" name="Google Shape;59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J’ai choisi les outils selon cinq critères : compatibilité avec le problème, coût, simplicité, performance et maintenabilité. Pandas était suffisant pour environ 3 millions de lignes brutes, donc Spark aurait ajouté une complexité inutile. Scikit-learn couvre toute la chaîne dont j’avais besoin : modèles, métriques, validation temporelle et optimisation. J’ai choisi HistGradientBoosting plutôt qu’un framework de deep learning parce que le problème est tabulaire, le volume reste raisonnable et les performances étaient déjà bonnes. Joblib est natif et simple pour sérialiser un modèle sklearn. MLflow apporte la traçabilité et le versioning sans nécessiter une plateforme MLOps complète. Enfin Pytest et GitHub Actions sont légers et suffisants pour automatiser les contrôles. </a:t>
            </a:r>
            <a:endParaRPr/>
          </a:p>
        </p:txBody>
      </p:sp>
      <p:sp>
        <p:nvSpPr>
          <p:cNvPr id="611" name="Google Shape;6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9" name="Google Shape;629;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5" name="Google Shape;64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0" name="Google Shape;660;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3" name="Google Shape;673;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2" name="Google Shape;692;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5" name="Google Shape;705;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1" name="Google Shape;72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6" name="Google Shape;73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2" name="Google Shape;752;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0" name="Google Shape;78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fb3f2ec7f4_1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5" name="Google Shape;795;g3fb3f2ec7f4_1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fb3f2ec7f4_1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4" name="Google Shape;804;g3fb3f2ec7f4_1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fb3f2ec7f4_1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g3fb3f2ec7f4_10_8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fb3f2ec7f4_1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g3fb3f2ec7f4_10_1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5" name="Google Shape;845;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0" name="Google Shape;86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fb3f2ec7f4_10_1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g3fb3f2ec7f4_10_16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fb3f2ec7f4_10_1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g3fb3f2ec7f4_10_19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9" name="Google Shape;89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fb3f2ec7f4_10_2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g3fb3f2ec7f4_10_23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6" name="Google Shape;92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fb3f2ec7f4_10_2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g3fb3f2ec7f4_10_25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fb3f2ec7f4_10_5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0" name="Google Shape;960;g3fb3f2ec7f4_10_5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 name="Shape 11"/>
        <p:cNvGrpSpPr/>
        <p:nvPr/>
      </p:nvGrpSpPr>
      <p:grpSpPr>
        <a:xfrm>
          <a:off x="0" y="0"/>
          <a:ext cx="0" cy="0"/>
          <a:chOff x="0" y="0"/>
          <a:chExt cx="0" cy="0"/>
        </a:xfrm>
      </p:grpSpPr>
      <p:grpSp>
        <p:nvGrpSpPr>
          <p:cNvPr id="12" name="Google Shape;12;p3"/>
          <p:cNvGrpSpPr/>
          <p:nvPr/>
        </p:nvGrpSpPr>
        <p:grpSpPr>
          <a:xfrm>
            <a:off x="10986742" y="2010"/>
            <a:ext cx="3627806" cy="4162785"/>
            <a:chOff x="6790514" y="1255"/>
            <a:chExt cx="2267380" cy="2601741"/>
          </a:xfrm>
        </p:grpSpPr>
        <p:grpSp>
          <p:nvGrpSpPr>
            <p:cNvPr id="13" name="Google Shape;13;p3"/>
            <p:cNvGrpSpPr/>
            <p:nvPr/>
          </p:nvGrpSpPr>
          <p:grpSpPr>
            <a:xfrm>
              <a:off x="7067536" y="1255"/>
              <a:ext cx="1990358" cy="1990303"/>
              <a:chOff x="7067536" y="1255"/>
              <a:chExt cx="1990358" cy="1990303"/>
            </a:xfrm>
          </p:grpSpPr>
          <p:sp>
            <p:nvSpPr>
              <p:cNvPr id="14" name="Google Shape;14;p3"/>
              <p:cNvSpPr/>
              <p:nvPr/>
            </p:nvSpPr>
            <p:spPr>
              <a:xfrm rot="-8648551">
                <a:off x="7594313" y="527721"/>
                <a:ext cx="937226" cy="937226"/>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3"/>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p:nvPr/>
            </p:nvSpPr>
            <p:spPr>
              <a:xfrm rot="-8649154">
                <a:off x="7349891" y="283705"/>
                <a:ext cx="1425647" cy="14254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 name="Google Shape;17;p3"/>
            <p:cNvGrpSpPr/>
            <p:nvPr/>
          </p:nvGrpSpPr>
          <p:grpSpPr>
            <a:xfrm>
              <a:off x="8207126" y="1807997"/>
              <a:ext cx="795000" cy="795000"/>
              <a:chOff x="8207126" y="1807997"/>
              <a:chExt cx="795000" cy="795000"/>
            </a:xfrm>
          </p:grpSpPr>
          <p:sp>
            <p:nvSpPr>
              <p:cNvPr id="18" name="Google Shape;18;p3"/>
              <p:cNvSpPr/>
              <p:nvPr/>
            </p:nvSpPr>
            <p:spPr>
              <a:xfrm rot="2152054">
                <a:off x="8319942" y="1920813"/>
                <a:ext cx="569367" cy="569367"/>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
              <p:cNvSpPr/>
              <p:nvPr/>
            </p:nvSpPr>
            <p:spPr>
              <a:xfrm rot="2150259">
                <a:off x="8408218" y="2008610"/>
                <a:ext cx="393004" cy="3930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3"/>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 name="Google Shape;21;p3"/>
            <p:cNvGrpSpPr/>
            <p:nvPr/>
          </p:nvGrpSpPr>
          <p:grpSpPr>
            <a:xfrm>
              <a:off x="6790514" y="118857"/>
              <a:ext cx="548700" cy="548700"/>
              <a:chOff x="6790514" y="118857"/>
              <a:chExt cx="548700" cy="548700"/>
            </a:xfrm>
          </p:grpSpPr>
          <p:sp>
            <p:nvSpPr>
              <p:cNvPr id="22" name="Google Shape;22;p3"/>
              <p:cNvSpPr/>
              <p:nvPr/>
            </p:nvSpPr>
            <p:spPr>
              <a:xfrm rot="2150259">
                <a:off x="6868362" y="196705"/>
                <a:ext cx="393004" cy="3930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4" name="Google Shape;24;p3"/>
          <p:cNvSpPr txBox="1"/>
          <p:nvPr>
            <p:ph type="title"/>
          </p:nvPr>
        </p:nvSpPr>
        <p:spPr>
          <a:xfrm>
            <a:off x="1318400" y="1221760"/>
            <a:ext cx="9372600" cy="57174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25" name="Google Shape;25;p3"/>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grpSp>
        <p:nvGrpSpPr>
          <p:cNvPr id="27" name="Google Shape;27;p4"/>
          <p:cNvGrpSpPr/>
          <p:nvPr/>
        </p:nvGrpSpPr>
        <p:grpSpPr>
          <a:xfrm>
            <a:off x="1001538" y="478999"/>
            <a:ext cx="1598876" cy="1598876"/>
            <a:chOff x="348199" y="179450"/>
            <a:chExt cx="1116300" cy="1116300"/>
          </a:xfrm>
        </p:grpSpPr>
        <p:sp>
          <p:nvSpPr>
            <p:cNvPr id="28" name="Google Shape;28;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4"/>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31" name="Google Shape;31;p4"/>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32" name="Shape 32"/>
        <p:cNvGrpSpPr/>
        <p:nvPr/>
      </p:nvGrpSpPr>
      <p:grpSpPr>
        <a:xfrm>
          <a:off x="0" y="0"/>
          <a:ext cx="0" cy="0"/>
          <a:chOff x="0" y="0"/>
          <a:chExt cx="0" cy="0"/>
        </a:xfrm>
      </p:grpSpPr>
      <p:grpSp>
        <p:nvGrpSpPr>
          <p:cNvPr id="33" name="Google Shape;33;p5"/>
          <p:cNvGrpSpPr/>
          <p:nvPr/>
        </p:nvGrpSpPr>
        <p:grpSpPr>
          <a:xfrm>
            <a:off x="11748805" y="5455481"/>
            <a:ext cx="2706275" cy="2772077"/>
            <a:chOff x="7343003" y="3409675"/>
            <a:chExt cx="1691422" cy="1732548"/>
          </a:xfrm>
        </p:grpSpPr>
        <p:grpSp>
          <p:nvGrpSpPr>
            <p:cNvPr id="34" name="Google Shape;34;p5"/>
            <p:cNvGrpSpPr/>
            <p:nvPr/>
          </p:nvGrpSpPr>
          <p:grpSpPr>
            <a:xfrm>
              <a:off x="7343003" y="4453711"/>
              <a:ext cx="316800" cy="688512"/>
              <a:chOff x="7343003" y="4453711"/>
              <a:chExt cx="316800" cy="688512"/>
            </a:xfrm>
          </p:grpSpPr>
          <p:sp>
            <p:nvSpPr>
              <p:cNvPr id="35" name="Google Shape;35;p5"/>
              <p:cNvSpPr/>
              <p:nvPr/>
            </p:nvSpPr>
            <p:spPr>
              <a:xfrm>
                <a:off x="7343003" y="4453711"/>
                <a:ext cx="316800" cy="688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
              <p:cNvSpPr/>
              <p:nvPr/>
            </p:nvSpPr>
            <p:spPr>
              <a:xfrm>
                <a:off x="7343003" y="4801723"/>
                <a:ext cx="316800" cy="340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 name="Google Shape;37;p5"/>
            <p:cNvGrpSpPr/>
            <p:nvPr/>
          </p:nvGrpSpPr>
          <p:grpSpPr>
            <a:xfrm>
              <a:off x="7801210" y="4105700"/>
              <a:ext cx="316800" cy="1036523"/>
              <a:chOff x="7801210" y="4105700"/>
              <a:chExt cx="316800" cy="1036523"/>
            </a:xfrm>
          </p:grpSpPr>
          <p:sp>
            <p:nvSpPr>
              <p:cNvPr id="38" name="Google Shape;38;p5"/>
              <p:cNvSpPr/>
              <p:nvPr/>
            </p:nvSpPr>
            <p:spPr>
              <a:xfrm>
                <a:off x="7801210" y="4453711"/>
                <a:ext cx="316800" cy="688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5"/>
              <p:cNvSpPr/>
              <p:nvPr/>
            </p:nvSpPr>
            <p:spPr>
              <a:xfrm>
                <a:off x="7801210" y="4105700"/>
                <a:ext cx="316800" cy="1036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5"/>
              <p:cNvSpPr/>
              <p:nvPr/>
            </p:nvSpPr>
            <p:spPr>
              <a:xfrm>
                <a:off x="7801210" y="4801723"/>
                <a:ext cx="316800" cy="340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 name="Google Shape;41;p5"/>
            <p:cNvGrpSpPr/>
            <p:nvPr/>
          </p:nvGrpSpPr>
          <p:grpSpPr>
            <a:xfrm>
              <a:off x="8259418" y="3757688"/>
              <a:ext cx="316800" cy="1384535"/>
              <a:chOff x="8259418" y="3757688"/>
              <a:chExt cx="316800" cy="1384535"/>
            </a:xfrm>
          </p:grpSpPr>
          <p:sp>
            <p:nvSpPr>
              <p:cNvPr id="42" name="Google Shape;42;p5"/>
              <p:cNvSpPr/>
              <p:nvPr/>
            </p:nvSpPr>
            <p:spPr>
              <a:xfrm>
                <a:off x="8259418" y="4453711"/>
                <a:ext cx="316800" cy="688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5"/>
              <p:cNvSpPr/>
              <p:nvPr/>
            </p:nvSpPr>
            <p:spPr>
              <a:xfrm>
                <a:off x="8259418" y="3757688"/>
                <a:ext cx="316800" cy="1384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
              <p:cNvSpPr/>
              <p:nvPr/>
            </p:nvSpPr>
            <p:spPr>
              <a:xfrm>
                <a:off x="8259418" y="4105700"/>
                <a:ext cx="316800" cy="1036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
              <p:cNvSpPr/>
              <p:nvPr/>
            </p:nvSpPr>
            <p:spPr>
              <a:xfrm>
                <a:off x="8259418" y="4801723"/>
                <a:ext cx="316800" cy="340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 name="Google Shape;46;p5"/>
            <p:cNvGrpSpPr/>
            <p:nvPr/>
          </p:nvGrpSpPr>
          <p:grpSpPr>
            <a:xfrm>
              <a:off x="8717625" y="3409675"/>
              <a:ext cx="316800" cy="1732548"/>
              <a:chOff x="8717625" y="3409675"/>
              <a:chExt cx="316800" cy="1732548"/>
            </a:xfrm>
          </p:grpSpPr>
          <p:sp>
            <p:nvSpPr>
              <p:cNvPr id="47" name="Google Shape;47;p5"/>
              <p:cNvSpPr/>
              <p:nvPr/>
            </p:nvSpPr>
            <p:spPr>
              <a:xfrm>
                <a:off x="8717625" y="4453711"/>
                <a:ext cx="316800" cy="688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5"/>
              <p:cNvSpPr/>
              <p:nvPr/>
            </p:nvSpPr>
            <p:spPr>
              <a:xfrm>
                <a:off x="8717625" y="3757688"/>
                <a:ext cx="316800" cy="1384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5"/>
              <p:cNvSpPr/>
              <p:nvPr/>
            </p:nvSpPr>
            <p:spPr>
              <a:xfrm>
                <a:off x="8717625" y="4105700"/>
                <a:ext cx="316800" cy="1036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5"/>
              <p:cNvSpPr/>
              <p:nvPr/>
            </p:nvSpPr>
            <p:spPr>
              <a:xfrm>
                <a:off x="8717625" y="3409675"/>
                <a:ext cx="316800" cy="1732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5"/>
              <p:cNvSpPr/>
              <p:nvPr/>
            </p:nvSpPr>
            <p:spPr>
              <a:xfrm>
                <a:off x="8717625" y="4801723"/>
                <a:ext cx="316800" cy="340500"/>
              </a:xfrm>
              <a:prstGeom prst="round2SameRect">
                <a:avLst>
                  <a:gd fmla="val 50000" name="adj1"/>
                  <a:gd fmla="val 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52" name="Google Shape;52;p5"/>
          <p:cNvGrpSpPr/>
          <p:nvPr/>
        </p:nvGrpSpPr>
        <p:grpSpPr>
          <a:xfrm>
            <a:off x="8069604" y="0"/>
            <a:ext cx="6102516" cy="6142561"/>
            <a:chOff x="5043503" y="0"/>
            <a:chExt cx="3814072" cy="3839102"/>
          </a:xfrm>
        </p:grpSpPr>
        <p:sp>
          <p:nvSpPr>
            <p:cNvPr id="53" name="Google Shape;53;p5"/>
            <p:cNvSpPr/>
            <p:nvPr/>
          </p:nvSpPr>
          <p:spPr>
            <a:xfrm>
              <a:off x="8460975" y="1817775"/>
              <a:ext cx="396600" cy="39660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5"/>
            <p:cNvSpPr/>
            <p:nvPr/>
          </p:nvSpPr>
          <p:spPr>
            <a:xfrm rot="-9830444">
              <a:off x="6469759" y="3480728"/>
              <a:ext cx="320148" cy="320148"/>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5" name="Google Shape;55;p5"/>
            <p:cNvGrpSpPr/>
            <p:nvPr/>
          </p:nvGrpSpPr>
          <p:grpSpPr>
            <a:xfrm>
              <a:off x="7647812" y="2704283"/>
              <a:ext cx="635219" cy="635219"/>
              <a:chOff x="6725724" y="2701260"/>
              <a:chExt cx="1208101" cy="1208100"/>
            </a:xfrm>
          </p:grpSpPr>
          <p:sp>
            <p:nvSpPr>
              <p:cNvPr id="56" name="Google Shape;56;p5"/>
              <p:cNvSpPr/>
              <p:nvPr/>
            </p:nvSpPr>
            <p:spPr>
              <a:xfrm rot="5400000">
                <a:off x="6725725" y="2701260"/>
                <a:ext cx="1208100" cy="120810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5"/>
              <p:cNvSpPr/>
              <p:nvPr/>
            </p:nvSpPr>
            <p:spPr>
              <a:xfrm rot="5400000">
                <a:off x="6725724" y="2701260"/>
                <a:ext cx="1208100" cy="1208100"/>
              </a:xfrm>
              <a:prstGeom prst="pie">
                <a:avLst>
                  <a:gd fmla="val 8244818" name="adj1"/>
                  <a:gd fmla="val 16246175"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
              <p:cNvSpPr/>
              <p:nvPr/>
            </p:nvSpPr>
            <p:spPr>
              <a:xfrm rot="5400000">
                <a:off x="6954988" y="2930398"/>
                <a:ext cx="749700" cy="74970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5"/>
            <p:cNvSpPr/>
            <p:nvPr/>
          </p:nvSpPr>
          <p:spPr>
            <a:xfrm>
              <a:off x="8460975" y="1817775"/>
              <a:ext cx="396600" cy="396600"/>
            </a:xfrm>
            <a:prstGeom prst="pie">
              <a:avLst>
                <a:gd fmla="val 19376841" name="adj1"/>
                <a:gd fmla="val 1620000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0" name="Google Shape;60;p5"/>
            <p:cNvGrpSpPr/>
            <p:nvPr/>
          </p:nvGrpSpPr>
          <p:grpSpPr>
            <a:xfrm>
              <a:off x="7952720" y="179238"/>
              <a:ext cx="873165" cy="873003"/>
              <a:chOff x="7754428" y="208725"/>
              <a:chExt cx="541800" cy="541800"/>
            </a:xfrm>
          </p:grpSpPr>
          <p:sp>
            <p:nvSpPr>
              <p:cNvPr id="61" name="Google Shape;61;p5"/>
              <p:cNvSpPr/>
              <p:nvPr/>
            </p:nvSpPr>
            <p:spPr>
              <a:xfrm rot="-8647347">
                <a:off x="7831319" y="285616"/>
                <a:ext cx="388018" cy="388018"/>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
              <p:cNvSpPr/>
              <p:nvPr/>
            </p:nvSpPr>
            <p:spPr>
              <a:xfrm rot="-8647347">
                <a:off x="7831319" y="285616"/>
                <a:ext cx="388018" cy="388018"/>
              </a:xfrm>
              <a:prstGeom prst="pie">
                <a:avLst>
                  <a:gd fmla="val 19376841" name="adj1"/>
                  <a:gd fmla="val 12313574"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3" name="Google Shape;63;p5"/>
            <p:cNvSpPr/>
            <p:nvPr/>
          </p:nvSpPr>
          <p:spPr>
            <a:xfrm>
              <a:off x="5399840" y="356365"/>
              <a:ext cx="2577000" cy="257700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5"/>
            <p:cNvSpPr/>
            <p:nvPr/>
          </p:nvSpPr>
          <p:spPr>
            <a:xfrm rot="2043858">
              <a:off x="5503813" y="460310"/>
              <a:ext cx="2369480" cy="2369480"/>
            </a:xfrm>
            <a:prstGeom prst="ellipse">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
            <p:cNvSpPr/>
            <p:nvPr/>
          </p:nvSpPr>
          <p:spPr>
            <a:xfrm>
              <a:off x="5399795" y="360281"/>
              <a:ext cx="2577000" cy="2577000"/>
            </a:xfrm>
            <a:prstGeom prst="pie">
              <a:avLst>
                <a:gd fmla="val 8801158" name="adj1"/>
                <a:gd fmla="val 1620000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rot="2044777">
              <a:off x="5911449" y="867729"/>
              <a:ext cx="1554223" cy="1554223"/>
            </a:xfrm>
            <a:prstGeom prst="ellipse">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5"/>
            <p:cNvSpPr/>
            <p:nvPr/>
          </p:nvSpPr>
          <p:spPr>
            <a:xfrm>
              <a:off x="5399795" y="356358"/>
              <a:ext cx="2577000" cy="2577000"/>
            </a:xfrm>
            <a:prstGeom prst="pie">
              <a:avLst>
                <a:gd fmla="val 12554101" name="adj1"/>
                <a:gd fmla="val 1620000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rot="-9830444">
              <a:off x="6469759" y="3480727"/>
              <a:ext cx="320148" cy="320148"/>
            </a:xfrm>
            <a:prstGeom prst="pie">
              <a:avLst>
                <a:gd fmla="val 19376841" name="adj1"/>
                <a:gd fmla="val 16200000" name="adj2"/>
              </a:avLst>
            </a:prstGeom>
            <a:solidFill>
              <a:schemeClr val="lt1">
                <a:alpha val="9412"/>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9" name="Google Shape;69;p5"/>
          <p:cNvSpPr txBox="1"/>
          <p:nvPr>
            <p:ph type="ctrTitle"/>
          </p:nvPr>
        </p:nvSpPr>
        <p:spPr>
          <a:xfrm>
            <a:off x="1318400" y="2582100"/>
            <a:ext cx="6808800" cy="2996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70" name="Google Shape;70;p5"/>
          <p:cNvSpPr txBox="1"/>
          <p:nvPr>
            <p:ph idx="1" type="subTitle"/>
          </p:nvPr>
        </p:nvSpPr>
        <p:spPr>
          <a:xfrm>
            <a:off x="1318400" y="5754080"/>
            <a:ext cx="6808800" cy="1112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Clr>
                <a:schemeClr val="lt1"/>
              </a:buClr>
              <a:buSzPts val="2600"/>
              <a:buNone/>
              <a:defRPr sz="2600">
                <a:solidFill>
                  <a:schemeClr val="lt1"/>
                </a:solidFill>
              </a:defRPr>
            </a:lvl1pPr>
            <a:lvl2pPr lvl="1" algn="l">
              <a:lnSpc>
                <a:spcPct val="100000"/>
              </a:lnSpc>
              <a:spcBef>
                <a:spcPts val="0"/>
              </a:spcBef>
              <a:spcAft>
                <a:spcPts val="0"/>
              </a:spcAft>
              <a:buClr>
                <a:schemeClr val="lt1"/>
              </a:buClr>
              <a:buSzPts val="2600"/>
              <a:buNone/>
              <a:defRPr sz="2600">
                <a:solidFill>
                  <a:schemeClr val="lt1"/>
                </a:solidFill>
              </a:defRPr>
            </a:lvl2pPr>
            <a:lvl3pPr lvl="2" algn="l">
              <a:lnSpc>
                <a:spcPct val="100000"/>
              </a:lnSpc>
              <a:spcBef>
                <a:spcPts val="0"/>
              </a:spcBef>
              <a:spcAft>
                <a:spcPts val="0"/>
              </a:spcAft>
              <a:buClr>
                <a:schemeClr val="lt1"/>
              </a:buClr>
              <a:buSzPts val="2600"/>
              <a:buNone/>
              <a:defRPr sz="2600">
                <a:solidFill>
                  <a:schemeClr val="lt1"/>
                </a:solidFill>
              </a:defRPr>
            </a:lvl3pPr>
            <a:lvl4pPr lvl="3" algn="l">
              <a:lnSpc>
                <a:spcPct val="100000"/>
              </a:lnSpc>
              <a:spcBef>
                <a:spcPts val="0"/>
              </a:spcBef>
              <a:spcAft>
                <a:spcPts val="0"/>
              </a:spcAft>
              <a:buClr>
                <a:schemeClr val="lt1"/>
              </a:buClr>
              <a:buSzPts val="2600"/>
              <a:buNone/>
              <a:defRPr sz="2600">
                <a:solidFill>
                  <a:schemeClr val="lt1"/>
                </a:solidFill>
              </a:defRPr>
            </a:lvl4pPr>
            <a:lvl5pPr lvl="4" algn="l">
              <a:lnSpc>
                <a:spcPct val="100000"/>
              </a:lnSpc>
              <a:spcBef>
                <a:spcPts val="0"/>
              </a:spcBef>
              <a:spcAft>
                <a:spcPts val="0"/>
              </a:spcAft>
              <a:buClr>
                <a:schemeClr val="lt1"/>
              </a:buClr>
              <a:buSzPts val="2600"/>
              <a:buNone/>
              <a:defRPr sz="2600">
                <a:solidFill>
                  <a:schemeClr val="lt1"/>
                </a:solidFill>
              </a:defRPr>
            </a:lvl5pPr>
            <a:lvl6pPr lvl="5" algn="l">
              <a:lnSpc>
                <a:spcPct val="100000"/>
              </a:lnSpc>
              <a:spcBef>
                <a:spcPts val="0"/>
              </a:spcBef>
              <a:spcAft>
                <a:spcPts val="0"/>
              </a:spcAft>
              <a:buClr>
                <a:schemeClr val="lt1"/>
              </a:buClr>
              <a:buSzPts val="2600"/>
              <a:buNone/>
              <a:defRPr sz="2600">
                <a:solidFill>
                  <a:schemeClr val="lt1"/>
                </a:solidFill>
              </a:defRPr>
            </a:lvl6pPr>
            <a:lvl7pPr lvl="6" algn="l">
              <a:lnSpc>
                <a:spcPct val="100000"/>
              </a:lnSpc>
              <a:spcBef>
                <a:spcPts val="0"/>
              </a:spcBef>
              <a:spcAft>
                <a:spcPts val="0"/>
              </a:spcAft>
              <a:buClr>
                <a:schemeClr val="lt1"/>
              </a:buClr>
              <a:buSzPts val="2600"/>
              <a:buNone/>
              <a:defRPr sz="2600">
                <a:solidFill>
                  <a:schemeClr val="lt1"/>
                </a:solidFill>
              </a:defRPr>
            </a:lvl7pPr>
            <a:lvl8pPr lvl="7" algn="l">
              <a:lnSpc>
                <a:spcPct val="100000"/>
              </a:lnSpc>
              <a:spcBef>
                <a:spcPts val="0"/>
              </a:spcBef>
              <a:spcAft>
                <a:spcPts val="0"/>
              </a:spcAft>
              <a:buClr>
                <a:schemeClr val="lt1"/>
              </a:buClr>
              <a:buSzPts val="2600"/>
              <a:buNone/>
              <a:defRPr sz="2600">
                <a:solidFill>
                  <a:schemeClr val="lt1"/>
                </a:solidFill>
              </a:defRPr>
            </a:lvl8pPr>
            <a:lvl9pPr lvl="8" algn="l">
              <a:lnSpc>
                <a:spcPct val="100000"/>
              </a:lnSpc>
              <a:spcBef>
                <a:spcPts val="0"/>
              </a:spcBef>
              <a:spcAft>
                <a:spcPts val="0"/>
              </a:spcAft>
              <a:buClr>
                <a:schemeClr val="lt1"/>
              </a:buClr>
              <a:buSzPts val="2600"/>
              <a:buNone/>
              <a:defRPr sz="2600">
                <a:solidFill>
                  <a:schemeClr val="lt1"/>
                </a:solidFill>
              </a:defRPr>
            </a:lvl9pPr>
          </a:lstStyle>
          <a:p/>
        </p:txBody>
      </p:sp>
      <p:sp>
        <p:nvSpPr>
          <p:cNvPr id="71" name="Google Shape;71;p5"/>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72" name="Shape 72"/>
        <p:cNvGrpSpPr/>
        <p:nvPr/>
      </p:nvGrpSpPr>
      <p:grpSpPr>
        <a:xfrm>
          <a:off x="0" y="0"/>
          <a:ext cx="0" cy="0"/>
          <a:chOff x="0" y="0"/>
          <a:chExt cx="0" cy="0"/>
        </a:xfrm>
      </p:grpSpPr>
      <p:grpSp>
        <p:nvGrpSpPr>
          <p:cNvPr id="73" name="Google Shape;73;p6"/>
          <p:cNvGrpSpPr/>
          <p:nvPr/>
        </p:nvGrpSpPr>
        <p:grpSpPr>
          <a:xfrm>
            <a:off x="234830" y="5450"/>
            <a:ext cx="1973142" cy="2215256"/>
            <a:chOff x="146769" y="3406"/>
            <a:chExt cx="1233214" cy="1384535"/>
          </a:xfrm>
        </p:grpSpPr>
        <p:grpSp>
          <p:nvGrpSpPr>
            <p:cNvPr id="74" name="Google Shape;74;p6"/>
            <p:cNvGrpSpPr/>
            <p:nvPr/>
          </p:nvGrpSpPr>
          <p:grpSpPr>
            <a:xfrm>
              <a:off x="1063183" y="3406"/>
              <a:ext cx="316800" cy="688513"/>
              <a:chOff x="1063183" y="3406"/>
              <a:chExt cx="316800" cy="688513"/>
            </a:xfrm>
          </p:grpSpPr>
          <p:sp>
            <p:nvSpPr>
              <p:cNvPr id="75" name="Google Shape;75;p6"/>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6"/>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 name="Google Shape;77;p6"/>
            <p:cNvGrpSpPr/>
            <p:nvPr/>
          </p:nvGrpSpPr>
          <p:grpSpPr>
            <a:xfrm>
              <a:off x="604976" y="3406"/>
              <a:ext cx="316800" cy="1036524"/>
              <a:chOff x="604976" y="3406"/>
              <a:chExt cx="316800" cy="1036524"/>
            </a:xfrm>
          </p:grpSpPr>
          <p:sp>
            <p:nvSpPr>
              <p:cNvPr id="78" name="Google Shape;78;p6"/>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6"/>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6"/>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 name="Google Shape;81;p6"/>
            <p:cNvGrpSpPr/>
            <p:nvPr/>
          </p:nvGrpSpPr>
          <p:grpSpPr>
            <a:xfrm>
              <a:off x="146769" y="3406"/>
              <a:ext cx="316800" cy="1384535"/>
              <a:chOff x="146769" y="3406"/>
              <a:chExt cx="316800" cy="1384535"/>
            </a:xfrm>
          </p:grpSpPr>
          <p:sp>
            <p:nvSpPr>
              <p:cNvPr id="82" name="Google Shape;82;p6"/>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6"/>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6"/>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6" name="Google Shape;86;p6"/>
          <p:cNvGrpSpPr/>
          <p:nvPr/>
        </p:nvGrpSpPr>
        <p:grpSpPr>
          <a:xfrm>
            <a:off x="10840134" y="4646413"/>
            <a:ext cx="3497834" cy="3583200"/>
            <a:chOff x="6775084" y="2904008"/>
            <a:chExt cx="2186147" cy="2239500"/>
          </a:xfrm>
        </p:grpSpPr>
        <p:grpSp>
          <p:nvGrpSpPr>
            <p:cNvPr id="87" name="Google Shape;87;p6"/>
            <p:cNvGrpSpPr/>
            <p:nvPr/>
          </p:nvGrpSpPr>
          <p:grpSpPr>
            <a:xfrm>
              <a:off x="6775084" y="4253708"/>
              <a:ext cx="409500" cy="889800"/>
              <a:chOff x="6775084" y="4253708"/>
              <a:chExt cx="409500" cy="889800"/>
            </a:xfrm>
          </p:grpSpPr>
          <p:sp>
            <p:nvSpPr>
              <p:cNvPr id="88" name="Google Shape;88;p6"/>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6"/>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 name="Google Shape;90;p6"/>
            <p:cNvGrpSpPr/>
            <p:nvPr/>
          </p:nvGrpSpPr>
          <p:grpSpPr>
            <a:xfrm>
              <a:off x="7367299" y="3804008"/>
              <a:ext cx="409500" cy="1339500"/>
              <a:chOff x="7367299" y="3804008"/>
              <a:chExt cx="409500" cy="1339500"/>
            </a:xfrm>
          </p:grpSpPr>
          <p:sp>
            <p:nvSpPr>
              <p:cNvPr id="91" name="Google Shape;91;p6"/>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6"/>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6"/>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 name="Google Shape;94;p6"/>
            <p:cNvGrpSpPr/>
            <p:nvPr/>
          </p:nvGrpSpPr>
          <p:grpSpPr>
            <a:xfrm>
              <a:off x="7959516" y="3354008"/>
              <a:ext cx="409500" cy="1789500"/>
              <a:chOff x="7959516" y="3354008"/>
              <a:chExt cx="409500" cy="1789500"/>
            </a:xfrm>
          </p:grpSpPr>
          <p:sp>
            <p:nvSpPr>
              <p:cNvPr id="95" name="Google Shape;95;p6"/>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6"/>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6"/>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6"/>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9" name="Google Shape;99;p6"/>
            <p:cNvGrpSpPr/>
            <p:nvPr/>
          </p:nvGrpSpPr>
          <p:grpSpPr>
            <a:xfrm>
              <a:off x="8551731" y="2904008"/>
              <a:ext cx="409500" cy="2239500"/>
              <a:chOff x="8551731" y="2904008"/>
              <a:chExt cx="409500" cy="2239500"/>
            </a:xfrm>
          </p:grpSpPr>
          <p:sp>
            <p:nvSpPr>
              <p:cNvPr id="100" name="Google Shape;100;p6"/>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6"/>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6"/>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6"/>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6"/>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05" name="Google Shape;105;p6"/>
          <p:cNvSpPr txBox="1"/>
          <p:nvPr>
            <p:ph type="title"/>
          </p:nvPr>
        </p:nvSpPr>
        <p:spPr>
          <a:xfrm>
            <a:off x="1318400" y="2582120"/>
            <a:ext cx="9372600" cy="2996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106" name="Google Shape;106;p6"/>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7" name="Shape 107"/>
        <p:cNvGrpSpPr/>
        <p:nvPr/>
      </p:nvGrpSpPr>
      <p:grpSpPr>
        <a:xfrm>
          <a:off x="0" y="0"/>
          <a:ext cx="0" cy="0"/>
          <a:chOff x="0" y="0"/>
          <a:chExt cx="0" cy="0"/>
        </a:xfrm>
      </p:grpSpPr>
      <p:grpSp>
        <p:nvGrpSpPr>
          <p:cNvPr id="108" name="Google Shape;108;p7"/>
          <p:cNvGrpSpPr/>
          <p:nvPr/>
        </p:nvGrpSpPr>
        <p:grpSpPr>
          <a:xfrm>
            <a:off x="1001538" y="478999"/>
            <a:ext cx="1598876" cy="1598876"/>
            <a:chOff x="348199" y="179450"/>
            <a:chExt cx="1116300" cy="1116300"/>
          </a:xfrm>
        </p:grpSpPr>
        <p:sp>
          <p:nvSpPr>
            <p:cNvPr id="109" name="Google Shape;109;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 name="Google Shape;111;p7"/>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12" name="Google Shape;112;p7"/>
          <p:cNvSpPr txBox="1"/>
          <p:nvPr>
            <p:ph idx="1" type="body"/>
          </p:nvPr>
        </p:nvSpPr>
        <p:spPr>
          <a:xfrm>
            <a:off x="2086080" y="3184080"/>
            <a:ext cx="1124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13" name="Google Shape;113;p7"/>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grpSp>
        <p:nvGrpSpPr>
          <p:cNvPr id="115" name="Google Shape;115;p8"/>
          <p:cNvGrpSpPr/>
          <p:nvPr/>
        </p:nvGrpSpPr>
        <p:grpSpPr>
          <a:xfrm>
            <a:off x="1001538" y="478999"/>
            <a:ext cx="1598876" cy="1598876"/>
            <a:chOff x="348199" y="179450"/>
            <a:chExt cx="1116300" cy="1116300"/>
          </a:xfrm>
        </p:grpSpPr>
        <p:sp>
          <p:nvSpPr>
            <p:cNvPr id="116" name="Google Shape;116;p8"/>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8"/>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8" name="Google Shape;118;p8"/>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19" name="Google Shape;119;p8"/>
          <p:cNvSpPr txBox="1"/>
          <p:nvPr>
            <p:ph idx="1" type="body"/>
          </p:nvPr>
        </p:nvSpPr>
        <p:spPr>
          <a:xfrm>
            <a:off x="2086080" y="3184080"/>
            <a:ext cx="548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20" name="Google Shape;120;p8"/>
          <p:cNvSpPr txBox="1"/>
          <p:nvPr>
            <p:ph idx="2" type="body"/>
          </p:nvPr>
        </p:nvSpPr>
        <p:spPr>
          <a:xfrm>
            <a:off x="7845840" y="3184080"/>
            <a:ext cx="548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21" name="Google Shape;121;p8"/>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grpSp>
        <p:nvGrpSpPr>
          <p:cNvPr id="123" name="Google Shape;123;p9"/>
          <p:cNvGrpSpPr/>
          <p:nvPr/>
        </p:nvGrpSpPr>
        <p:grpSpPr>
          <a:xfrm>
            <a:off x="1001538" y="478999"/>
            <a:ext cx="1598876" cy="1598876"/>
            <a:chOff x="348199" y="179450"/>
            <a:chExt cx="1116300" cy="1116300"/>
          </a:xfrm>
        </p:grpSpPr>
        <p:sp>
          <p:nvSpPr>
            <p:cNvPr id="124" name="Google Shape;124;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6" name="Google Shape;126;p9"/>
          <p:cNvSpPr txBox="1"/>
          <p:nvPr>
            <p:ph type="title"/>
          </p:nvPr>
        </p:nvSpPr>
        <p:spPr>
          <a:xfrm>
            <a:off x="2086080" y="957720"/>
            <a:ext cx="5299200" cy="2544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27" name="Google Shape;127;p9"/>
          <p:cNvSpPr txBox="1"/>
          <p:nvPr>
            <p:ph idx="1" type="body"/>
          </p:nvPr>
        </p:nvSpPr>
        <p:spPr>
          <a:xfrm>
            <a:off x="2086080" y="3695480"/>
            <a:ext cx="5299200" cy="35550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28" name="Google Shape;128;p9"/>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grpSp>
        <p:nvGrpSpPr>
          <p:cNvPr id="130" name="Google Shape;130;p10"/>
          <p:cNvGrpSpPr/>
          <p:nvPr/>
        </p:nvGrpSpPr>
        <p:grpSpPr>
          <a:xfrm>
            <a:off x="1001538" y="478999"/>
            <a:ext cx="1598876" cy="1598876"/>
            <a:chOff x="348199" y="179450"/>
            <a:chExt cx="1116300" cy="1116300"/>
          </a:xfrm>
        </p:grpSpPr>
        <p:sp>
          <p:nvSpPr>
            <p:cNvPr id="131" name="Google Shape;131;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3" name="Google Shape;133;p10"/>
          <p:cNvSpPr txBox="1"/>
          <p:nvPr>
            <p:ph type="title"/>
          </p:nvPr>
        </p:nvSpPr>
        <p:spPr>
          <a:xfrm>
            <a:off x="2086080" y="957720"/>
            <a:ext cx="5488800" cy="31842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134" name="Google Shape;134;p10"/>
          <p:cNvSpPr txBox="1"/>
          <p:nvPr>
            <p:ph idx="1" type="subTitle"/>
          </p:nvPr>
        </p:nvSpPr>
        <p:spPr>
          <a:xfrm>
            <a:off x="2086080" y="4389124"/>
            <a:ext cx="5488800" cy="11616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135" name="Google Shape;135;p10"/>
          <p:cNvSpPr txBox="1"/>
          <p:nvPr>
            <p:ph idx="2" type="body"/>
          </p:nvPr>
        </p:nvSpPr>
        <p:spPr>
          <a:xfrm>
            <a:off x="7845920" y="1057600"/>
            <a:ext cx="5488800" cy="61929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36" name="Google Shape;136;p10"/>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7" name="Shape 137"/>
        <p:cNvGrpSpPr/>
        <p:nvPr/>
      </p:nvGrpSpPr>
      <p:grpSpPr>
        <a:xfrm>
          <a:off x="0" y="0"/>
          <a:ext cx="0" cy="0"/>
          <a:chOff x="0" y="0"/>
          <a:chExt cx="0" cy="0"/>
        </a:xfrm>
      </p:grpSpPr>
      <p:grpSp>
        <p:nvGrpSpPr>
          <p:cNvPr id="138" name="Google Shape;138;p11"/>
          <p:cNvGrpSpPr/>
          <p:nvPr/>
        </p:nvGrpSpPr>
        <p:grpSpPr>
          <a:xfrm>
            <a:off x="1141383" y="6155382"/>
            <a:ext cx="1320583" cy="1320583"/>
            <a:chOff x="348199" y="179450"/>
            <a:chExt cx="1116300" cy="1116300"/>
          </a:xfrm>
        </p:grpSpPr>
        <p:sp>
          <p:nvSpPr>
            <p:cNvPr id="139" name="Google Shape;139;p11"/>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1"/>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1" name="Google Shape;141;p11"/>
          <p:cNvSpPr txBox="1"/>
          <p:nvPr>
            <p:ph idx="1" type="body"/>
          </p:nvPr>
        </p:nvSpPr>
        <p:spPr>
          <a:xfrm>
            <a:off x="2086080" y="6622360"/>
            <a:ext cx="9348900" cy="855900"/>
          </a:xfrm>
          <a:prstGeom prst="rect">
            <a:avLst/>
          </a:prstGeom>
          <a:noFill/>
          <a:ln>
            <a:noFill/>
          </a:ln>
        </p:spPr>
        <p:txBody>
          <a:bodyPr anchorCtr="0" anchor="t" bIns="146275" lIns="146275" spcFirstLastPara="1" rIns="146275" wrap="square" tIns="146275">
            <a:normAutofit/>
          </a:bodyPr>
          <a:lstStyle>
            <a:lvl1pPr indent="-228600" lvl="0" marL="457200" algn="l">
              <a:lnSpc>
                <a:spcPct val="100000"/>
              </a:lnSpc>
              <a:spcBef>
                <a:spcPts val="0"/>
              </a:spcBef>
              <a:spcAft>
                <a:spcPts val="0"/>
              </a:spcAft>
              <a:buSzPts val="2100"/>
              <a:buNone/>
              <a:defRPr/>
            </a:lvl1pPr>
          </a:lstStyle>
          <a:p/>
        </p:txBody>
      </p:sp>
      <p:sp>
        <p:nvSpPr>
          <p:cNvPr id="142" name="Google Shape;142;p11"/>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3" name="Shape 143"/>
        <p:cNvGrpSpPr/>
        <p:nvPr/>
      </p:nvGrpSpPr>
      <p:grpSpPr>
        <a:xfrm>
          <a:off x="0" y="0"/>
          <a:ext cx="0" cy="0"/>
          <a:chOff x="0" y="0"/>
          <a:chExt cx="0" cy="0"/>
        </a:xfrm>
      </p:grpSpPr>
      <p:grpSp>
        <p:nvGrpSpPr>
          <p:cNvPr id="144" name="Google Shape;144;p12"/>
          <p:cNvGrpSpPr/>
          <p:nvPr/>
        </p:nvGrpSpPr>
        <p:grpSpPr>
          <a:xfrm>
            <a:off x="83" y="6558720"/>
            <a:ext cx="14630457" cy="1670880"/>
            <a:chOff x="52" y="4099200"/>
            <a:chExt cx="9144036" cy="1044300"/>
          </a:xfrm>
        </p:grpSpPr>
        <p:grpSp>
          <p:nvGrpSpPr>
            <p:cNvPr id="145" name="Google Shape;145;p12"/>
            <p:cNvGrpSpPr/>
            <p:nvPr/>
          </p:nvGrpSpPr>
          <p:grpSpPr>
            <a:xfrm>
              <a:off x="52" y="4309200"/>
              <a:ext cx="231622" cy="834300"/>
              <a:chOff x="2688737" y="4301380"/>
              <a:chExt cx="231900" cy="834300"/>
            </a:xfrm>
          </p:grpSpPr>
          <p:sp>
            <p:nvSpPr>
              <p:cNvPr id="146" name="Google Shape;146;p12"/>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2"/>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2"/>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2"/>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0" name="Google Shape;150;p12"/>
            <p:cNvGrpSpPr/>
            <p:nvPr/>
          </p:nvGrpSpPr>
          <p:grpSpPr>
            <a:xfrm>
              <a:off x="371406" y="4099200"/>
              <a:ext cx="231622" cy="1044300"/>
              <a:chOff x="2688737" y="4091380"/>
              <a:chExt cx="231900" cy="1044300"/>
            </a:xfrm>
          </p:grpSpPr>
          <p:sp>
            <p:nvSpPr>
              <p:cNvPr id="151" name="Google Shape;151;p12"/>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2"/>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2"/>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2"/>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2"/>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6" name="Google Shape;156;p12"/>
            <p:cNvGrpSpPr/>
            <p:nvPr/>
          </p:nvGrpSpPr>
          <p:grpSpPr>
            <a:xfrm>
              <a:off x="742761" y="4309200"/>
              <a:ext cx="231622" cy="834300"/>
              <a:chOff x="2688737" y="4301380"/>
              <a:chExt cx="231900" cy="834300"/>
            </a:xfrm>
          </p:grpSpPr>
          <p:sp>
            <p:nvSpPr>
              <p:cNvPr id="157" name="Google Shape;157;p12"/>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2"/>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2"/>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2"/>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p12"/>
            <p:cNvGrpSpPr/>
            <p:nvPr/>
          </p:nvGrpSpPr>
          <p:grpSpPr>
            <a:xfrm>
              <a:off x="1114115" y="4518900"/>
              <a:ext cx="231622" cy="624600"/>
              <a:chOff x="2688737" y="4511080"/>
              <a:chExt cx="231900" cy="624600"/>
            </a:xfrm>
          </p:grpSpPr>
          <p:sp>
            <p:nvSpPr>
              <p:cNvPr id="162" name="Google Shape;162;p12"/>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2"/>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2"/>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5" name="Google Shape;165;p12"/>
            <p:cNvGrpSpPr/>
            <p:nvPr/>
          </p:nvGrpSpPr>
          <p:grpSpPr>
            <a:xfrm>
              <a:off x="1856753" y="4099200"/>
              <a:ext cx="231600" cy="1044300"/>
              <a:chOff x="1856753" y="4099200"/>
              <a:chExt cx="231600" cy="1044300"/>
            </a:xfrm>
          </p:grpSpPr>
          <p:sp>
            <p:nvSpPr>
              <p:cNvPr id="166" name="Google Shape;166;p12"/>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2"/>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2"/>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2"/>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2"/>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 name="Google Shape;171;p12"/>
            <p:cNvGrpSpPr/>
            <p:nvPr/>
          </p:nvGrpSpPr>
          <p:grpSpPr>
            <a:xfrm>
              <a:off x="2228107" y="4309200"/>
              <a:ext cx="231600" cy="834300"/>
              <a:chOff x="2228107" y="4309200"/>
              <a:chExt cx="231600" cy="834300"/>
            </a:xfrm>
          </p:grpSpPr>
          <p:sp>
            <p:nvSpPr>
              <p:cNvPr id="172" name="Google Shape;172;p12"/>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2"/>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2"/>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2"/>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6" name="Google Shape;176;p12"/>
            <p:cNvGrpSpPr/>
            <p:nvPr/>
          </p:nvGrpSpPr>
          <p:grpSpPr>
            <a:xfrm>
              <a:off x="2599462" y="4518900"/>
              <a:ext cx="231600" cy="624600"/>
              <a:chOff x="2599462" y="4518900"/>
              <a:chExt cx="231600" cy="624600"/>
            </a:xfrm>
          </p:grpSpPr>
          <p:sp>
            <p:nvSpPr>
              <p:cNvPr id="177" name="Google Shape;177;p12"/>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2"/>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2"/>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 name="Google Shape;180;p12"/>
            <p:cNvGrpSpPr/>
            <p:nvPr/>
          </p:nvGrpSpPr>
          <p:grpSpPr>
            <a:xfrm>
              <a:off x="3342171" y="4099200"/>
              <a:ext cx="231600" cy="1044300"/>
              <a:chOff x="3342171" y="4099200"/>
              <a:chExt cx="231600" cy="1044300"/>
            </a:xfrm>
          </p:grpSpPr>
          <p:sp>
            <p:nvSpPr>
              <p:cNvPr id="181" name="Google Shape;181;p12"/>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2"/>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2"/>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2"/>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2"/>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6" name="Google Shape;186;p12"/>
            <p:cNvGrpSpPr/>
            <p:nvPr/>
          </p:nvGrpSpPr>
          <p:grpSpPr>
            <a:xfrm>
              <a:off x="3713525" y="4309200"/>
              <a:ext cx="231600" cy="834300"/>
              <a:chOff x="3713525" y="4309200"/>
              <a:chExt cx="231600" cy="834300"/>
            </a:xfrm>
          </p:grpSpPr>
          <p:sp>
            <p:nvSpPr>
              <p:cNvPr id="187" name="Google Shape;187;p12"/>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2"/>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2"/>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2"/>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 name="Google Shape;191;p12"/>
            <p:cNvGrpSpPr/>
            <p:nvPr/>
          </p:nvGrpSpPr>
          <p:grpSpPr>
            <a:xfrm>
              <a:off x="1485398" y="4309200"/>
              <a:ext cx="231600" cy="834300"/>
              <a:chOff x="1485398" y="4309200"/>
              <a:chExt cx="231600" cy="834300"/>
            </a:xfrm>
          </p:grpSpPr>
          <p:sp>
            <p:nvSpPr>
              <p:cNvPr id="192" name="Google Shape;192;p12"/>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2"/>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2"/>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2"/>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6" name="Google Shape;196;p12"/>
            <p:cNvGrpSpPr/>
            <p:nvPr/>
          </p:nvGrpSpPr>
          <p:grpSpPr>
            <a:xfrm>
              <a:off x="4084879" y="4518900"/>
              <a:ext cx="231600" cy="624600"/>
              <a:chOff x="4084879" y="4518900"/>
              <a:chExt cx="231600" cy="624600"/>
            </a:xfrm>
          </p:grpSpPr>
          <p:sp>
            <p:nvSpPr>
              <p:cNvPr id="197" name="Google Shape;197;p12"/>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2"/>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2"/>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0" name="Google Shape;200;p12"/>
            <p:cNvGrpSpPr/>
            <p:nvPr/>
          </p:nvGrpSpPr>
          <p:grpSpPr>
            <a:xfrm>
              <a:off x="2970816" y="4309200"/>
              <a:ext cx="231600" cy="834300"/>
              <a:chOff x="2970816" y="4309200"/>
              <a:chExt cx="231600" cy="834300"/>
            </a:xfrm>
          </p:grpSpPr>
          <p:sp>
            <p:nvSpPr>
              <p:cNvPr id="201" name="Google Shape;201;p12"/>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2"/>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2"/>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2"/>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5" name="Google Shape;205;p12"/>
            <p:cNvGrpSpPr/>
            <p:nvPr/>
          </p:nvGrpSpPr>
          <p:grpSpPr>
            <a:xfrm>
              <a:off x="4456234" y="4309200"/>
              <a:ext cx="231600" cy="834300"/>
              <a:chOff x="4456234" y="4309200"/>
              <a:chExt cx="231600" cy="834300"/>
            </a:xfrm>
          </p:grpSpPr>
          <p:sp>
            <p:nvSpPr>
              <p:cNvPr id="206" name="Google Shape;206;p12"/>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2"/>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2"/>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2"/>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0" name="Google Shape;210;p12"/>
            <p:cNvGrpSpPr/>
            <p:nvPr/>
          </p:nvGrpSpPr>
          <p:grpSpPr>
            <a:xfrm>
              <a:off x="4827588" y="4099200"/>
              <a:ext cx="231600" cy="1044300"/>
              <a:chOff x="4827588" y="4099200"/>
              <a:chExt cx="231600" cy="1044300"/>
            </a:xfrm>
          </p:grpSpPr>
          <p:sp>
            <p:nvSpPr>
              <p:cNvPr id="211" name="Google Shape;211;p12"/>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2"/>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2"/>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2"/>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2"/>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6" name="Google Shape;216;p12"/>
            <p:cNvGrpSpPr/>
            <p:nvPr/>
          </p:nvGrpSpPr>
          <p:grpSpPr>
            <a:xfrm>
              <a:off x="5198943" y="4309200"/>
              <a:ext cx="231600" cy="834300"/>
              <a:chOff x="5198943" y="4309200"/>
              <a:chExt cx="231600" cy="834300"/>
            </a:xfrm>
          </p:grpSpPr>
          <p:sp>
            <p:nvSpPr>
              <p:cNvPr id="217" name="Google Shape;217;p12"/>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2"/>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2"/>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2"/>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1" name="Google Shape;221;p12"/>
            <p:cNvGrpSpPr/>
            <p:nvPr/>
          </p:nvGrpSpPr>
          <p:grpSpPr>
            <a:xfrm>
              <a:off x="5570297" y="4518900"/>
              <a:ext cx="231600" cy="624600"/>
              <a:chOff x="5570297" y="4518900"/>
              <a:chExt cx="231600" cy="624600"/>
            </a:xfrm>
          </p:grpSpPr>
          <p:sp>
            <p:nvSpPr>
              <p:cNvPr id="222" name="Google Shape;222;p12"/>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2"/>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2"/>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5" name="Google Shape;225;p12"/>
            <p:cNvGrpSpPr/>
            <p:nvPr/>
          </p:nvGrpSpPr>
          <p:grpSpPr>
            <a:xfrm>
              <a:off x="5941652" y="4309200"/>
              <a:ext cx="231600" cy="834300"/>
              <a:chOff x="5941652" y="4309200"/>
              <a:chExt cx="231600" cy="834300"/>
            </a:xfrm>
          </p:grpSpPr>
          <p:sp>
            <p:nvSpPr>
              <p:cNvPr id="226" name="Google Shape;226;p12"/>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2"/>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2"/>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2"/>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0" name="Google Shape;230;p12"/>
            <p:cNvGrpSpPr/>
            <p:nvPr/>
          </p:nvGrpSpPr>
          <p:grpSpPr>
            <a:xfrm>
              <a:off x="6313006" y="4099200"/>
              <a:ext cx="231600" cy="1044300"/>
              <a:chOff x="6313006" y="4099200"/>
              <a:chExt cx="231600" cy="1044300"/>
            </a:xfrm>
          </p:grpSpPr>
          <p:sp>
            <p:nvSpPr>
              <p:cNvPr id="231" name="Google Shape;231;p12"/>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2"/>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2"/>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2"/>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2"/>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6" name="Google Shape;236;p12"/>
            <p:cNvGrpSpPr/>
            <p:nvPr/>
          </p:nvGrpSpPr>
          <p:grpSpPr>
            <a:xfrm>
              <a:off x="6684361" y="4309200"/>
              <a:ext cx="231600" cy="834300"/>
              <a:chOff x="6684361" y="4309200"/>
              <a:chExt cx="231600" cy="834300"/>
            </a:xfrm>
          </p:grpSpPr>
          <p:sp>
            <p:nvSpPr>
              <p:cNvPr id="237" name="Google Shape;237;p12"/>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2"/>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2"/>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2"/>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1" name="Google Shape;241;p12"/>
            <p:cNvGrpSpPr/>
            <p:nvPr/>
          </p:nvGrpSpPr>
          <p:grpSpPr>
            <a:xfrm>
              <a:off x="7055715" y="4518900"/>
              <a:ext cx="231600" cy="624600"/>
              <a:chOff x="7055715" y="4518900"/>
              <a:chExt cx="231600" cy="624600"/>
            </a:xfrm>
          </p:grpSpPr>
          <p:sp>
            <p:nvSpPr>
              <p:cNvPr id="242" name="Google Shape;242;p12"/>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2"/>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2"/>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5" name="Google Shape;245;p12"/>
            <p:cNvGrpSpPr/>
            <p:nvPr/>
          </p:nvGrpSpPr>
          <p:grpSpPr>
            <a:xfrm>
              <a:off x="7798424" y="4099200"/>
              <a:ext cx="231600" cy="1044300"/>
              <a:chOff x="7798424" y="4099200"/>
              <a:chExt cx="231600" cy="1044300"/>
            </a:xfrm>
          </p:grpSpPr>
          <p:sp>
            <p:nvSpPr>
              <p:cNvPr id="246" name="Google Shape;246;p12"/>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2"/>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2"/>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2"/>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2"/>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1" name="Google Shape;251;p12"/>
            <p:cNvGrpSpPr/>
            <p:nvPr/>
          </p:nvGrpSpPr>
          <p:grpSpPr>
            <a:xfrm>
              <a:off x="8169779" y="4309200"/>
              <a:ext cx="231600" cy="834300"/>
              <a:chOff x="8169779" y="4309200"/>
              <a:chExt cx="231600" cy="834300"/>
            </a:xfrm>
          </p:grpSpPr>
          <p:sp>
            <p:nvSpPr>
              <p:cNvPr id="252" name="Google Shape;252;p12"/>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2"/>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2"/>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2"/>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 name="Google Shape;256;p12"/>
            <p:cNvGrpSpPr/>
            <p:nvPr/>
          </p:nvGrpSpPr>
          <p:grpSpPr>
            <a:xfrm>
              <a:off x="7427070" y="4309200"/>
              <a:ext cx="231600" cy="834300"/>
              <a:chOff x="7427070" y="4309200"/>
              <a:chExt cx="231600" cy="834300"/>
            </a:xfrm>
          </p:grpSpPr>
          <p:sp>
            <p:nvSpPr>
              <p:cNvPr id="257" name="Google Shape;257;p12"/>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2"/>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12"/>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2"/>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1" name="Google Shape;261;p12"/>
            <p:cNvGrpSpPr/>
            <p:nvPr/>
          </p:nvGrpSpPr>
          <p:grpSpPr>
            <a:xfrm>
              <a:off x="8541133" y="4518900"/>
              <a:ext cx="231600" cy="624600"/>
              <a:chOff x="8541133" y="4518900"/>
              <a:chExt cx="231600" cy="624600"/>
            </a:xfrm>
          </p:grpSpPr>
          <p:sp>
            <p:nvSpPr>
              <p:cNvPr id="262" name="Google Shape;262;p12"/>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2"/>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2"/>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5" name="Google Shape;265;p12"/>
            <p:cNvGrpSpPr/>
            <p:nvPr/>
          </p:nvGrpSpPr>
          <p:grpSpPr>
            <a:xfrm>
              <a:off x="8912488" y="4309200"/>
              <a:ext cx="231600" cy="834300"/>
              <a:chOff x="8912488" y="4309200"/>
              <a:chExt cx="231600" cy="834300"/>
            </a:xfrm>
          </p:grpSpPr>
          <p:sp>
            <p:nvSpPr>
              <p:cNvPr id="266" name="Google Shape;266;p12"/>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2"/>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2"/>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2"/>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70" name="Google Shape;270;p12"/>
          <p:cNvSpPr txBox="1"/>
          <p:nvPr>
            <p:ph hasCustomPrompt="1" type="title"/>
          </p:nvPr>
        </p:nvSpPr>
        <p:spPr>
          <a:xfrm>
            <a:off x="2221800" y="1236360"/>
            <a:ext cx="10187100" cy="2981400"/>
          </a:xfrm>
          <a:prstGeom prst="rect">
            <a:avLst/>
          </a:prstGeom>
          <a:noFill/>
          <a:ln>
            <a:noFill/>
          </a:ln>
        </p:spPr>
        <p:txBody>
          <a:bodyPr anchorCtr="0" anchor="ctr" bIns="146275" lIns="146275" spcFirstLastPara="1" rIns="146275" wrap="square" tIns="146275">
            <a:normAutofit/>
          </a:bodyPr>
          <a:lstStyle>
            <a:lvl1pPr lvl="0" algn="ctr">
              <a:lnSpc>
                <a:spcPct val="100000"/>
              </a:lnSpc>
              <a:spcBef>
                <a:spcPts val="0"/>
              </a:spcBef>
              <a:spcAft>
                <a:spcPts val="0"/>
              </a:spcAft>
              <a:buClr>
                <a:schemeClr val="lt1"/>
              </a:buClr>
              <a:buSzPts val="12800"/>
              <a:buNone/>
              <a:defRPr sz="12800">
                <a:solidFill>
                  <a:schemeClr val="lt1"/>
                </a:solidFill>
              </a:defRPr>
            </a:lvl1pPr>
            <a:lvl2pPr lvl="1" algn="ctr">
              <a:lnSpc>
                <a:spcPct val="100000"/>
              </a:lnSpc>
              <a:spcBef>
                <a:spcPts val="0"/>
              </a:spcBef>
              <a:spcAft>
                <a:spcPts val="0"/>
              </a:spcAft>
              <a:buClr>
                <a:schemeClr val="lt1"/>
              </a:buClr>
              <a:buSzPts val="12800"/>
              <a:buNone/>
              <a:defRPr sz="12800">
                <a:solidFill>
                  <a:schemeClr val="lt1"/>
                </a:solidFill>
              </a:defRPr>
            </a:lvl2pPr>
            <a:lvl3pPr lvl="2" algn="ctr">
              <a:lnSpc>
                <a:spcPct val="100000"/>
              </a:lnSpc>
              <a:spcBef>
                <a:spcPts val="0"/>
              </a:spcBef>
              <a:spcAft>
                <a:spcPts val="0"/>
              </a:spcAft>
              <a:buClr>
                <a:schemeClr val="lt1"/>
              </a:buClr>
              <a:buSzPts val="12800"/>
              <a:buNone/>
              <a:defRPr sz="12800">
                <a:solidFill>
                  <a:schemeClr val="lt1"/>
                </a:solidFill>
              </a:defRPr>
            </a:lvl3pPr>
            <a:lvl4pPr lvl="3" algn="ctr">
              <a:lnSpc>
                <a:spcPct val="100000"/>
              </a:lnSpc>
              <a:spcBef>
                <a:spcPts val="0"/>
              </a:spcBef>
              <a:spcAft>
                <a:spcPts val="0"/>
              </a:spcAft>
              <a:buClr>
                <a:schemeClr val="lt1"/>
              </a:buClr>
              <a:buSzPts val="12800"/>
              <a:buNone/>
              <a:defRPr sz="12800">
                <a:solidFill>
                  <a:schemeClr val="lt1"/>
                </a:solidFill>
              </a:defRPr>
            </a:lvl4pPr>
            <a:lvl5pPr lvl="4" algn="ctr">
              <a:lnSpc>
                <a:spcPct val="100000"/>
              </a:lnSpc>
              <a:spcBef>
                <a:spcPts val="0"/>
              </a:spcBef>
              <a:spcAft>
                <a:spcPts val="0"/>
              </a:spcAft>
              <a:buClr>
                <a:schemeClr val="lt1"/>
              </a:buClr>
              <a:buSzPts val="12800"/>
              <a:buNone/>
              <a:defRPr sz="12800">
                <a:solidFill>
                  <a:schemeClr val="lt1"/>
                </a:solidFill>
              </a:defRPr>
            </a:lvl5pPr>
            <a:lvl6pPr lvl="5" algn="ctr">
              <a:lnSpc>
                <a:spcPct val="100000"/>
              </a:lnSpc>
              <a:spcBef>
                <a:spcPts val="0"/>
              </a:spcBef>
              <a:spcAft>
                <a:spcPts val="0"/>
              </a:spcAft>
              <a:buClr>
                <a:schemeClr val="lt1"/>
              </a:buClr>
              <a:buSzPts val="12800"/>
              <a:buNone/>
              <a:defRPr sz="12800">
                <a:solidFill>
                  <a:schemeClr val="lt1"/>
                </a:solidFill>
              </a:defRPr>
            </a:lvl6pPr>
            <a:lvl7pPr lvl="6" algn="ctr">
              <a:lnSpc>
                <a:spcPct val="100000"/>
              </a:lnSpc>
              <a:spcBef>
                <a:spcPts val="0"/>
              </a:spcBef>
              <a:spcAft>
                <a:spcPts val="0"/>
              </a:spcAft>
              <a:buClr>
                <a:schemeClr val="lt1"/>
              </a:buClr>
              <a:buSzPts val="12800"/>
              <a:buNone/>
              <a:defRPr sz="12800">
                <a:solidFill>
                  <a:schemeClr val="lt1"/>
                </a:solidFill>
              </a:defRPr>
            </a:lvl7pPr>
            <a:lvl8pPr lvl="7" algn="ctr">
              <a:lnSpc>
                <a:spcPct val="100000"/>
              </a:lnSpc>
              <a:spcBef>
                <a:spcPts val="0"/>
              </a:spcBef>
              <a:spcAft>
                <a:spcPts val="0"/>
              </a:spcAft>
              <a:buClr>
                <a:schemeClr val="lt1"/>
              </a:buClr>
              <a:buSzPts val="12800"/>
              <a:buNone/>
              <a:defRPr sz="12800">
                <a:solidFill>
                  <a:schemeClr val="lt1"/>
                </a:solidFill>
              </a:defRPr>
            </a:lvl8pPr>
            <a:lvl9pPr lvl="8" algn="ctr">
              <a:lnSpc>
                <a:spcPct val="100000"/>
              </a:lnSpc>
              <a:spcBef>
                <a:spcPts val="0"/>
              </a:spcBef>
              <a:spcAft>
                <a:spcPts val="0"/>
              </a:spcAft>
              <a:buClr>
                <a:schemeClr val="lt1"/>
              </a:buClr>
              <a:buSzPts val="12800"/>
              <a:buNone/>
              <a:defRPr sz="12800">
                <a:solidFill>
                  <a:schemeClr val="lt1"/>
                </a:solidFill>
              </a:defRPr>
            </a:lvl9pPr>
          </a:lstStyle>
          <a:p>
            <a:r>
              <a:t>xx%</a:t>
            </a:r>
          </a:p>
        </p:txBody>
      </p:sp>
      <p:sp>
        <p:nvSpPr>
          <p:cNvPr id="271" name="Google Shape;271;p12"/>
          <p:cNvSpPr txBox="1"/>
          <p:nvPr>
            <p:ph idx="1" type="body"/>
          </p:nvPr>
        </p:nvSpPr>
        <p:spPr>
          <a:xfrm>
            <a:off x="2221800" y="4339680"/>
            <a:ext cx="10187100" cy="1777800"/>
          </a:xfrm>
          <a:prstGeom prst="rect">
            <a:avLst/>
          </a:prstGeom>
          <a:noFill/>
          <a:ln>
            <a:noFill/>
          </a:ln>
        </p:spPr>
        <p:txBody>
          <a:bodyPr anchorCtr="0" anchor="t" bIns="146275" lIns="146275" spcFirstLastPara="1" rIns="146275" wrap="square" tIns="146275">
            <a:normAutofit/>
          </a:bodyPr>
          <a:lstStyle>
            <a:lvl1pPr indent="-361950" lvl="0" marL="457200" algn="ctr">
              <a:lnSpc>
                <a:spcPct val="115000"/>
              </a:lnSpc>
              <a:spcBef>
                <a:spcPts val="0"/>
              </a:spcBef>
              <a:spcAft>
                <a:spcPts val="0"/>
              </a:spcAft>
              <a:buClr>
                <a:schemeClr val="lt1"/>
              </a:buClr>
              <a:buSzPts val="2100"/>
              <a:buChar char="●"/>
              <a:defRPr>
                <a:solidFill>
                  <a:schemeClr val="lt1"/>
                </a:solidFill>
              </a:defRPr>
            </a:lvl1pPr>
            <a:lvl2pPr indent="-342900" lvl="1" marL="914400" algn="ctr">
              <a:lnSpc>
                <a:spcPct val="115000"/>
              </a:lnSpc>
              <a:spcBef>
                <a:spcPts val="0"/>
              </a:spcBef>
              <a:spcAft>
                <a:spcPts val="0"/>
              </a:spcAft>
              <a:buClr>
                <a:schemeClr val="lt1"/>
              </a:buClr>
              <a:buSzPts val="1800"/>
              <a:buChar char="○"/>
              <a:defRPr>
                <a:solidFill>
                  <a:schemeClr val="lt1"/>
                </a:solidFill>
              </a:defRPr>
            </a:lvl2pPr>
            <a:lvl3pPr indent="-342900" lvl="2" marL="1371600" algn="ctr">
              <a:lnSpc>
                <a:spcPct val="115000"/>
              </a:lnSpc>
              <a:spcBef>
                <a:spcPts val="0"/>
              </a:spcBef>
              <a:spcAft>
                <a:spcPts val="0"/>
              </a:spcAft>
              <a:buClr>
                <a:schemeClr val="lt1"/>
              </a:buClr>
              <a:buSzPts val="1800"/>
              <a:buChar char="■"/>
              <a:defRPr>
                <a:solidFill>
                  <a:schemeClr val="lt1"/>
                </a:solidFill>
              </a:defRPr>
            </a:lvl3pPr>
            <a:lvl4pPr indent="-342900" lvl="3" marL="1828800" algn="ctr">
              <a:lnSpc>
                <a:spcPct val="115000"/>
              </a:lnSpc>
              <a:spcBef>
                <a:spcPts val="0"/>
              </a:spcBef>
              <a:spcAft>
                <a:spcPts val="0"/>
              </a:spcAft>
              <a:buClr>
                <a:schemeClr val="lt1"/>
              </a:buClr>
              <a:buSzPts val="1800"/>
              <a:buChar char="●"/>
              <a:defRPr>
                <a:solidFill>
                  <a:schemeClr val="lt1"/>
                </a:solidFill>
              </a:defRPr>
            </a:lvl4pPr>
            <a:lvl5pPr indent="-342900" lvl="4" marL="2286000" algn="ctr">
              <a:lnSpc>
                <a:spcPct val="115000"/>
              </a:lnSpc>
              <a:spcBef>
                <a:spcPts val="0"/>
              </a:spcBef>
              <a:spcAft>
                <a:spcPts val="0"/>
              </a:spcAft>
              <a:buClr>
                <a:schemeClr val="lt1"/>
              </a:buClr>
              <a:buSzPts val="1800"/>
              <a:buChar char="○"/>
              <a:defRPr>
                <a:solidFill>
                  <a:schemeClr val="lt1"/>
                </a:solidFill>
              </a:defRPr>
            </a:lvl5pPr>
            <a:lvl6pPr indent="-342900" lvl="5" marL="2743200" algn="ctr">
              <a:lnSpc>
                <a:spcPct val="115000"/>
              </a:lnSpc>
              <a:spcBef>
                <a:spcPts val="0"/>
              </a:spcBef>
              <a:spcAft>
                <a:spcPts val="0"/>
              </a:spcAft>
              <a:buClr>
                <a:schemeClr val="lt1"/>
              </a:buClr>
              <a:buSzPts val="1800"/>
              <a:buChar char="■"/>
              <a:defRPr>
                <a:solidFill>
                  <a:schemeClr val="lt1"/>
                </a:solidFill>
              </a:defRPr>
            </a:lvl6pPr>
            <a:lvl7pPr indent="-342900" lvl="6" marL="3200400" algn="ctr">
              <a:lnSpc>
                <a:spcPct val="115000"/>
              </a:lnSpc>
              <a:spcBef>
                <a:spcPts val="0"/>
              </a:spcBef>
              <a:spcAft>
                <a:spcPts val="0"/>
              </a:spcAft>
              <a:buClr>
                <a:schemeClr val="lt1"/>
              </a:buClr>
              <a:buSzPts val="1800"/>
              <a:buChar char="●"/>
              <a:defRPr>
                <a:solidFill>
                  <a:schemeClr val="lt1"/>
                </a:solidFill>
              </a:defRPr>
            </a:lvl7pPr>
            <a:lvl8pPr indent="-342900" lvl="7" marL="3657600" algn="ctr">
              <a:lnSpc>
                <a:spcPct val="115000"/>
              </a:lnSpc>
              <a:spcBef>
                <a:spcPts val="0"/>
              </a:spcBef>
              <a:spcAft>
                <a:spcPts val="0"/>
              </a:spcAft>
              <a:buClr>
                <a:schemeClr val="lt1"/>
              </a:buClr>
              <a:buSzPts val="1800"/>
              <a:buChar char="○"/>
              <a:defRPr>
                <a:solidFill>
                  <a:schemeClr val="lt1"/>
                </a:solidFill>
              </a:defRPr>
            </a:lvl8pPr>
            <a:lvl9pPr indent="-342900" lvl="8" marL="4114800" algn="ctr">
              <a:lnSpc>
                <a:spcPct val="115000"/>
              </a:lnSpc>
              <a:spcBef>
                <a:spcPts val="0"/>
              </a:spcBef>
              <a:spcAft>
                <a:spcPts val="0"/>
              </a:spcAft>
              <a:buClr>
                <a:schemeClr val="lt1"/>
              </a:buClr>
              <a:buSzPts val="1800"/>
              <a:buChar char="■"/>
              <a:defRPr>
                <a:solidFill>
                  <a:schemeClr val="lt1"/>
                </a:solidFill>
              </a:defRPr>
            </a:lvl9pPr>
          </a:lstStyle>
          <a:p/>
        </p:txBody>
      </p:sp>
      <p:sp>
        <p:nvSpPr>
          <p:cNvPr id="272" name="Google Shape;272;p12"/>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7" name="Shape 277"/>
        <p:cNvGrpSpPr/>
        <p:nvPr/>
      </p:nvGrpSpPr>
      <p:grpSpPr>
        <a:xfrm>
          <a:off x="0" y="0"/>
          <a:ext cx="0" cy="0"/>
          <a:chOff x="0" y="0"/>
          <a:chExt cx="0" cy="0"/>
        </a:xfrm>
      </p:grpSpPr>
      <p:sp>
        <p:nvSpPr>
          <p:cNvPr id="278" name="Google Shape;278;p14"/>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279" name="Shape 279"/>
        <p:cNvGrpSpPr/>
        <p:nvPr/>
      </p:nvGrpSpPr>
      <p:grpSpPr>
        <a:xfrm>
          <a:off x="0" y="0"/>
          <a:ext cx="0" cy="0"/>
          <a:chOff x="0" y="0"/>
          <a:chExt cx="0" cy="0"/>
        </a:xfrm>
      </p:grpSpPr>
      <p:grpSp>
        <p:nvGrpSpPr>
          <p:cNvPr id="280" name="Google Shape;280;p15"/>
          <p:cNvGrpSpPr/>
          <p:nvPr/>
        </p:nvGrpSpPr>
        <p:grpSpPr>
          <a:xfrm>
            <a:off x="10986748" y="2176"/>
            <a:ext cx="3628035" cy="4162621"/>
            <a:chOff x="6790514" y="1359"/>
            <a:chExt cx="2267522" cy="2601638"/>
          </a:xfrm>
        </p:grpSpPr>
        <p:grpSp>
          <p:nvGrpSpPr>
            <p:cNvPr id="281" name="Google Shape;281;p15"/>
            <p:cNvGrpSpPr/>
            <p:nvPr/>
          </p:nvGrpSpPr>
          <p:grpSpPr>
            <a:xfrm>
              <a:off x="7067536" y="1359"/>
              <a:ext cx="1990500" cy="1990200"/>
              <a:chOff x="7067536" y="1359"/>
              <a:chExt cx="1990500" cy="1990200"/>
            </a:xfrm>
          </p:grpSpPr>
          <p:sp>
            <p:nvSpPr>
              <p:cNvPr id="282" name="Google Shape;282;p15"/>
              <p:cNvSpPr/>
              <p:nvPr/>
            </p:nvSpPr>
            <p:spPr>
              <a:xfrm rot="-8648551">
                <a:off x="7594313" y="527721"/>
                <a:ext cx="937226" cy="937226"/>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5"/>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5"/>
              <p:cNvSpPr/>
              <p:nvPr/>
            </p:nvSpPr>
            <p:spPr>
              <a:xfrm rot="-8649154">
                <a:off x="7349962" y="283757"/>
                <a:ext cx="1425647" cy="14254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5" name="Google Shape;285;p15"/>
            <p:cNvGrpSpPr/>
            <p:nvPr/>
          </p:nvGrpSpPr>
          <p:grpSpPr>
            <a:xfrm>
              <a:off x="8207126" y="1807997"/>
              <a:ext cx="795000" cy="795000"/>
              <a:chOff x="8207126" y="1807997"/>
              <a:chExt cx="795000" cy="795000"/>
            </a:xfrm>
          </p:grpSpPr>
          <p:sp>
            <p:nvSpPr>
              <p:cNvPr id="286" name="Google Shape;286;p15"/>
              <p:cNvSpPr/>
              <p:nvPr/>
            </p:nvSpPr>
            <p:spPr>
              <a:xfrm rot="2152054">
                <a:off x="8319942" y="1920813"/>
                <a:ext cx="569367" cy="569367"/>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5"/>
              <p:cNvSpPr/>
              <p:nvPr/>
            </p:nvSpPr>
            <p:spPr>
              <a:xfrm rot="2150259">
                <a:off x="8408218" y="2008610"/>
                <a:ext cx="393004" cy="3930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5"/>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9" name="Google Shape;289;p15"/>
            <p:cNvGrpSpPr/>
            <p:nvPr/>
          </p:nvGrpSpPr>
          <p:grpSpPr>
            <a:xfrm>
              <a:off x="6790514" y="118857"/>
              <a:ext cx="548700" cy="548700"/>
              <a:chOff x="6790514" y="118857"/>
              <a:chExt cx="548700" cy="548700"/>
            </a:xfrm>
          </p:grpSpPr>
          <p:sp>
            <p:nvSpPr>
              <p:cNvPr id="290" name="Google Shape;290;p15"/>
              <p:cNvSpPr/>
              <p:nvPr/>
            </p:nvSpPr>
            <p:spPr>
              <a:xfrm rot="2150259">
                <a:off x="6868362" y="196705"/>
                <a:ext cx="393004" cy="393004"/>
              </a:xfrm>
              <a:prstGeom prst="ellipse">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5"/>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92" name="Google Shape;292;p15"/>
          <p:cNvSpPr txBox="1"/>
          <p:nvPr>
            <p:ph type="title"/>
          </p:nvPr>
        </p:nvSpPr>
        <p:spPr>
          <a:xfrm>
            <a:off x="1318400" y="1221760"/>
            <a:ext cx="9372600" cy="57174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293" name="Google Shape;293;p15"/>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4" name="Shape 294"/>
        <p:cNvGrpSpPr/>
        <p:nvPr/>
      </p:nvGrpSpPr>
      <p:grpSpPr>
        <a:xfrm>
          <a:off x="0" y="0"/>
          <a:ext cx="0" cy="0"/>
          <a:chOff x="0" y="0"/>
          <a:chExt cx="0" cy="0"/>
        </a:xfrm>
      </p:grpSpPr>
      <p:grpSp>
        <p:nvGrpSpPr>
          <p:cNvPr id="295" name="Google Shape;295;p16"/>
          <p:cNvGrpSpPr/>
          <p:nvPr/>
        </p:nvGrpSpPr>
        <p:grpSpPr>
          <a:xfrm>
            <a:off x="1001538" y="478999"/>
            <a:ext cx="1598876" cy="1598876"/>
            <a:chOff x="348199" y="179450"/>
            <a:chExt cx="1116300" cy="1116300"/>
          </a:xfrm>
        </p:grpSpPr>
        <p:sp>
          <p:nvSpPr>
            <p:cNvPr id="296" name="Google Shape;296;p16"/>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6"/>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8" name="Google Shape;298;p16"/>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299" name="Google Shape;299;p16"/>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300" name="Shape 300"/>
        <p:cNvGrpSpPr/>
        <p:nvPr/>
      </p:nvGrpSpPr>
      <p:grpSpPr>
        <a:xfrm>
          <a:off x="0" y="0"/>
          <a:ext cx="0" cy="0"/>
          <a:chOff x="0" y="0"/>
          <a:chExt cx="0" cy="0"/>
        </a:xfrm>
      </p:grpSpPr>
      <p:grpSp>
        <p:nvGrpSpPr>
          <p:cNvPr id="301" name="Google Shape;301;p17"/>
          <p:cNvGrpSpPr/>
          <p:nvPr/>
        </p:nvGrpSpPr>
        <p:grpSpPr>
          <a:xfrm>
            <a:off x="11748806" y="5455481"/>
            <a:ext cx="2706275" cy="2772077"/>
            <a:chOff x="7343003" y="3409675"/>
            <a:chExt cx="1691422" cy="1732548"/>
          </a:xfrm>
        </p:grpSpPr>
        <p:grpSp>
          <p:nvGrpSpPr>
            <p:cNvPr id="302" name="Google Shape;302;p17"/>
            <p:cNvGrpSpPr/>
            <p:nvPr/>
          </p:nvGrpSpPr>
          <p:grpSpPr>
            <a:xfrm>
              <a:off x="7343003" y="4453711"/>
              <a:ext cx="316800" cy="688512"/>
              <a:chOff x="7343003" y="4453711"/>
              <a:chExt cx="316800" cy="688512"/>
            </a:xfrm>
          </p:grpSpPr>
          <p:sp>
            <p:nvSpPr>
              <p:cNvPr id="303" name="Google Shape;303;p17"/>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7"/>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5" name="Google Shape;305;p17"/>
            <p:cNvGrpSpPr/>
            <p:nvPr/>
          </p:nvGrpSpPr>
          <p:grpSpPr>
            <a:xfrm>
              <a:off x="7801210" y="4105700"/>
              <a:ext cx="316800" cy="1036523"/>
              <a:chOff x="7801210" y="4105700"/>
              <a:chExt cx="316800" cy="1036523"/>
            </a:xfrm>
          </p:grpSpPr>
          <p:sp>
            <p:nvSpPr>
              <p:cNvPr id="306" name="Google Shape;306;p17"/>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7"/>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7"/>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9" name="Google Shape;309;p17"/>
            <p:cNvGrpSpPr/>
            <p:nvPr/>
          </p:nvGrpSpPr>
          <p:grpSpPr>
            <a:xfrm>
              <a:off x="8259418" y="3757688"/>
              <a:ext cx="316800" cy="1384535"/>
              <a:chOff x="8259418" y="3757688"/>
              <a:chExt cx="316800" cy="1384535"/>
            </a:xfrm>
          </p:grpSpPr>
          <p:sp>
            <p:nvSpPr>
              <p:cNvPr id="310" name="Google Shape;310;p17"/>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17"/>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7"/>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7"/>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4" name="Google Shape;314;p17"/>
            <p:cNvGrpSpPr/>
            <p:nvPr/>
          </p:nvGrpSpPr>
          <p:grpSpPr>
            <a:xfrm>
              <a:off x="8717625" y="3409675"/>
              <a:ext cx="316800" cy="1732548"/>
              <a:chOff x="8717625" y="3409675"/>
              <a:chExt cx="316800" cy="1732548"/>
            </a:xfrm>
          </p:grpSpPr>
          <p:sp>
            <p:nvSpPr>
              <p:cNvPr id="315" name="Google Shape;315;p17"/>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17"/>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7"/>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7"/>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7"/>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20" name="Google Shape;320;p17"/>
          <p:cNvGrpSpPr/>
          <p:nvPr/>
        </p:nvGrpSpPr>
        <p:grpSpPr>
          <a:xfrm>
            <a:off x="8069603" y="0"/>
            <a:ext cx="6102515" cy="6142563"/>
            <a:chOff x="5043503" y="0"/>
            <a:chExt cx="3814072" cy="3839102"/>
          </a:xfrm>
        </p:grpSpPr>
        <p:sp>
          <p:nvSpPr>
            <p:cNvPr id="321" name="Google Shape;321;p17"/>
            <p:cNvSpPr/>
            <p:nvPr/>
          </p:nvSpPr>
          <p:spPr>
            <a:xfrm>
              <a:off x="8460975" y="1817775"/>
              <a:ext cx="396600" cy="396600"/>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7"/>
            <p:cNvSpPr/>
            <p:nvPr/>
          </p:nvSpPr>
          <p:spPr>
            <a:xfrm rot="-9830444">
              <a:off x="6469759" y="3480727"/>
              <a:ext cx="320148" cy="320148"/>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3" name="Google Shape;323;p17"/>
            <p:cNvGrpSpPr/>
            <p:nvPr/>
          </p:nvGrpSpPr>
          <p:grpSpPr>
            <a:xfrm>
              <a:off x="7647815" y="2704283"/>
              <a:ext cx="635220" cy="635219"/>
              <a:chOff x="6725724" y="2701260"/>
              <a:chExt cx="1208101" cy="1208100"/>
            </a:xfrm>
          </p:grpSpPr>
          <p:sp>
            <p:nvSpPr>
              <p:cNvPr id="324" name="Google Shape;324;p17"/>
              <p:cNvSpPr/>
              <p:nvPr/>
            </p:nvSpPr>
            <p:spPr>
              <a:xfrm rot="5400000">
                <a:off x="6725725" y="2701260"/>
                <a:ext cx="1208100" cy="1208100"/>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7"/>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7"/>
              <p:cNvSpPr/>
              <p:nvPr/>
            </p:nvSpPr>
            <p:spPr>
              <a:xfrm rot="5400000">
                <a:off x="6954988" y="2930398"/>
                <a:ext cx="749700" cy="749700"/>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7" name="Google Shape;327;p17"/>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8" name="Google Shape;328;p17"/>
            <p:cNvGrpSpPr/>
            <p:nvPr/>
          </p:nvGrpSpPr>
          <p:grpSpPr>
            <a:xfrm>
              <a:off x="7952718" y="179238"/>
              <a:ext cx="873165" cy="873002"/>
              <a:chOff x="7754428" y="208725"/>
              <a:chExt cx="541800" cy="541800"/>
            </a:xfrm>
          </p:grpSpPr>
          <p:sp>
            <p:nvSpPr>
              <p:cNvPr id="329" name="Google Shape;329;p17"/>
              <p:cNvSpPr/>
              <p:nvPr/>
            </p:nvSpPr>
            <p:spPr>
              <a:xfrm rot="-8647347">
                <a:off x="7831319" y="285616"/>
                <a:ext cx="388018" cy="388018"/>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7"/>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1" name="Google Shape;331;p17"/>
            <p:cNvSpPr/>
            <p:nvPr/>
          </p:nvSpPr>
          <p:spPr>
            <a:xfrm>
              <a:off x="5399840" y="356365"/>
              <a:ext cx="2577000" cy="2577000"/>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7"/>
            <p:cNvSpPr/>
            <p:nvPr/>
          </p:nvSpPr>
          <p:spPr>
            <a:xfrm rot="2043858">
              <a:off x="5503813" y="460310"/>
              <a:ext cx="2369480" cy="2369480"/>
            </a:xfrm>
            <a:prstGeom prst="ellipse">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7"/>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7"/>
            <p:cNvSpPr/>
            <p:nvPr/>
          </p:nvSpPr>
          <p:spPr>
            <a:xfrm rot="2044777">
              <a:off x="5911449" y="867729"/>
              <a:ext cx="1554223" cy="1554223"/>
            </a:xfrm>
            <a:prstGeom prst="ellipse">
              <a:avLst/>
            </a:prstGeom>
            <a:solidFill>
              <a:schemeClr val="accent3"/>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7"/>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17"/>
            <p:cNvSpPr/>
            <p:nvPr/>
          </p:nvSpPr>
          <p:spPr>
            <a:xfrm rot="-9830444">
              <a:off x="6469759" y="3480726"/>
              <a:ext cx="320148" cy="320148"/>
            </a:xfrm>
            <a:prstGeom prst="pie">
              <a:avLst>
                <a:gd fmla="val 19376841" name="adj1"/>
                <a:gd fmla="val 16200000" name="adj2"/>
              </a:avLst>
            </a:prstGeom>
            <a:solidFill>
              <a:schemeClr val="lt1">
                <a:alpha val="941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7" name="Google Shape;337;p17"/>
          <p:cNvSpPr txBox="1"/>
          <p:nvPr>
            <p:ph type="ctrTitle"/>
          </p:nvPr>
        </p:nvSpPr>
        <p:spPr>
          <a:xfrm>
            <a:off x="1318400" y="2582100"/>
            <a:ext cx="6808800" cy="2996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338" name="Google Shape;338;p17"/>
          <p:cNvSpPr txBox="1"/>
          <p:nvPr>
            <p:ph idx="1" type="subTitle"/>
          </p:nvPr>
        </p:nvSpPr>
        <p:spPr>
          <a:xfrm>
            <a:off x="1318400" y="5754080"/>
            <a:ext cx="6808800" cy="11127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Clr>
                <a:schemeClr val="lt1"/>
              </a:buClr>
              <a:buSzPts val="2600"/>
              <a:buNone/>
              <a:defRPr sz="2600">
                <a:solidFill>
                  <a:schemeClr val="lt1"/>
                </a:solidFill>
              </a:defRPr>
            </a:lvl1pPr>
            <a:lvl2pPr lvl="1" algn="l">
              <a:lnSpc>
                <a:spcPct val="100000"/>
              </a:lnSpc>
              <a:spcBef>
                <a:spcPts val="0"/>
              </a:spcBef>
              <a:spcAft>
                <a:spcPts val="0"/>
              </a:spcAft>
              <a:buClr>
                <a:schemeClr val="lt1"/>
              </a:buClr>
              <a:buSzPts val="2600"/>
              <a:buNone/>
              <a:defRPr sz="2600">
                <a:solidFill>
                  <a:schemeClr val="lt1"/>
                </a:solidFill>
              </a:defRPr>
            </a:lvl2pPr>
            <a:lvl3pPr lvl="2" algn="l">
              <a:lnSpc>
                <a:spcPct val="100000"/>
              </a:lnSpc>
              <a:spcBef>
                <a:spcPts val="0"/>
              </a:spcBef>
              <a:spcAft>
                <a:spcPts val="0"/>
              </a:spcAft>
              <a:buClr>
                <a:schemeClr val="lt1"/>
              </a:buClr>
              <a:buSzPts val="2600"/>
              <a:buNone/>
              <a:defRPr sz="2600">
                <a:solidFill>
                  <a:schemeClr val="lt1"/>
                </a:solidFill>
              </a:defRPr>
            </a:lvl3pPr>
            <a:lvl4pPr lvl="3" algn="l">
              <a:lnSpc>
                <a:spcPct val="100000"/>
              </a:lnSpc>
              <a:spcBef>
                <a:spcPts val="0"/>
              </a:spcBef>
              <a:spcAft>
                <a:spcPts val="0"/>
              </a:spcAft>
              <a:buClr>
                <a:schemeClr val="lt1"/>
              </a:buClr>
              <a:buSzPts val="2600"/>
              <a:buNone/>
              <a:defRPr sz="2600">
                <a:solidFill>
                  <a:schemeClr val="lt1"/>
                </a:solidFill>
              </a:defRPr>
            </a:lvl4pPr>
            <a:lvl5pPr lvl="4" algn="l">
              <a:lnSpc>
                <a:spcPct val="100000"/>
              </a:lnSpc>
              <a:spcBef>
                <a:spcPts val="0"/>
              </a:spcBef>
              <a:spcAft>
                <a:spcPts val="0"/>
              </a:spcAft>
              <a:buClr>
                <a:schemeClr val="lt1"/>
              </a:buClr>
              <a:buSzPts val="2600"/>
              <a:buNone/>
              <a:defRPr sz="2600">
                <a:solidFill>
                  <a:schemeClr val="lt1"/>
                </a:solidFill>
              </a:defRPr>
            </a:lvl5pPr>
            <a:lvl6pPr lvl="5" algn="l">
              <a:lnSpc>
                <a:spcPct val="100000"/>
              </a:lnSpc>
              <a:spcBef>
                <a:spcPts val="0"/>
              </a:spcBef>
              <a:spcAft>
                <a:spcPts val="0"/>
              </a:spcAft>
              <a:buClr>
                <a:schemeClr val="lt1"/>
              </a:buClr>
              <a:buSzPts val="2600"/>
              <a:buNone/>
              <a:defRPr sz="2600">
                <a:solidFill>
                  <a:schemeClr val="lt1"/>
                </a:solidFill>
              </a:defRPr>
            </a:lvl6pPr>
            <a:lvl7pPr lvl="6" algn="l">
              <a:lnSpc>
                <a:spcPct val="100000"/>
              </a:lnSpc>
              <a:spcBef>
                <a:spcPts val="0"/>
              </a:spcBef>
              <a:spcAft>
                <a:spcPts val="0"/>
              </a:spcAft>
              <a:buClr>
                <a:schemeClr val="lt1"/>
              </a:buClr>
              <a:buSzPts val="2600"/>
              <a:buNone/>
              <a:defRPr sz="2600">
                <a:solidFill>
                  <a:schemeClr val="lt1"/>
                </a:solidFill>
              </a:defRPr>
            </a:lvl7pPr>
            <a:lvl8pPr lvl="7" algn="l">
              <a:lnSpc>
                <a:spcPct val="100000"/>
              </a:lnSpc>
              <a:spcBef>
                <a:spcPts val="0"/>
              </a:spcBef>
              <a:spcAft>
                <a:spcPts val="0"/>
              </a:spcAft>
              <a:buClr>
                <a:schemeClr val="lt1"/>
              </a:buClr>
              <a:buSzPts val="2600"/>
              <a:buNone/>
              <a:defRPr sz="2600">
                <a:solidFill>
                  <a:schemeClr val="lt1"/>
                </a:solidFill>
              </a:defRPr>
            </a:lvl8pPr>
            <a:lvl9pPr lvl="8" algn="l">
              <a:lnSpc>
                <a:spcPct val="100000"/>
              </a:lnSpc>
              <a:spcBef>
                <a:spcPts val="0"/>
              </a:spcBef>
              <a:spcAft>
                <a:spcPts val="0"/>
              </a:spcAft>
              <a:buClr>
                <a:schemeClr val="lt1"/>
              </a:buClr>
              <a:buSzPts val="2600"/>
              <a:buNone/>
              <a:defRPr sz="2600">
                <a:solidFill>
                  <a:schemeClr val="lt1"/>
                </a:solidFill>
              </a:defRPr>
            </a:lvl9pPr>
          </a:lstStyle>
          <a:p/>
        </p:txBody>
      </p:sp>
      <p:sp>
        <p:nvSpPr>
          <p:cNvPr id="339" name="Google Shape;339;p17"/>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40" name="Shape 340"/>
        <p:cNvGrpSpPr/>
        <p:nvPr/>
      </p:nvGrpSpPr>
      <p:grpSpPr>
        <a:xfrm>
          <a:off x="0" y="0"/>
          <a:ext cx="0" cy="0"/>
          <a:chOff x="0" y="0"/>
          <a:chExt cx="0" cy="0"/>
        </a:xfrm>
      </p:grpSpPr>
      <p:grpSp>
        <p:nvGrpSpPr>
          <p:cNvPr id="341" name="Google Shape;341;p18"/>
          <p:cNvGrpSpPr/>
          <p:nvPr/>
        </p:nvGrpSpPr>
        <p:grpSpPr>
          <a:xfrm>
            <a:off x="234830" y="5450"/>
            <a:ext cx="1973142" cy="2215256"/>
            <a:chOff x="146769" y="3406"/>
            <a:chExt cx="1233214" cy="1384535"/>
          </a:xfrm>
        </p:grpSpPr>
        <p:grpSp>
          <p:nvGrpSpPr>
            <p:cNvPr id="342" name="Google Shape;342;p18"/>
            <p:cNvGrpSpPr/>
            <p:nvPr/>
          </p:nvGrpSpPr>
          <p:grpSpPr>
            <a:xfrm>
              <a:off x="1063183" y="3406"/>
              <a:ext cx="316800" cy="688513"/>
              <a:chOff x="1063183" y="3406"/>
              <a:chExt cx="316800" cy="688513"/>
            </a:xfrm>
          </p:grpSpPr>
          <p:sp>
            <p:nvSpPr>
              <p:cNvPr id="343" name="Google Shape;343;p18"/>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8"/>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5" name="Google Shape;345;p18"/>
            <p:cNvGrpSpPr/>
            <p:nvPr/>
          </p:nvGrpSpPr>
          <p:grpSpPr>
            <a:xfrm>
              <a:off x="604976" y="3406"/>
              <a:ext cx="316800" cy="1036524"/>
              <a:chOff x="604976" y="3406"/>
              <a:chExt cx="316800" cy="1036524"/>
            </a:xfrm>
          </p:grpSpPr>
          <p:sp>
            <p:nvSpPr>
              <p:cNvPr id="346" name="Google Shape;346;p18"/>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8"/>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8"/>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9" name="Google Shape;349;p18"/>
            <p:cNvGrpSpPr/>
            <p:nvPr/>
          </p:nvGrpSpPr>
          <p:grpSpPr>
            <a:xfrm>
              <a:off x="146769" y="3406"/>
              <a:ext cx="316800" cy="1384535"/>
              <a:chOff x="146769" y="3406"/>
              <a:chExt cx="316800" cy="1384535"/>
            </a:xfrm>
          </p:grpSpPr>
          <p:sp>
            <p:nvSpPr>
              <p:cNvPr id="350" name="Google Shape;350;p18"/>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8"/>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8"/>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8"/>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54" name="Google Shape;354;p18"/>
          <p:cNvGrpSpPr/>
          <p:nvPr/>
        </p:nvGrpSpPr>
        <p:grpSpPr>
          <a:xfrm>
            <a:off x="10840138" y="4646413"/>
            <a:ext cx="3497835" cy="3583200"/>
            <a:chOff x="6775084" y="2904008"/>
            <a:chExt cx="2186147" cy="2239500"/>
          </a:xfrm>
        </p:grpSpPr>
        <p:grpSp>
          <p:nvGrpSpPr>
            <p:cNvPr id="355" name="Google Shape;355;p18"/>
            <p:cNvGrpSpPr/>
            <p:nvPr/>
          </p:nvGrpSpPr>
          <p:grpSpPr>
            <a:xfrm>
              <a:off x="6775084" y="4253708"/>
              <a:ext cx="409500" cy="889800"/>
              <a:chOff x="6775084" y="4253708"/>
              <a:chExt cx="409500" cy="889800"/>
            </a:xfrm>
          </p:grpSpPr>
          <p:sp>
            <p:nvSpPr>
              <p:cNvPr id="356" name="Google Shape;356;p18"/>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8"/>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8" name="Google Shape;358;p18"/>
            <p:cNvGrpSpPr/>
            <p:nvPr/>
          </p:nvGrpSpPr>
          <p:grpSpPr>
            <a:xfrm>
              <a:off x="7367299" y="3804008"/>
              <a:ext cx="409500" cy="1339500"/>
              <a:chOff x="7367299" y="3804008"/>
              <a:chExt cx="409500" cy="1339500"/>
            </a:xfrm>
          </p:grpSpPr>
          <p:sp>
            <p:nvSpPr>
              <p:cNvPr id="359" name="Google Shape;359;p18"/>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8"/>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8"/>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2" name="Google Shape;362;p18"/>
            <p:cNvGrpSpPr/>
            <p:nvPr/>
          </p:nvGrpSpPr>
          <p:grpSpPr>
            <a:xfrm>
              <a:off x="7959516" y="3354008"/>
              <a:ext cx="409500" cy="1789500"/>
              <a:chOff x="7959516" y="3354008"/>
              <a:chExt cx="409500" cy="1789500"/>
            </a:xfrm>
          </p:grpSpPr>
          <p:sp>
            <p:nvSpPr>
              <p:cNvPr id="363" name="Google Shape;363;p18"/>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8"/>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8"/>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18"/>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7" name="Google Shape;367;p18"/>
            <p:cNvGrpSpPr/>
            <p:nvPr/>
          </p:nvGrpSpPr>
          <p:grpSpPr>
            <a:xfrm>
              <a:off x="8551731" y="2904008"/>
              <a:ext cx="409500" cy="2239500"/>
              <a:chOff x="8551731" y="2904008"/>
              <a:chExt cx="409500" cy="2239500"/>
            </a:xfrm>
          </p:grpSpPr>
          <p:sp>
            <p:nvSpPr>
              <p:cNvPr id="368" name="Google Shape;368;p18"/>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18"/>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8"/>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8"/>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8"/>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73" name="Google Shape;373;p18"/>
          <p:cNvSpPr txBox="1"/>
          <p:nvPr>
            <p:ph type="title"/>
          </p:nvPr>
        </p:nvSpPr>
        <p:spPr>
          <a:xfrm>
            <a:off x="1318400" y="2582120"/>
            <a:ext cx="9372600" cy="2996700"/>
          </a:xfrm>
          <a:prstGeom prst="rect">
            <a:avLst/>
          </a:prstGeom>
          <a:noFill/>
          <a:ln>
            <a:noFill/>
          </a:ln>
        </p:spPr>
        <p:txBody>
          <a:bodyPr anchorCtr="0" anchor="ctr" bIns="146275" lIns="146275" spcFirstLastPara="1" rIns="146275" wrap="square" tIns="146275">
            <a:normAutofit/>
          </a:bodyPr>
          <a:lstStyle>
            <a:lvl1pPr lvl="0" algn="l">
              <a:lnSpc>
                <a:spcPct val="100000"/>
              </a:lnSpc>
              <a:spcBef>
                <a:spcPts val="0"/>
              </a:spcBef>
              <a:spcAft>
                <a:spcPts val="0"/>
              </a:spcAft>
              <a:buClr>
                <a:schemeClr val="lt1"/>
              </a:buClr>
              <a:buSzPts val="5800"/>
              <a:buNone/>
              <a:defRPr sz="5800">
                <a:solidFill>
                  <a:schemeClr val="lt1"/>
                </a:solidFill>
              </a:defRPr>
            </a:lvl1pPr>
            <a:lvl2pPr lvl="1" algn="l">
              <a:lnSpc>
                <a:spcPct val="100000"/>
              </a:lnSpc>
              <a:spcBef>
                <a:spcPts val="0"/>
              </a:spcBef>
              <a:spcAft>
                <a:spcPts val="0"/>
              </a:spcAft>
              <a:buClr>
                <a:schemeClr val="lt1"/>
              </a:buClr>
              <a:buSzPts val="5800"/>
              <a:buNone/>
              <a:defRPr sz="5800">
                <a:solidFill>
                  <a:schemeClr val="lt1"/>
                </a:solidFill>
              </a:defRPr>
            </a:lvl2pPr>
            <a:lvl3pPr lvl="2" algn="l">
              <a:lnSpc>
                <a:spcPct val="100000"/>
              </a:lnSpc>
              <a:spcBef>
                <a:spcPts val="0"/>
              </a:spcBef>
              <a:spcAft>
                <a:spcPts val="0"/>
              </a:spcAft>
              <a:buClr>
                <a:schemeClr val="lt1"/>
              </a:buClr>
              <a:buSzPts val="5800"/>
              <a:buNone/>
              <a:defRPr sz="5800">
                <a:solidFill>
                  <a:schemeClr val="lt1"/>
                </a:solidFill>
              </a:defRPr>
            </a:lvl3pPr>
            <a:lvl4pPr lvl="3" algn="l">
              <a:lnSpc>
                <a:spcPct val="100000"/>
              </a:lnSpc>
              <a:spcBef>
                <a:spcPts val="0"/>
              </a:spcBef>
              <a:spcAft>
                <a:spcPts val="0"/>
              </a:spcAft>
              <a:buClr>
                <a:schemeClr val="lt1"/>
              </a:buClr>
              <a:buSzPts val="5800"/>
              <a:buNone/>
              <a:defRPr sz="5800">
                <a:solidFill>
                  <a:schemeClr val="lt1"/>
                </a:solidFill>
              </a:defRPr>
            </a:lvl4pPr>
            <a:lvl5pPr lvl="4" algn="l">
              <a:lnSpc>
                <a:spcPct val="100000"/>
              </a:lnSpc>
              <a:spcBef>
                <a:spcPts val="0"/>
              </a:spcBef>
              <a:spcAft>
                <a:spcPts val="0"/>
              </a:spcAft>
              <a:buClr>
                <a:schemeClr val="lt1"/>
              </a:buClr>
              <a:buSzPts val="5800"/>
              <a:buNone/>
              <a:defRPr sz="5800">
                <a:solidFill>
                  <a:schemeClr val="lt1"/>
                </a:solidFill>
              </a:defRPr>
            </a:lvl5pPr>
            <a:lvl6pPr lvl="5" algn="l">
              <a:lnSpc>
                <a:spcPct val="100000"/>
              </a:lnSpc>
              <a:spcBef>
                <a:spcPts val="0"/>
              </a:spcBef>
              <a:spcAft>
                <a:spcPts val="0"/>
              </a:spcAft>
              <a:buClr>
                <a:schemeClr val="lt1"/>
              </a:buClr>
              <a:buSzPts val="5800"/>
              <a:buNone/>
              <a:defRPr sz="5800">
                <a:solidFill>
                  <a:schemeClr val="lt1"/>
                </a:solidFill>
              </a:defRPr>
            </a:lvl6pPr>
            <a:lvl7pPr lvl="6" algn="l">
              <a:lnSpc>
                <a:spcPct val="100000"/>
              </a:lnSpc>
              <a:spcBef>
                <a:spcPts val="0"/>
              </a:spcBef>
              <a:spcAft>
                <a:spcPts val="0"/>
              </a:spcAft>
              <a:buClr>
                <a:schemeClr val="lt1"/>
              </a:buClr>
              <a:buSzPts val="5800"/>
              <a:buNone/>
              <a:defRPr sz="5800">
                <a:solidFill>
                  <a:schemeClr val="lt1"/>
                </a:solidFill>
              </a:defRPr>
            </a:lvl7pPr>
            <a:lvl8pPr lvl="7" algn="l">
              <a:lnSpc>
                <a:spcPct val="100000"/>
              </a:lnSpc>
              <a:spcBef>
                <a:spcPts val="0"/>
              </a:spcBef>
              <a:spcAft>
                <a:spcPts val="0"/>
              </a:spcAft>
              <a:buClr>
                <a:schemeClr val="lt1"/>
              </a:buClr>
              <a:buSzPts val="5800"/>
              <a:buNone/>
              <a:defRPr sz="5800">
                <a:solidFill>
                  <a:schemeClr val="lt1"/>
                </a:solidFill>
              </a:defRPr>
            </a:lvl8pPr>
            <a:lvl9pPr lvl="8" algn="l">
              <a:lnSpc>
                <a:spcPct val="100000"/>
              </a:lnSpc>
              <a:spcBef>
                <a:spcPts val="0"/>
              </a:spcBef>
              <a:spcAft>
                <a:spcPts val="0"/>
              </a:spcAft>
              <a:buClr>
                <a:schemeClr val="lt1"/>
              </a:buClr>
              <a:buSzPts val="5800"/>
              <a:buNone/>
              <a:defRPr sz="5800">
                <a:solidFill>
                  <a:schemeClr val="lt1"/>
                </a:solidFill>
              </a:defRPr>
            </a:lvl9pPr>
          </a:lstStyle>
          <a:p/>
        </p:txBody>
      </p:sp>
      <p:sp>
        <p:nvSpPr>
          <p:cNvPr id="374" name="Google Shape;374;p18"/>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5" name="Shape 375"/>
        <p:cNvGrpSpPr/>
        <p:nvPr/>
      </p:nvGrpSpPr>
      <p:grpSpPr>
        <a:xfrm>
          <a:off x="0" y="0"/>
          <a:ext cx="0" cy="0"/>
          <a:chOff x="0" y="0"/>
          <a:chExt cx="0" cy="0"/>
        </a:xfrm>
      </p:grpSpPr>
      <p:grpSp>
        <p:nvGrpSpPr>
          <p:cNvPr id="376" name="Google Shape;376;p19"/>
          <p:cNvGrpSpPr/>
          <p:nvPr/>
        </p:nvGrpSpPr>
        <p:grpSpPr>
          <a:xfrm>
            <a:off x="1001538" y="478999"/>
            <a:ext cx="1598876" cy="1598876"/>
            <a:chOff x="348199" y="179450"/>
            <a:chExt cx="1116300" cy="1116300"/>
          </a:xfrm>
        </p:grpSpPr>
        <p:sp>
          <p:nvSpPr>
            <p:cNvPr id="377" name="Google Shape;377;p19"/>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19"/>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9" name="Google Shape;379;p19"/>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380" name="Google Shape;380;p19"/>
          <p:cNvSpPr txBox="1"/>
          <p:nvPr>
            <p:ph idx="1" type="body"/>
          </p:nvPr>
        </p:nvSpPr>
        <p:spPr>
          <a:xfrm>
            <a:off x="2086080" y="3184080"/>
            <a:ext cx="1124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81" name="Google Shape;381;p19"/>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2" name="Shape 382"/>
        <p:cNvGrpSpPr/>
        <p:nvPr/>
      </p:nvGrpSpPr>
      <p:grpSpPr>
        <a:xfrm>
          <a:off x="0" y="0"/>
          <a:ext cx="0" cy="0"/>
          <a:chOff x="0" y="0"/>
          <a:chExt cx="0" cy="0"/>
        </a:xfrm>
      </p:grpSpPr>
      <p:grpSp>
        <p:nvGrpSpPr>
          <p:cNvPr id="383" name="Google Shape;383;p20"/>
          <p:cNvGrpSpPr/>
          <p:nvPr/>
        </p:nvGrpSpPr>
        <p:grpSpPr>
          <a:xfrm>
            <a:off x="1001538" y="478999"/>
            <a:ext cx="1598876" cy="1598876"/>
            <a:chOff x="348199" y="179450"/>
            <a:chExt cx="1116300" cy="1116300"/>
          </a:xfrm>
        </p:grpSpPr>
        <p:sp>
          <p:nvSpPr>
            <p:cNvPr id="384" name="Google Shape;384;p20"/>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20"/>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6" name="Google Shape;386;p20"/>
          <p:cNvSpPr txBox="1"/>
          <p:nvPr>
            <p:ph type="title"/>
          </p:nvPr>
        </p:nvSpPr>
        <p:spPr>
          <a:xfrm>
            <a:off x="2086080" y="957720"/>
            <a:ext cx="11248800" cy="1599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387" name="Google Shape;387;p20"/>
          <p:cNvSpPr txBox="1"/>
          <p:nvPr>
            <p:ph idx="1" type="body"/>
          </p:nvPr>
        </p:nvSpPr>
        <p:spPr>
          <a:xfrm>
            <a:off x="2086080" y="3184080"/>
            <a:ext cx="548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88" name="Google Shape;388;p20"/>
          <p:cNvSpPr txBox="1"/>
          <p:nvPr>
            <p:ph idx="2" type="body"/>
          </p:nvPr>
        </p:nvSpPr>
        <p:spPr>
          <a:xfrm>
            <a:off x="7845840" y="3184080"/>
            <a:ext cx="5488800" cy="40665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89" name="Google Shape;389;p20"/>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0" name="Shape 390"/>
        <p:cNvGrpSpPr/>
        <p:nvPr/>
      </p:nvGrpSpPr>
      <p:grpSpPr>
        <a:xfrm>
          <a:off x="0" y="0"/>
          <a:ext cx="0" cy="0"/>
          <a:chOff x="0" y="0"/>
          <a:chExt cx="0" cy="0"/>
        </a:xfrm>
      </p:grpSpPr>
      <p:grpSp>
        <p:nvGrpSpPr>
          <p:cNvPr id="391" name="Google Shape;391;p21"/>
          <p:cNvGrpSpPr/>
          <p:nvPr/>
        </p:nvGrpSpPr>
        <p:grpSpPr>
          <a:xfrm>
            <a:off x="1001538" y="478999"/>
            <a:ext cx="1598876" cy="1598876"/>
            <a:chOff x="348199" y="179450"/>
            <a:chExt cx="1116300" cy="1116300"/>
          </a:xfrm>
        </p:grpSpPr>
        <p:sp>
          <p:nvSpPr>
            <p:cNvPr id="392" name="Google Shape;392;p21"/>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1"/>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4" name="Google Shape;394;p21"/>
          <p:cNvSpPr txBox="1"/>
          <p:nvPr>
            <p:ph type="title"/>
          </p:nvPr>
        </p:nvSpPr>
        <p:spPr>
          <a:xfrm>
            <a:off x="2086080" y="957720"/>
            <a:ext cx="5299200" cy="25440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395" name="Google Shape;395;p21"/>
          <p:cNvSpPr txBox="1"/>
          <p:nvPr>
            <p:ph idx="1" type="body"/>
          </p:nvPr>
        </p:nvSpPr>
        <p:spPr>
          <a:xfrm>
            <a:off x="2086080" y="3695480"/>
            <a:ext cx="5299200" cy="3555000"/>
          </a:xfrm>
          <a:prstGeom prst="rect">
            <a:avLst/>
          </a:prstGeom>
          <a:noFill/>
          <a:ln>
            <a:noFill/>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96" name="Google Shape;396;p21"/>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7" name="Shape 397"/>
        <p:cNvGrpSpPr/>
        <p:nvPr/>
      </p:nvGrpSpPr>
      <p:grpSpPr>
        <a:xfrm>
          <a:off x="0" y="0"/>
          <a:ext cx="0" cy="0"/>
          <a:chOff x="0" y="0"/>
          <a:chExt cx="0" cy="0"/>
        </a:xfrm>
      </p:grpSpPr>
      <p:grpSp>
        <p:nvGrpSpPr>
          <p:cNvPr id="398" name="Google Shape;398;p22"/>
          <p:cNvGrpSpPr/>
          <p:nvPr/>
        </p:nvGrpSpPr>
        <p:grpSpPr>
          <a:xfrm>
            <a:off x="1001538" y="478999"/>
            <a:ext cx="1598876" cy="1598876"/>
            <a:chOff x="348199" y="179450"/>
            <a:chExt cx="1116300" cy="1116300"/>
          </a:xfrm>
        </p:grpSpPr>
        <p:sp>
          <p:nvSpPr>
            <p:cNvPr id="399" name="Google Shape;399;p22"/>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2"/>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1" name="Google Shape;401;p22"/>
          <p:cNvSpPr txBox="1"/>
          <p:nvPr>
            <p:ph type="title"/>
          </p:nvPr>
        </p:nvSpPr>
        <p:spPr>
          <a:xfrm>
            <a:off x="2086080" y="957720"/>
            <a:ext cx="5488800" cy="31842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a:lvl1pPr>
            <a:lvl2pPr lvl="1" algn="l">
              <a:lnSpc>
                <a:spcPct val="100000"/>
              </a:lnSpc>
              <a:spcBef>
                <a:spcPts val="0"/>
              </a:spcBef>
              <a:spcAft>
                <a:spcPts val="0"/>
              </a:spcAft>
              <a:buSzPts val="4500"/>
              <a:buNone/>
              <a:defRPr/>
            </a:lvl2pPr>
            <a:lvl3pPr lvl="2" algn="l">
              <a:lnSpc>
                <a:spcPct val="100000"/>
              </a:lnSpc>
              <a:spcBef>
                <a:spcPts val="0"/>
              </a:spcBef>
              <a:spcAft>
                <a:spcPts val="0"/>
              </a:spcAft>
              <a:buSzPts val="4500"/>
              <a:buNone/>
              <a:defRPr/>
            </a:lvl3pPr>
            <a:lvl4pPr lvl="3" algn="l">
              <a:lnSpc>
                <a:spcPct val="100000"/>
              </a:lnSpc>
              <a:spcBef>
                <a:spcPts val="0"/>
              </a:spcBef>
              <a:spcAft>
                <a:spcPts val="0"/>
              </a:spcAft>
              <a:buSzPts val="4500"/>
              <a:buNone/>
              <a:defRPr/>
            </a:lvl4pPr>
            <a:lvl5pPr lvl="4" algn="l">
              <a:lnSpc>
                <a:spcPct val="100000"/>
              </a:lnSpc>
              <a:spcBef>
                <a:spcPts val="0"/>
              </a:spcBef>
              <a:spcAft>
                <a:spcPts val="0"/>
              </a:spcAft>
              <a:buSzPts val="4500"/>
              <a:buNone/>
              <a:defRPr/>
            </a:lvl5pPr>
            <a:lvl6pPr lvl="5" algn="l">
              <a:lnSpc>
                <a:spcPct val="100000"/>
              </a:lnSpc>
              <a:spcBef>
                <a:spcPts val="0"/>
              </a:spcBef>
              <a:spcAft>
                <a:spcPts val="0"/>
              </a:spcAft>
              <a:buSzPts val="4500"/>
              <a:buNone/>
              <a:defRPr/>
            </a:lvl6pPr>
            <a:lvl7pPr lvl="6" algn="l">
              <a:lnSpc>
                <a:spcPct val="100000"/>
              </a:lnSpc>
              <a:spcBef>
                <a:spcPts val="0"/>
              </a:spcBef>
              <a:spcAft>
                <a:spcPts val="0"/>
              </a:spcAft>
              <a:buSzPts val="4500"/>
              <a:buNone/>
              <a:defRPr/>
            </a:lvl7pPr>
            <a:lvl8pPr lvl="7" algn="l">
              <a:lnSpc>
                <a:spcPct val="100000"/>
              </a:lnSpc>
              <a:spcBef>
                <a:spcPts val="0"/>
              </a:spcBef>
              <a:spcAft>
                <a:spcPts val="0"/>
              </a:spcAft>
              <a:buSzPts val="4500"/>
              <a:buNone/>
              <a:defRPr/>
            </a:lvl8pPr>
            <a:lvl9pPr lvl="8" algn="l">
              <a:lnSpc>
                <a:spcPct val="100000"/>
              </a:lnSpc>
              <a:spcBef>
                <a:spcPts val="0"/>
              </a:spcBef>
              <a:spcAft>
                <a:spcPts val="0"/>
              </a:spcAft>
              <a:buSzPts val="4500"/>
              <a:buNone/>
              <a:defRPr/>
            </a:lvl9pPr>
          </a:lstStyle>
          <a:p/>
        </p:txBody>
      </p:sp>
      <p:sp>
        <p:nvSpPr>
          <p:cNvPr id="402" name="Google Shape;402;p22"/>
          <p:cNvSpPr txBox="1"/>
          <p:nvPr>
            <p:ph idx="1" type="subTitle"/>
          </p:nvPr>
        </p:nvSpPr>
        <p:spPr>
          <a:xfrm>
            <a:off x="2086080" y="4389124"/>
            <a:ext cx="5488800" cy="11616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03" name="Google Shape;403;p22"/>
          <p:cNvSpPr txBox="1"/>
          <p:nvPr>
            <p:ph idx="2" type="body"/>
          </p:nvPr>
        </p:nvSpPr>
        <p:spPr>
          <a:xfrm>
            <a:off x="7845920" y="1057600"/>
            <a:ext cx="5488800" cy="6192900"/>
          </a:xfrm>
          <a:prstGeom prst="rect">
            <a:avLst/>
          </a:prstGeom>
          <a:noFill/>
          <a:ln cap="flat" cmpd="sng" w="9525">
            <a:solidFill>
              <a:schemeClr val="lt1"/>
            </a:solidFill>
            <a:prstDash val="solid"/>
            <a:round/>
            <a:headEnd len="sm" w="sm" type="none"/>
            <a:tailEnd len="sm" w="sm" type="none"/>
          </a:ln>
        </p:spPr>
        <p:txBody>
          <a:bodyPr anchorCtr="0" anchor="t" bIns="146275" lIns="146275" spcFirstLastPara="1" rIns="146275" wrap="square" tIns="146275">
            <a:normAutofit/>
          </a:bodyPr>
          <a:lstStyle>
            <a:lvl1pPr indent="-361950" lvl="0" marL="457200" algn="l">
              <a:lnSpc>
                <a:spcPct val="115000"/>
              </a:lnSpc>
              <a:spcBef>
                <a:spcPts val="0"/>
              </a:spcBef>
              <a:spcAft>
                <a:spcPts val="0"/>
              </a:spcAft>
              <a:buSzPts val="21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04" name="Google Shape;404;p22"/>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5" name="Shape 405"/>
        <p:cNvGrpSpPr/>
        <p:nvPr/>
      </p:nvGrpSpPr>
      <p:grpSpPr>
        <a:xfrm>
          <a:off x="0" y="0"/>
          <a:ext cx="0" cy="0"/>
          <a:chOff x="0" y="0"/>
          <a:chExt cx="0" cy="0"/>
        </a:xfrm>
      </p:grpSpPr>
      <p:grpSp>
        <p:nvGrpSpPr>
          <p:cNvPr id="406" name="Google Shape;406;p23"/>
          <p:cNvGrpSpPr/>
          <p:nvPr/>
        </p:nvGrpSpPr>
        <p:grpSpPr>
          <a:xfrm>
            <a:off x="1141383" y="6155382"/>
            <a:ext cx="1320583" cy="1320583"/>
            <a:chOff x="348199" y="179450"/>
            <a:chExt cx="1116300" cy="1116300"/>
          </a:xfrm>
        </p:grpSpPr>
        <p:sp>
          <p:nvSpPr>
            <p:cNvPr id="407" name="Google Shape;407;p23"/>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3"/>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9" name="Google Shape;409;p23"/>
          <p:cNvSpPr txBox="1"/>
          <p:nvPr>
            <p:ph idx="1" type="body"/>
          </p:nvPr>
        </p:nvSpPr>
        <p:spPr>
          <a:xfrm>
            <a:off x="2086080" y="6622360"/>
            <a:ext cx="9348900" cy="855900"/>
          </a:xfrm>
          <a:prstGeom prst="rect">
            <a:avLst/>
          </a:prstGeom>
          <a:noFill/>
          <a:ln>
            <a:noFill/>
          </a:ln>
        </p:spPr>
        <p:txBody>
          <a:bodyPr anchorCtr="0" anchor="t" bIns="146275" lIns="146275" spcFirstLastPara="1" rIns="146275" wrap="square" tIns="146275">
            <a:normAutofit/>
          </a:bodyPr>
          <a:lstStyle>
            <a:lvl1pPr indent="-228600" lvl="0" marL="457200" algn="l">
              <a:lnSpc>
                <a:spcPct val="100000"/>
              </a:lnSpc>
              <a:spcBef>
                <a:spcPts val="0"/>
              </a:spcBef>
              <a:spcAft>
                <a:spcPts val="0"/>
              </a:spcAft>
              <a:buSzPts val="2100"/>
              <a:buNone/>
              <a:defRPr/>
            </a:lvl1pPr>
          </a:lstStyle>
          <a:p/>
        </p:txBody>
      </p:sp>
      <p:sp>
        <p:nvSpPr>
          <p:cNvPr id="410" name="Google Shape;410;p23"/>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411" name="Shape 411"/>
        <p:cNvGrpSpPr/>
        <p:nvPr/>
      </p:nvGrpSpPr>
      <p:grpSpPr>
        <a:xfrm>
          <a:off x="0" y="0"/>
          <a:ext cx="0" cy="0"/>
          <a:chOff x="0" y="0"/>
          <a:chExt cx="0" cy="0"/>
        </a:xfrm>
      </p:grpSpPr>
      <p:grpSp>
        <p:nvGrpSpPr>
          <p:cNvPr id="412" name="Google Shape;412;p24"/>
          <p:cNvGrpSpPr/>
          <p:nvPr/>
        </p:nvGrpSpPr>
        <p:grpSpPr>
          <a:xfrm>
            <a:off x="78" y="6558720"/>
            <a:ext cx="14630463" cy="1670880"/>
            <a:chOff x="49" y="4099200"/>
            <a:chExt cx="9144039" cy="1044300"/>
          </a:xfrm>
        </p:grpSpPr>
        <p:grpSp>
          <p:nvGrpSpPr>
            <p:cNvPr id="413" name="Google Shape;413;p24"/>
            <p:cNvGrpSpPr/>
            <p:nvPr/>
          </p:nvGrpSpPr>
          <p:grpSpPr>
            <a:xfrm>
              <a:off x="49" y="4309200"/>
              <a:ext cx="231622" cy="834300"/>
              <a:chOff x="2688737" y="4301380"/>
              <a:chExt cx="231900" cy="834300"/>
            </a:xfrm>
          </p:grpSpPr>
          <p:sp>
            <p:nvSpPr>
              <p:cNvPr id="414" name="Google Shape;414;p24"/>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24"/>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24"/>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24"/>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8" name="Google Shape;418;p24"/>
            <p:cNvGrpSpPr/>
            <p:nvPr/>
          </p:nvGrpSpPr>
          <p:grpSpPr>
            <a:xfrm>
              <a:off x="371403" y="4099200"/>
              <a:ext cx="231622" cy="1044300"/>
              <a:chOff x="2688737" y="4091380"/>
              <a:chExt cx="231900" cy="1044300"/>
            </a:xfrm>
          </p:grpSpPr>
          <p:sp>
            <p:nvSpPr>
              <p:cNvPr id="419" name="Google Shape;419;p24"/>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24"/>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4"/>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24"/>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24"/>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4" name="Google Shape;424;p24"/>
            <p:cNvGrpSpPr/>
            <p:nvPr/>
          </p:nvGrpSpPr>
          <p:grpSpPr>
            <a:xfrm>
              <a:off x="742758" y="4309200"/>
              <a:ext cx="231622" cy="834300"/>
              <a:chOff x="2688737" y="4301380"/>
              <a:chExt cx="231900" cy="834300"/>
            </a:xfrm>
          </p:grpSpPr>
          <p:sp>
            <p:nvSpPr>
              <p:cNvPr id="425" name="Google Shape;425;p24"/>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24"/>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24"/>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24"/>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9" name="Google Shape;429;p24"/>
            <p:cNvGrpSpPr/>
            <p:nvPr/>
          </p:nvGrpSpPr>
          <p:grpSpPr>
            <a:xfrm>
              <a:off x="1114112" y="4518900"/>
              <a:ext cx="231622" cy="624600"/>
              <a:chOff x="2688737" y="4511080"/>
              <a:chExt cx="231900" cy="624600"/>
            </a:xfrm>
          </p:grpSpPr>
          <p:sp>
            <p:nvSpPr>
              <p:cNvPr id="430" name="Google Shape;430;p24"/>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24"/>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24"/>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3" name="Google Shape;433;p24"/>
            <p:cNvGrpSpPr/>
            <p:nvPr/>
          </p:nvGrpSpPr>
          <p:grpSpPr>
            <a:xfrm>
              <a:off x="1856753" y="4099200"/>
              <a:ext cx="231600" cy="1044300"/>
              <a:chOff x="1856753" y="4099200"/>
              <a:chExt cx="231600" cy="1044300"/>
            </a:xfrm>
          </p:grpSpPr>
          <p:sp>
            <p:nvSpPr>
              <p:cNvPr id="434" name="Google Shape;434;p24"/>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24"/>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24"/>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24"/>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24"/>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9" name="Google Shape;439;p24"/>
            <p:cNvGrpSpPr/>
            <p:nvPr/>
          </p:nvGrpSpPr>
          <p:grpSpPr>
            <a:xfrm>
              <a:off x="2228107" y="4309200"/>
              <a:ext cx="231600" cy="834300"/>
              <a:chOff x="2228107" y="4309200"/>
              <a:chExt cx="231600" cy="834300"/>
            </a:xfrm>
          </p:grpSpPr>
          <p:sp>
            <p:nvSpPr>
              <p:cNvPr id="440" name="Google Shape;440;p24"/>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24"/>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24"/>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24"/>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4" name="Google Shape;444;p24"/>
            <p:cNvGrpSpPr/>
            <p:nvPr/>
          </p:nvGrpSpPr>
          <p:grpSpPr>
            <a:xfrm>
              <a:off x="2599462" y="4518900"/>
              <a:ext cx="231600" cy="624600"/>
              <a:chOff x="2599462" y="4518900"/>
              <a:chExt cx="231600" cy="624600"/>
            </a:xfrm>
          </p:grpSpPr>
          <p:sp>
            <p:nvSpPr>
              <p:cNvPr id="445" name="Google Shape;445;p24"/>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24"/>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24"/>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8" name="Google Shape;448;p24"/>
            <p:cNvGrpSpPr/>
            <p:nvPr/>
          </p:nvGrpSpPr>
          <p:grpSpPr>
            <a:xfrm>
              <a:off x="3342171" y="4099200"/>
              <a:ext cx="231600" cy="1044300"/>
              <a:chOff x="3342171" y="4099200"/>
              <a:chExt cx="231600" cy="1044300"/>
            </a:xfrm>
          </p:grpSpPr>
          <p:sp>
            <p:nvSpPr>
              <p:cNvPr id="449" name="Google Shape;449;p24"/>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24"/>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24"/>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4"/>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24"/>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4" name="Google Shape;454;p24"/>
            <p:cNvGrpSpPr/>
            <p:nvPr/>
          </p:nvGrpSpPr>
          <p:grpSpPr>
            <a:xfrm>
              <a:off x="3713525" y="4309200"/>
              <a:ext cx="231600" cy="834300"/>
              <a:chOff x="3713525" y="4309200"/>
              <a:chExt cx="231600" cy="834300"/>
            </a:xfrm>
          </p:grpSpPr>
          <p:sp>
            <p:nvSpPr>
              <p:cNvPr id="455" name="Google Shape;455;p24"/>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24"/>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24"/>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24"/>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9" name="Google Shape;459;p24"/>
            <p:cNvGrpSpPr/>
            <p:nvPr/>
          </p:nvGrpSpPr>
          <p:grpSpPr>
            <a:xfrm>
              <a:off x="1485398" y="4309200"/>
              <a:ext cx="231600" cy="834300"/>
              <a:chOff x="1485398" y="4309200"/>
              <a:chExt cx="231600" cy="834300"/>
            </a:xfrm>
          </p:grpSpPr>
          <p:sp>
            <p:nvSpPr>
              <p:cNvPr id="460" name="Google Shape;460;p24"/>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24"/>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4"/>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24"/>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4" name="Google Shape;464;p24"/>
            <p:cNvGrpSpPr/>
            <p:nvPr/>
          </p:nvGrpSpPr>
          <p:grpSpPr>
            <a:xfrm>
              <a:off x="4084879" y="4518900"/>
              <a:ext cx="231600" cy="624600"/>
              <a:chOff x="4084879" y="4518900"/>
              <a:chExt cx="231600" cy="624600"/>
            </a:xfrm>
          </p:grpSpPr>
          <p:sp>
            <p:nvSpPr>
              <p:cNvPr id="465" name="Google Shape;465;p24"/>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24"/>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24"/>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8" name="Google Shape;468;p24"/>
            <p:cNvGrpSpPr/>
            <p:nvPr/>
          </p:nvGrpSpPr>
          <p:grpSpPr>
            <a:xfrm>
              <a:off x="2970816" y="4309200"/>
              <a:ext cx="231600" cy="834300"/>
              <a:chOff x="2970816" y="4309200"/>
              <a:chExt cx="231600" cy="834300"/>
            </a:xfrm>
          </p:grpSpPr>
          <p:sp>
            <p:nvSpPr>
              <p:cNvPr id="469" name="Google Shape;469;p24"/>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24"/>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24"/>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24"/>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3" name="Google Shape;473;p24"/>
            <p:cNvGrpSpPr/>
            <p:nvPr/>
          </p:nvGrpSpPr>
          <p:grpSpPr>
            <a:xfrm>
              <a:off x="4456234" y="4309200"/>
              <a:ext cx="231600" cy="834300"/>
              <a:chOff x="4456234" y="4309200"/>
              <a:chExt cx="231600" cy="834300"/>
            </a:xfrm>
          </p:grpSpPr>
          <p:sp>
            <p:nvSpPr>
              <p:cNvPr id="474" name="Google Shape;474;p24"/>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24"/>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24"/>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24"/>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8" name="Google Shape;478;p24"/>
            <p:cNvGrpSpPr/>
            <p:nvPr/>
          </p:nvGrpSpPr>
          <p:grpSpPr>
            <a:xfrm>
              <a:off x="4827588" y="4099200"/>
              <a:ext cx="231600" cy="1044300"/>
              <a:chOff x="4827588" y="4099200"/>
              <a:chExt cx="231600" cy="1044300"/>
            </a:xfrm>
          </p:grpSpPr>
          <p:sp>
            <p:nvSpPr>
              <p:cNvPr id="479" name="Google Shape;479;p24"/>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24"/>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4"/>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24"/>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24"/>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4" name="Google Shape;484;p24"/>
            <p:cNvGrpSpPr/>
            <p:nvPr/>
          </p:nvGrpSpPr>
          <p:grpSpPr>
            <a:xfrm>
              <a:off x="5198943" y="4309200"/>
              <a:ext cx="231600" cy="834300"/>
              <a:chOff x="5198943" y="4309200"/>
              <a:chExt cx="231600" cy="834300"/>
            </a:xfrm>
          </p:grpSpPr>
          <p:sp>
            <p:nvSpPr>
              <p:cNvPr id="485" name="Google Shape;485;p24"/>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24"/>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4"/>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24"/>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9" name="Google Shape;489;p24"/>
            <p:cNvGrpSpPr/>
            <p:nvPr/>
          </p:nvGrpSpPr>
          <p:grpSpPr>
            <a:xfrm>
              <a:off x="5570297" y="4518900"/>
              <a:ext cx="231600" cy="624600"/>
              <a:chOff x="5570297" y="4518900"/>
              <a:chExt cx="231600" cy="624600"/>
            </a:xfrm>
          </p:grpSpPr>
          <p:sp>
            <p:nvSpPr>
              <p:cNvPr id="490" name="Google Shape;490;p24"/>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24"/>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24"/>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3" name="Google Shape;493;p24"/>
            <p:cNvGrpSpPr/>
            <p:nvPr/>
          </p:nvGrpSpPr>
          <p:grpSpPr>
            <a:xfrm>
              <a:off x="5941652" y="4309200"/>
              <a:ext cx="231600" cy="834300"/>
              <a:chOff x="5941652" y="4309200"/>
              <a:chExt cx="231600" cy="834300"/>
            </a:xfrm>
          </p:grpSpPr>
          <p:sp>
            <p:nvSpPr>
              <p:cNvPr id="494" name="Google Shape;494;p24"/>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24"/>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24"/>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24"/>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8" name="Google Shape;498;p24"/>
            <p:cNvGrpSpPr/>
            <p:nvPr/>
          </p:nvGrpSpPr>
          <p:grpSpPr>
            <a:xfrm>
              <a:off x="6313006" y="4099200"/>
              <a:ext cx="231600" cy="1044300"/>
              <a:chOff x="6313006" y="4099200"/>
              <a:chExt cx="231600" cy="1044300"/>
            </a:xfrm>
          </p:grpSpPr>
          <p:sp>
            <p:nvSpPr>
              <p:cNvPr id="499" name="Google Shape;499;p24"/>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24"/>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24"/>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4"/>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24"/>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4" name="Google Shape;504;p24"/>
            <p:cNvGrpSpPr/>
            <p:nvPr/>
          </p:nvGrpSpPr>
          <p:grpSpPr>
            <a:xfrm>
              <a:off x="6684361" y="4309200"/>
              <a:ext cx="231600" cy="834300"/>
              <a:chOff x="6684361" y="4309200"/>
              <a:chExt cx="231600" cy="834300"/>
            </a:xfrm>
          </p:grpSpPr>
          <p:sp>
            <p:nvSpPr>
              <p:cNvPr id="505" name="Google Shape;505;p24"/>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24"/>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4"/>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4"/>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9" name="Google Shape;509;p24"/>
            <p:cNvGrpSpPr/>
            <p:nvPr/>
          </p:nvGrpSpPr>
          <p:grpSpPr>
            <a:xfrm>
              <a:off x="7055715" y="4518900"/>
              <a:ext cx="231600" cy="624600"/>
              <a:chOff x="7055715" y="4518900"/>
              <a:chExt cx="231600" cy="624600"/>
            </a:xfrm>
          </p:grpSpPr>
          <p:sp>
            <p:nvSpPr>
              <p:cNvPr id="510" name="Google Shape;510;p24"/>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24"/>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24"/>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3" name="Google Shape;513;p24"/>
            <p:cNvGrpSpPr/>
            <p:nvPr/>
          </p:nvGrpSpPr>
          <p:grpSpPr>
            <a:xfrm>
              <a:off x="7798424" y="4099200"/>
              <a:ext cx="231600" cy="1044300"/>
              <a:chOff x="7798424" y="4099200"/>
              <a:chExt cx="231600" cy="1044300"/>
            </a:xfrm>
          </p:grpSpPr>
          <p:sp>
            <p:nvSpPr>
              <p:cNvPr id="514" name="Google Shape;514;p24"/>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24"/>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24"/>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24"/>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24"/>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9" name="Google Shape;519;p24"/>
            <p:cNvGrpSpPr/>
            <p:nvPr/>
          </p:nvGrpSpPr>
          <p:grpSpPr>
            <a:xfrm>
              <a:off x="8169779" y="4309200"/>
              <a:ext cx="231600" cy="834300"/>
              <a:chOff x="8169779" y="4309200"/>
              <a:chExt cx="231600" cy="834300"/>
            </a:xfrm>
          </p:grpSpPr>
          <p:sp>
            <p:nvSpPr>
              <p:cNvPr id="520" name="Google Shape;520;p24"/>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24"/>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4"/>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24"/>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4" name="Google Shape;524;p24"/>
            <p:cNvGrpSpPr/>
            <p:nvPr/>
          </p:nvGrpSpPr>
          <p:grpSpPr>
            <a:xfrm>
              <a:off x="7427070" y="4309200"/>
              <a:ext cx="231600" cy="834300"/>
              <a:chOff x="7427070" y="4309200"/>
              <a:chExt cx="231600" cy="834300"/>
            </a:xfrm>
          </p:grpSpPr>
          <p:sp>
            <p:nvSpPr>
              <p:cNvPr id="525" name="Google Shape;525;p24"/>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24"/>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24"/>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24"/>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9" name="Google Shape;529;p24"/>
            <p:cNvGrpSpPr/>
            <p:nvPr/>
          </p:nvGrpSpPr>
          <p:grpSpPr>
            <a:xfrm>
              <a:off x="8541133" y="4518900"/>
              <a:ext cx="231600" cy="624600"/>
              <a:chOff x="8541133" y="4518900"/>
              <a:chExt cx="231600" cy="624600"/>
            </a:xfrm>
          </p:grpSpPr>
          <p:sp>
            <p:nvSpPr>
              <p:cNvPr id="530" name="Google Shape;530;p24"/>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24"/>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24"/>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33" name="Google Shape;533;p24"/>
            <p:cNvGrpSpPr/>
            <p:nvPr/>
          </p:nvGrpSpPr>
          <p:grpSpPr>
            <a:xfrm>
              <a:off x="8912488" y="4309200"/>
              <a:ext cx="231600" cy="834300"/>
              <a:chOff x="8912488" y="4309200"/>
              <a:chExt cx="231600" cy="834300"/>
            </a:xfrm>
          </p:grpSpPr>
          <p:sp>
            <p:nvSpPr>
              <p:cNvPr id="534" name="Google Shape;534;p24"/>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24"/>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24"/>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24"/>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146275" lIns="146275" spcFirstLastPara="1" rIns="146275" wrap="square" tIns="146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38" name="Google Shape;538;p24"/>
          <p:cNvSpPr txBox="1"/>
          <p:nvPr>
            <p:ph hasCustomPrompt="1" type="title"/>
          </p:nvPr>
        </p:nvSpPr>
        <p:spPr>
          <a:xfrm>
            <a:off x="2221800" y="1236360"/>
            <a:ext cx="10187100" cy="2981400"/>
          </a:xfrm>
          <a:prstGeom prst="rect">
            <a:avLst/>
          </a:prstGeom>
          <a:noFill/>
          <a:ln>
            <a:noFill/>
          </a:ln>
        </p:spPr>
        <p:txBody>
          <a:bodyPr anchorCtr="0" anchor="ctr" bIns="146275" lIns="146275" spcFirstLastPara="1" rIns="146275" wrap="square" tIns="146275">
            <a:normAutofit/>
          </a:bodyPr>
          <a:lstStyle>
            <a:lvl1pPr lvl="0" algn="ctr">
              <a:lnSpc>
                <a:spcPct val="100000"/>
              </a:lnSpc>
              <a:spcBef>
                <a:spcPts val="0"/>
              </a:spcBef>
              <a:spcAft>
                <a:spcPts val="0"/>
              </a:spcAft>
              <a:buClr>
                <a:schemeClr val="lt1"/>
              </a:buClr>
              <a:buSzPts val="12800"/>
              <a:buNone/>
              <a:defRPr sz="12800">
                <a:solidFill>
                  <a:schemeClr val="lt1"/>
                </a:solidFill>
              </a:defRPr>
            </a:lvl1pPr>
            <a:lvl2pPr lvl="1" algn="ctr">
              <a:lnSpc>
                <a:spcPct val="100000"/>
              </a:lnSpc>
              <a:spcBef>
                <a:spcPts val="0"/>
              </a:spcBef>
              <a:spcAft>
                <a:spcPts val="0"/>
              </a:spcAft>
              <a:buClr>
                <a:schemeClr val="lt1"/>
              </a:buClr>
              <a:buSzPts val="12800"/>
              <a:buNone/>
              <a:defRPr sz="12800">
                <a:solidFill>
                  <a:schemeClr val="lt1"/>
                </a:solidFill>
              </a:defRPr>
            </a:lvl2pPr>
            <a:lvl3pPr lvl="2" algn="ctr">
              <a:lnSpc>
                <a:spcPct val="100000"/>
              </a:lnSpc>
              <a:spcBef>
                <a:spcPts val="0"/>
              </a:spcBef>
              <a:spcAft>
                <a:spcPts val="0"/>
              </a:spcAft>
              <a:buClr>
                <a:schemeClr val="lt1"/>
              </a:buClr>
              <a:buSzPts val="12800"/>
              <a:buNone/>
              <a:defRPr sz="12800">
                <a:solidFill>
                  <a:schemeClr val="lt1"/>
                </a:solidFill>
              </a:defRPr>
            </a:lvl3pPr>
            <a:lvl4pPr lvl="3" algn="ctr">
              <a:lnSpc>
                <a:spcPct val="100000"/>
              </a:lnSpc>
              <a:spcBef>
                <a:spcPts val="0"/>
              </a:spcBef>
              <a:spcAft>
                <a:spcPts val="0"/>
              </a:spcAft>
              <a:buClr>
                <a:schemeClr val="lt1"/>
              </a:buClr>
              <a:buSzPts val="12800"/>
              <a:buNone/>
              <a:defRPr sz="12800">
                <a:solidFill>
                  <a:schemeClr val="lt1"/>
                </a:solidFill>
              </a:defRPr>
            </a:lvl4pPr>
            <a:lvl5pPr lvl="4" algn="ctr">
              <a:lnSpc>
                <a:spcPct val="100000"/>
              </a:lnSpc>
              <a:spcBef>
                <a:spcPts val="0"/>
              </a:spcBef>
              <a:spcAft>
                <a:spcPts val="0"/>
              </a:spcAft>
              <a:buClr>
                <a:schemeClr val="lt1"/>
              </a:buClr>
              <a:buSzPts val="12800"/>
              <a:buNone/>
              <a:defRPr sz="12800">
                <a:solidFill>
                  <a:schemeClr val="lt1"/>
                </a:solidFill>
              </a:defRPr>
            </a:lvl5pPr>
            <a:lvl6pPr lvl="5" algn="ctr">
              <a:lnSpc>
                <a:spcPct val="100000"/>
              </a:lnSpc>
              <a:spcBef>
                <a:spcPts val="0"/>
              </a:spcBef>
              <a:spcAft>
                <a:spcPts val="0"/>
              </a:spcAft>
              <a:buClr>
                <a:schemeClr val="lt1"/>
              </a:buClr>
              <a:buSzPts val="12800"/>
              <a:buNone/>
              <a:defRPr sz="12800">
                <a:solidFill>
                  <a:schemeClr val="lt1"/>
                </a:solidFill>
              </a:defRPr>
            </a:lvl6pPr>
            <a:lvl7pPr lvl="6" algn="ctr">
              <a:lnSpc>
                <a:spcPct val="100000"/>
              </a:lnSpc>
              <a:spcBef>
                <a:spcPts val="0"/>
              </a:spcBef>
              <a:spcAft>
                <a:spcPts val="0"/>
              </a:spcAft>
              <a:buClr>
                <a:schemeClr val="lt1"/>
              </a:buClr>
              <a:buSzPts val="12800"/>
              <a:buNone/>
              <a:defRPr sz="12800">
                <a:solidFill>
                  <a:schemeClr val="lt1"/>
                </a:solidFill>
              </a:defRPr>
            </a:lvl7pPr>
            <a:lvl8pPr lvl="7" algn="ctr">
              <a:lnSpc>
                <a:spcPct val="100000"/>
              </a:lnSpc>
              <a:spcBef>
                <a:spcPts val="0"/>
              </a:spcBef>
              <a:spcAft>
                <a:spcPts val="0"/>
              </a:spcAft>
              <a:buClr>
                <a:schemeClr val="lt1"/>
              </a:buClr>
              <a:buSzPts val="12800"/>
              <a:buNone/>
              <a:defRPr sz="12800">
                <a:solidFill>
                  <a:schemeClr val="lt1"/>
                </a:solidFill>
              </a:defRPr>
            </a:lvl8pPr>
            <a:lvl9pPr lvl="8" algn="ctr">
              <a:lnSpc>
                <a:spcPct val="100000"/>
              </a:lnSpc>
              <a:spcBef>
                <a:spcPts val="0"/>
              </a:spcBef>
              <a:spcAft>
                <a:spcPts val="0"/>
              </a:spcAft>
              <a:buClr>
                <a:schemeClr val="lt1"/>
              </a:buClr>
              <a:buSzPts val="12800"/>
              <a:buNone/>
              <a:defRPr sz="12800">
                <a:solidFill>
                  <a:schemeClr val="lt1"/>
                </a:solidFill>
              </a:defRPr>
            </a:lvl9pPr>
          </a:lstStyle>
          <a:p>
            <a:r>
              <a:t>xx%</a:t>
            </a:r>
          </a:p>
        </p:txBody>
      </p:sp>
      <p:sp>
        <p:nvSpPr>
          <p:cNvPr id="539" name="Google Shape;539;p24"/>
          <p:cNvSpPr txBox="1"/>
          <p:nvPr>
            <p:ph idx="1" type="body"/>
          </p:nvPr>
        </p:nvSpPr>
        <p:spPr>
          <a:xfrm>
            <a:off x="2221800" y="4339680"/>
            <a:ext cx="10187100" cy="1777800"/>
          </a:xfrm>
          <a:prstGeom prst="rect">
            <a:avLst/>
          </a:prstGeom>
          <a:noFill/>
          <a:ln>
            <a:noFill/>
          </a:ln>
        </p:spPr>
        <p:txBody>
          <a:bodyPr anchorCtr="0" anchor="t" bIns="146275" lIns="146275" spcFirstLastPara="1" rIns="146275" wrap="square" tIns="146275">
            <a:normAutofit/>
          </a:bodyPr>
          <a:lstStyle>
            <a:lvl1pPr indent="-361950" lvl="0" marL="457200" algn="ctr">
              <a:lnSpc>
                <a:spcPct val="115000"/>
              </a:lnSpc>
              <a:spcBef>
                <a:spcPts val="0"/>
              </a:spcBef>
              <a:spcAft>
                <a:spcPts val="0"/>
              </a:spcAft>
              <a:buClr>
                <a:schemeClr val="lt1"/>
              </a:buClr>
              <a:buSzPts val="2100"/>
              <a:buChar char="●"/>
              <a:defRPr>
                <a:solidFill>
                  <a:schemeClr val="lt1"/>
                </a:solidFill>
              </a:defRPr>
            </a:lvl1pPr>
            <a:lvl2pPr indent="-342900" lvl="1" marL="914400" algn="ctr">
              <a:lnSpc>
                <a:spcPct val="115000"/>
              </a:lnSpc>
              <a:spcBef>
                <a:spcPts val="0"/>
              </a:spcBef>
              <a:spcAft>
                <a:spcPts val="0"/>
              </a:spcAft>
              <a:buClr>
                <a:schemeClr val="lt1"/>
              </a:buClr>
              <a:buSzPts val="1800"/>
              <a:buChar char="○"/>
              <a:defRPr>
                <a:solidFill>
                  <a:schemeClr val="lt1"/>
                </a:solidFill>
              </a:defRPr>
            </a:lvl2pPr>
            <a:lvl3pPr indent="-342900" lvl="2" marL="1371600" algn="ctr">
              <a:lnSpc>
                <a:spcPct val="115000"/>
              </a:lnSpc>
              <a:spcBef>
                <a:spcPts val="0"/>
              </a:spcBef>
              <a:spcAft>
                <a:spcPts val="0"/>
              </a:spcAft>
              <a:buClr>
                <a:schemeClr val="lt1"/>
              </a:buClr>
              <a:buSzPts val="1800"/>
              <a:buChar char="■"/>
              <a:defRPr>
                <a:solidFill>
                  <a:schemeClr val="lt1"/>
                </a:solidFill>
              </a:defRPr>
            </a:lvl3pPr>
            <a:lvl4pPr indent="-342900" lvl="3" marL="1828800" algn="ctr">
              <a:lnSpc>
                <a:spcPct val="115000"/>
              </a:lnSpc>
              <a:spcBef>
                <a:spcPts val="0"/>
              </a:spcBef>
              <a:spcAft>
                <a:spcPts val="0"/>
              </a:spcAft>
              <a:buClr>
                <a:schemeClr val="lt1"/>
              </a:buClr>
              <a:buSzPts val="1800"/>
              <a:buChar char="●"/>
              <a:defRPr>
                <a:solidFill>
                  <a:schemeClr val="lt1"/>
                </a:solidFill>
              </a:defRPr>
            </a:lvl4pPr>
            <a:lvl5pPr indent="-342900" lvl="4" marL="2286000" algn="ctr">
              <a:lnSpc>
                <a:spcPct val="115000"/>
              </a:lnSpc>
              <a:spcBef>
                <a:spcPts val="0"/>
              </a:spcBef>
              <a:spcAft>
                <a:spcPts val="0"/>
              </a:spcAft>
              <a:buClr>
                <a:schemeClr val="lt1"/>
              </a:buClr>
              <a:buSzPts val="1800"/>
              <a:buChar char="○"/>
              <a:defRPr>
                <a:solidFill>
                  <a:schemeClr val="lt1"/>
                </a:solidFill>
              </a:defRPr>
            </a:lvl5pPr>
            <a:lvl6pPr indent="-342900" lvl="5" marL="2743200" algn="ctr">
              <a:lnSpc>
                <a:spcPct val="115000"/>
              </a:lnSpc>
              <a:spcBef>
                <a:spcPts val="0"/>
              </a:spcBef>
              <a:spcAft>
                <a:spcPts val="0"/>
              </a:spcAft>
              <a:buClr>
                <a:schemeClr val="lt1"/>
              </a:buClr>
              <a:buSzPts val="1800"/>
              <a:buChar char="■"/>
              <a:defRPr>
                <a:solidFill>
                  <a:schemeClr val="lt1"/>
                </a:solidFill>
              </a:defRPr>
            </a:lvl6pPr>
            <a:lvl7pPr indent="-342900" lvl="6" marL="3200400" algn="ctr">
              <a:lnSpc>
                <a:spcPct val="115000"/>
              </a:lnSpc>
              <a:spcBef>
                <a:spcPts val="0"/>
              </a:spcBef>
              <a:spcAft>
                <a:spcPts val="0"/>
              </a:spcAft>
              <a:buClr>
                <a:schemeClr val="lt1"/>
              </a:buClr>
              <a:buSzPts val="1800"/>
              <a:buChar char="●"/>
              <a:defRPr>
                <a:solidFill>
                  <a:schemeClr val="lt1"/>
                </a:solidFill>
              </a:defRPr>
            </a:lvl7pPr>
            <a:lvl8pPr indent="-342900" lvl="7" marL="3657600" algn="ctr">
              <a:lnSpc>
                <a:spcPct val="115000"/>
              </a:lnSpc>
              <a:spcBef>
                <a:spcPts val="0"/>
              </a:spcBef>
              <a:spcAft>
                <a:spcPts val="0"/>
              </a:spcAft>
              <a:buClr>
                <a:schemeClr val="lt1"/>
              </a:buClr>
              <a:buSzPts val="1800"/>
              <a:buChar char="○"/>
              <a:defRPr>
                <a:solidFill>
                  <a:schemeClr val="lt1"/>
                </a:solidFill>
              </a:defRPr>
            </a:lvl8pPr>
            <a:lvl9pPr indent="-342900" lvl="8" marL="4114800" algn="ctr">
              <a:lnSpc>
                <a:spcPct val="115000"/>
              </a:lnSpc>
              <a:spcBef>
                <a:spcPts val="0"/>
              </a:spcBef>
              <a:spcAft>
                <a:spcPts val="0"/>
              </a:spcAft>
              <a:buClr>
                <a:schemeClr val="lt1"/>
              </a:buClr>
              <a:buSzPts val="1800"/>
              <a:buChar char="■"/>
              <a:defRPr>
                <a:solidFill>
                  <a:schemeClr val="lt1"/>
                </a:solidFill>
              </a:defRPr>
            </a:lvl9pPr>
          </a:lstStyle>
          <a:p/>
        </p:txBody>
      </p:sp>
      <p:sp>
        <p:nvSpPr>
          <p:cNvPr id="540" name="Google Shape;540;p24"/>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1pPr>
            <a:lvl2pPr lvl="1"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2pPr>
            <a:lvl3pPr lvl="2"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3pPr>
            <a:lvl4pPr lvl="3"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4pPr>
            <a:lvl5pPr lvl="4"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5pPr>
            <a:lvl6pPr lvl="5"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6pPr>
            <a:lvl7pPr lvl="6"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7pPr>
            <a:lvl8pPr lvl="7"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8pPr>
            <a:lvl9pPr lvl="8" marR="0" rtl="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361950" lvl="0" marL="457200" marR="0" rtl="0" algn="l">
              <a:lnSpc>
                <a:spcPct val="115000"/>
              </a:lnSpc>
              <a:spcBef>
                <a:spcPts val="0"/>
              </a:spcBef>
              <a:spcAft>
                <a:spcPts val="0"/>
              </a:spcAft>
              <a:buClr>
                <a:schemeClr val="dk2"/>
              </a:buClr>
              <a:buSzPts val="2100"/>
              <a:buFont typeface="Nunito"/>
              <a:buChar char="●"/>
              <a:defRPr b="0" i="0" sz="2100" u="none" cap="none" strike="noStrike">
                <a:solidFill>
                  <a:schemeClr val="dk2"/>
                </a:solidFill>
                <a:latin typeface="Nunito"/>
                <a:ea typeface="Nunito"/>
                <a:cs typeface="Nunito"/>
                <a:sym typeface="Nunito"/>
              </a:defRPr>
            </a:lvl1pPr>
            <a:lvl2pPr indent="-342900" lvl="1" marL="9144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2pPr>
            <a:lvl3pPr indent="-342900" lvl="2" marL="13716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3pPr>
            <a:lvl4pPr indent="-342900" lvl="3" marL="18288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4pPr>
            <a:lvl5pPr indent="-342900" lvl="4" marL="22860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5pPr>
            <a:lvl6pPr indent="-342900" lvl="5" marL="27432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6pPr>
            <a:lvl7pPr indent="-342900" lvl="6" marL="32004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7pPr>
            <a:lvl8pPr indent="-342900" lvl="7" marL="36576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8pPr>
            <a:lvl9pPr indent="-342900" lvl="8" marL="4114800" marR="0" rtl="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273" name="Shape 273"/>
        <p:cNvGrpSpPr/>
        <p:nvPr/>
      </p:nvGrpSpPr>
      <p:grpSpPr>
        <a:xfrm>
          <a:off x="0" y="0"/>
          <a:ext cx="0" cy="0"/>
          <a:chOff x="0" y="0"/>
          <a:chExt cx="0" cy="0"/>
        </a:xfrm>
      </p:grpSpPr>
      <p:sp>
        <p:nvSpPr>
          <p:cNvPr id="274" name="Google Shape;274;p13"/>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1pPr>
            <a:lvl2pPr lvl="1"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2pPr>
            <a:lvl3pPr lvl="2"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3pPr>
            <a:lvl4pPr lvl="3"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4pPr>
            <a:lvl5pPr lvl="4"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5pPr>
            <a:lvl6pPr lvl="5"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6pPr>
            <a:lvl7pPr lvl="6"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7pPr>
            <a:lvl8pPr lvl="7"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8pPr>
            <a:lvl9pPr lvl="8" marR="0" algn="l">
              <a:lnSpc>
                <a:spcPct val="100000"/>
              </a:lnSpc>
              <a:spcBef>
                <a:spcPts val="0"/>
              </a:spcBef>
              <a:spcAft>
                <a:spcPts val="0"/>
              </a:spcAft>
              <a:buClr>
                <a:schemeClr val="dk2"/>
              </a:buClr>
              <a:buSzPts val="4500"/>
              <a:buFont typeface="Maven Pro"/>
              <a:buNone/>
              <a:defRPr b="1" i="0" sz="4500" u="none" cap="none" strike="noStrike">
                <a:solidFill>
                  <a:schemeClr val="dk2"/>
                </a:solidFill>
                <a:latin typeface="Maven Pro"/>
                <a:ea typeface="Maven Pro"/>
                <a:cs typeface="Maven Pro"/>
                <a:sym typeface="Maven Pro"/>
              </a:defRPr>
            </a:lvl9pPr>
          </a:lstStyle>
          <a:p/>
        </p:txBody>
      </p:sp>
      <p:sp>
        <p:nvSpPr>
          <p:cNvPr id="275" name="Google Shape;275;p13"/>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361950" lvl="0" marL="457200" marR="0" algn="l">
              <a:lnSpc>
                <a:spcPct val="115000"/>
              </a:lnSpc>
              <a:spcBef>
                <a:spcPts val="0"/>
              </a:spcBef>
              <a:spcAft>
                <a:spcPts val="0"/>
              </a:spcAft>
              <a:buClr>
                <a:schemeClr val="dk2"/>
              </a:buClr>
              <a:buSzPts val="2100"/>
              <a:buFont typeface="Nunito"/>
              <a:buChar char="●"/>
              <a:defRPr b="0" i="0" sz="2100" u="none" cap="none" strike="noStrike">
                <a:solidFill>
                  <a:schemeClr val="dk2"/>
                </a:solidFill>
                <a:latin typeface="Nunito"/>
                <a:ea typeface="Nunito"/>
                <a:cs typeface="Nunito"/>
                <a:sym typeface="Nunito"/>
              </a:defRPr>
            </a:lvl1pPr>
            <a:lvl2pPr indent="-342900" lvl="1" marL="9144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2pPr>
            <a:lvl3pPr indent="-342900" lvl="2" marL="13716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3pPr>
            <a:lvl4pPr indent="-342900" lvl="3" marL="18288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4pPr>
            <a:lvl5pPr indent="-342900" lvl="4" marL="22860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5pPr>
            <a:lvl6pPr indent="-342900" lvl="5" marL="27432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6pPr>
            <a:lvl7pPr indent="-342900" lvl="6" marL="32004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7pPr>
            <a:lvl8pPr indent="-342900" lvl="7" marL="36576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8pPr>
            <a:lvl9pPr indent="-342900" lvl="8" marL="4114800" marR="0" algn="l">
              <a:lnSpc>
                <a:spcPct val="115000"/>
              </a:lnSpc>
              <a:spcBef>
                <a:spcPts val="0"/>
              </a:spcBef>
              <a:spcAft>
                <a:spcPts val="0"/>
              </a:spcAft>
              <a:buClr>
                <a:schemeClr val="dk2"/>
              </a:buClr>
              <a:buSzPts val="1800"/>
              <a:buFont typeface="Nunito"/>
              <a:buChar char="■"/>
              <a:defRPr b="0" i="0" sz="1800" u="none" cap="none" strike="noStrike">
                <a:solidFill>
                  <a:schemeClr val="dk2"/>
                </a:solidFill>
                <a:latin typeface="Nunito"/>
                <a:ea typeface="Nunito"/>
                <a:cs typeface="Nunito"/>
                <a:sym typeface="Nunito"/>
              </a:defRPr>
            </a:lvl9pPr>
          </a:lstStyle>
          <a:p/>
        </p:txBody>
      </p:sp>
      <p:sp>
        <p:nvSpPr>
          <p:cNvPr id="276" name="Google Shape;276;p13"/>
          <p:cNvSpPr txBox="1"/>
          <p:nvPr>
            <p:ph idx="12" type="sldNum"/>
          </p:nvPr>
        </p:nvSpPr>
        <p:spPr>
          <a:xfrm>
            <a:off x="13521674" y="7579161"/>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data.gouv.fr/datasets/donnees-eco2mix-regionales-consolidees-et-definitiv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12.png"/><Relationship Id="rId5"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4" name="Shape 544"/>
        <p:cNvGrpSpPr/>
        <p:nvPr/>
      </p:nvGrpSpPr>
      <p:grpSpPr>
        <a:xfrm>
          <a:off x="0" y="0"/>
          <a:ext cx="0" cy="0"/>
          <a:chOff x="0" y="0"/>
          <a:chExt cx="0" cy="0"/>
        </a:xfrm>
      </p:grpSpPr>
      <p:sp>
        <p:nvSpPr>
          <p:cNvPr id="545" name="Google Shape;545;p25"/>
          <p:cNvSpPr txBox="1"/>
          <p:nvPr/>
        </p:nvSpPr>
        <p:spPr>
          <a:xfrm>
            <a:off x="2031525" y="3037915"/>
            <a:ext cx="114300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12202F"/>
                </a:solidFill>
                <a:latin typeface="Calibri"/>
                <a:ea typeface="Calibri"/>
                <a:cs typeface="Calibri"/>
                <a:sym typeface="Calibri"/>
              </a:rPr>
              <a:t>BLOC 5 : CONCEVOIR ET DÉPLOYER DES MODÈLES D’APPRENTISSAGE AUTOMATIQUE </a:t>
            </a:r>
            <a:endParaRPr b="0" i="0" sz="1400" u="none" cap="none" strike="noStrike">
              <a:solidFill>
                <a:srgbClr val="000000"/>
              </a:solidFill>
              <a:latin typeface="Arial"/>
              <a:ea typeface="Arial"/>
              <a:cs typeface="Arial"/>
              <a:sym typeface="Arial"/>
            </a:endParaRPr>
          </a:p>
        </p:txBody>
      </p:sp>
      <p:sp>
        <p:nvSpPr>
          <p:cNvPr id="546" name="Google Shape;546;p25"/>
          <p:cNvSpPr txBox="1"/>
          <p:nvPr/>
        </p:nvSpPr>
        <p:spPr>
          <a:xfrm>
            <a:off x="12919725" y="7646525"/>
            <a:ext cx="1955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A6673"/>
                </a:solidFill>
                <a:latin typeface="Calibri"/>
                <a:ea typeface="Calibri"/>
                <a:cs typeface="Calibri"/>
                <a:sym typeface="Calibri"/>
              </a:rPr>
              <a:t>Audren CORRÉ</a:t>
            </a:r>
            <a:endParaRPr b="0" i="0" sz="1400" u="none" cap="none" strike="noStrike">
              <a:solidFill>
                <a:srgbClr val="000000"/>
              </a:solidFill>
              <a:latin typeface="Arial"/>
              <a:ea typeface="Arial"/>
              <a:cs typeface="Arial"/>
              <a:sym typeface="Arial"/>
            </a:endParaRPr>
          </a:p>
        </p:txBody>
      </p:sp>
      <p:sp>
        <p:nvSpPr>
          <p:cNvPr id="547" name="Google Shape;547;p25"/>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48" name="Google Shape;548;p25"/>
          <p:cNvPicPr preferRelativeResize="0"/>
          <p:nvPr/>
        </p:nvPicPr>
        <p:blipFill rotWithShape="1">
          <a:blip r:embed="rId3">
            <a:alphaModFix/>
          </a:blip>
          <a:srcRect b="0" l="0" r="0" t="0"/>
          <a:stretch/>
        </p:blipFill>
        <p:spPr>
          <a:xfrm>
            <a:off x="0" y="-2"/>
            <a:ext cx="2790075" cy="1395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2" name="Shape 552"/>
        <p:cNvGrpSpPr/>
        <p:nvPr/>
      </p:nvGrpSpPr>
      <p:grpSpPr>
        <a:xfrm>
          <a:off x="0" y="0"/>
          <a:ext cx="0" cy="0"/>
          <a:chOff x="0" y="0"/>
          <a:chExt cx="0" cy="0"/>
        </a:xfrm>
      </p:grpSpPr>
      <p:sp>
        <p:nvSpPr>
          <p:cNvPr id="553" name="Google Shape;553;p26"/>
          <p:cNvSpPr txBox="1"/>
          <p:nvPr/>
        </p:nvSpPr>
        <p:spPr>
          <a:xfrm>
            <a:off x="685800" y="502920"/>
            <a:ext cx="9875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2202F"/>
                </a:solidFill>
                <a:latin typeface="Calibri"/>
                <a:ea typeface="Calibri"/>
                <a:cs typeface="Calibri"/>
                <a:sym typeface="Calibri"/>
              </a:rPr>
              <a:t>Contexte</a:t>
            </a:r>
            <a:endParaRPr b="0" i="0" sz="1400" u="none" cap="none" strike="noStrike">
              <a:solidFill>
                <a:srgbClr val="000000"/>
              </a:solidFill>
              <a:latin typeface="Arial"/>
              <a:ea typeface="Arial"/>
              <a:cs typeface="Arial"/>
              <a:sym typeface="Arial"/>
            </a:endParaRPr>
          </a:p>
        </p:txBody>
      </p:sp>
      <p:sp>
        <p:nvSpPr>
          <p:cNvPr id="554" name="Google Shape;554;p26"/>
          <p:cNvSpPr/>
          <p:nvPr/>
        </p:nvSpPr>
        <p:spPr>
          <a:xfrm>
            <a:off x="800102" y="1884030"/>
            <a:ext cx="13075800" cy="914400"/>
          </a:xfrm>
          <a:prstGeom prst="roundRect">
            <a:avLst>
              <a:gd fmla="val 16667" name="adj"/>
            </a:avLst>
          </a:prstGeom>
          <a:solidFill>
            <a:srgbClr val="E8F2EE"/>
          </a:solidFill>
          <a:ln cap="flat" cmpd="sng" w="9525">
            <a:solidFill>
              <a:srgbClr val="268B6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320025" spcFirstLastPara="1" rIns="3200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268B67"/>
                </a:solidFill>
                <a:latin typeface="Calibri"/>
                <a:ea typeface="Calibri"/>
                <a:cs typeface="Calibri"/>
                <a:sym typeface="Calibri"/>
              </a:rPr>
              <a:t>Besoin exprimé : « mieux anticiper la demande électrique régionale pour préparer les variations de consommation et les pics »</a:t>
            </a:r>
            <a:endParaRPr b="0" i="0" sz="1400" u="none" cap="none" strike="noStrike">
              <a:solidFill>
                <a:srgbClr val="000000"/>
              </a:solidFill>
              <a:latin typeface="Arial"/>
              <a:ea typeface="Arial"/>
              <a:cs typeface="Arial"/>
              <a:sym typeface="Arial"/>
            </a:endParaRPr>
          </a:p>
        </p:txBody>
      </p:sp>
      <p:sp>
        <p:nvSpPr>
          <p:cNvPr id="555" name="Google Shape;555;p26"/>
          <p:cNvSpPr/>
          <p:nvPr/>
        </p:nvSpPr>
        <p:spPr>
          <a:xfrm>
            <a:off x="777240" y="3063240"/>
            <a:ext cx="4160400" cy="1965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2F61B8"/>
                </a:solidFill>
                <a:latin typeface="Calibri"/>
                <a:ea typeface="Calibri"/>
                <a:cs typeface="Calibri"/>
                <a:sym typeface="Calibri"/>
              </a:rPr>
              <a:t>COMMANDITAIRE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Gestionnaire / opérateur régional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Périmètre : Nouvelle-Aquitaine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Attente : prévision exploitable et maintenable</a:t>
            </a:r>
            <a:endParaRPr b="0" i="0" sz="1400" u="none" cap="none" strike="noStrike">
              <a:solidFill>
                <a:srgbClr val="000000"/>
              </a:solidFill>
              <a:latin typeface="Arial"/>
              <a:ea typeface="Arial"/>
              <a:cs typeface="Arial"/>
              <a:sym typeface="Arial"/>
            </a:endParaRPr>
          </a:p>
        </p:txBody>
      </p:sp>
      <p:sp>
        <p:nvSpPr>
          <p:cNvPr id="556" name="Google Shape;556;p26"/>
          <p:cNvSpPr/>
          <p:nvPr/>
        </p:nvSpPr>
        <p:spPr>
          <a:xfrm>
            <a:off x="5257800" y="3063240"/>
            <a:ext cx="4160400" cy="1965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2F61B8"/>
                </a:solidFill>
                <a:latin typeface="Calibri"/>
                <a:ea typeface="Calibri"/>
                <a:cs typeface="Calibri"/>
                <a:sym typeface="Calibri"/>
              </a:rPr>
              <a:t>MÉTHODE D'ANALYSE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Entretien exploratoire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Questionnaire de cadrage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Analyse de l'existant éCO2mix</a:t>
            </a:r>
            <a:endParaRPr b="0" i="0" sz="1400" u="none" cap="none" strike="noStrike">
              <a:solidFill>
                <a:srgbClr val="000000"/>
              </a:solidFill>
              <a:latin typeface="Arial"/>
              <a:ea typeface="Arial"/>
              <a:cs typeface="Arial"/>
              <a:sym typeface="Arial"/>
            </a:endParaRPr>
          </a:p>
        </p:txBody>
      </p:sp>
      <p:sp>
        <p:nvSpPr>
          <p:cNvPr id="557" name="Google Shape;557;p26"/>
          <p:cNvSpPr/>
          <p:nvPr/>
        </p:nvSpPr>
        <p:spPr>
          <a:xfrm>
            <a:off x="9738360" y="3063240"/>
            <a:ext cx="4114800" cy="1965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2F61B8"/>
                </a:solidFill>
                <a:latin typeface="Calibri"/>
                <a:ea typeface="Calibri"/>
                <a:cs typeface="Calibri"/>
                <a:sym typeface="Calibri"/>
              </a:rPr>
              <a:t>INFORMATIONS COLLECTÉES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Source 2012–2026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Pas de temps 30 minutes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Cible observable : consommation MW</a:t>
            </a:r>
            <a:endParaRPr b="0" i="0" sz="1400" u="none" cap="none" strike="noStrike">
              <a:solidFill>
                <a:srgbClr val="000000"/>
              </a:solidFill>
              <a:latin typeface="Arial"/>
              <a:ea typeface="Arial"/>
              <a:cs typeface="Arial"/>
              <a:sym typeface="Arial"/>
            </a:endParaRPr>
          </a:p>
        </p:txBody>
      </p:sp>
      <p:cxnSp>
        <p:nvCxnSpPr>
          <p:cNvPr id="558" name="Google Shape;558;p26"/>
          <p:cNvCxnSpPr/>
          <p:nvPr/>
        </p:nvCxnSpPr>
        <p:spPr>
          <a:xfrm>
            <a:off x="4937760" y="4050791"/>
            <a:ext cx="3201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cxnSp>
        <p:nvCxnSpPr>
          <p:cNvPr id="559" name="Google Shape;559;p26"/>
          <p:cNvCxnSpPr/>
          <p:nvPr/>
        </p:nvCxnSpPr>
        <p:spPr>
          <a:xfrm>
            <a:off x="9418320" y="4050791"/>
            <a:ext cx="3201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560" name="Google Shape;560;p26"/>
          <p:cNvSpPr/>
          <p:nvPr/>
        </p:nvSpPr>
        <p:spPr>
          <a:xfrm>
            <a:off x="777240" y="5532120"/>
            <a:ext cx="6355200" cy="1417200"/>
          </a:xfrm>
          <a:prstGeom prst="roundRect">
            <a:avLst>
              <a:gd fmla="val 16667" name="adj"/>
            </a:avLst>
          </a:prstGeom>
          <a:solidFill>
            <a:srgbClr val="FFF5E8"/>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E68D35"/>
                </a:solidFill>
                <a:latin typeface="Calibri"/>
                <a:ea typeface="Calibri"/>
                <a:cs typeface="Calibri"/>
                <a:sym typeface="Calibri"/>
              </a:rPr>
              <a:t>CONTRAINTES ET POINTS DE VIGILANCE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Données temporelles : pas de split aléatoire et risques de fuites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Outils open-source intégrés localement  à un environnement python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Pics de consommation plus difficiles à prédire</a:t>
            </a:r>
            <a:endParaRPr b="0" i="0" sz="1500" u="none" cap="none" strike="noStrike">
              <a:solidFill>
                <a:srgbClr val="12202F"/>
              </a:solidFill>
              <a:latin typeface="Calibri"/>
              <a:ea typeface="Calibri"/>
              <a:cs typeface="Calibri"/>
              <a:sym typeface="Calibri"/>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Historique long mais incomplet</a:t>
            </a:r>
            <a:endParaRPr b="0" i="0" sz="1500" u="none" cap="none" strike="noStrike">
              <a:solidFill>
                <a:srgbClr val="12202F"/>
              </a:solidFill>
              <a:latin typeface="Calibri"/>
              <a:ea typeface="Calibri"/>
              <a:cs typeface="Calibri"/>
              <a:sym typeface="Calibri"/>
            </a:endParaRPr>
          </a:p>
        </p:txBody>
      </p:sp>
      <p:sp>
        <p:nvSpPr>
          <p:cNvPr id="561" name="Google Shape;561;p26"/>
          <p:cNvSpPr/>
          <p:nvPr/>
        </p:nvSpPr>
        <p:spPr>
          <a:xfrm>
            <a:off x="7498079" y="5532120"/>
            <a:ext cx="6355200" cy="1417200"/>
          </a:xfrm>
          <a:prstGeom prst="roundRect">
            <a:avLst>
              <a:gd fmla="val 16667" name="adj"/>
            </a:avLst>
          </a:prstGeom>
          <a:solidFill>
            <a:srgbClr val="E8F2EE"/>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64575" wrap="square" tIns="1097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268B67"/>
                </a:solidFill>
                <a:latin typeface="Calibri"/>
                <a:ea typeface="Calibri"/>
                <a:cs typeface="Calibri"/>
                <a:sym typeface="Calibri"/>
              </a:rPr>
              <a:t>CONCLUSION INITIALE DE FAISABILITÉ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Données suffisantes, structurées et exploitables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Réponse retenue : construire un modèle de prévision supervisée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rgbClr val="000000"/>
              </a:buClr>
              <a:buSzPts val="1500"/>
              <a:buFont typeface="Arial"/>
              <a:buNone/>
            </a:pPr>
            <a:r>
              <a:rPr b="0" i="0" lang="en-US" sz="1500" u="none" cap="none" strike="noStrike">
                <a:solidFill>
                  <a:srgbClr val="12202F"/>
                </a:solidFill>
                <a:latin typeface="Calibri"/>
                <a:ea typeface="Calibri"/>
                <a:cs typeface="Calibri"/>
                <a:sym typeface="Calibri"/>
              </a:rPr>
              <a:t>Le choix précis de J+1 est justifié ensuite en C5.1.2</a:t>
            </a:r>
            <a:endParaRPr b="0" i="0" sz="1400" u="none" cap="none" strike="noStrike">
              <a:solidFill>
                <a:srgbClr val="000000"/>
              </a:solidFill>
              <a:latin typeface="Arial"/>
              <a:ea typeface="Arial"/>
              <a:cs typeface="Arial"/>
              <a:sym typeface="Arial"/>
            </a:endParaRPr>
          </a:p>
        </p:txBody>
      </p:sp>
      <p:sp>
        <p:nvSpPr>
          <p:cNvPr id="562" name="Google Shape;562;p26"/>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C5.1.1</a:t>
            </a:r>
            <a:endParaRPr b="0" i="0" sz="1400" u="none" cap="none" strike="noStrike">
              <a:solidFill>
                <a:srgbClr val="000000"/>
              </a:solidFill>
              <a:latin typeface="Arial"/>
              <a:ea typeface="Arial"/>
              <a:cs typeface="Arial"/>
              <a:sym typeface="Arial"/>
            </a:endParaRPr>
          </a:p>
        </p:txBody>
      </p:sp>
      <p:sp>
        <p:nvSpPr>
          <p:cNvPr id="563" name="Google Shape;563;p26"/>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4" name="Google Shape;564;p26"/>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8" name="Shape 568"/>
        <p:cNvGrpSpPr/>
        <p:nvPr/>
      </p:nvGrpSpPr>
      <p:grpSpPr>
        <a:xfrm>
          <a:off x="0" y="0"/>
          <a:ext cx="0" cy="0"/>
          <a:chOff x="0" y="0"/>
          <a:chExt cx="0" cy="0"/>
        </a:xfrm>
      </p:grpSpPr>
      <p:sp>
        <p:nvSpPr>
          <p:cNvPr id="569" name="Google Shape;569;p27"/>
          <p:cNvSpPr txBox="1"/>
          <p:nvPr/>
        </p:nvSpPr>
        <p:spPr>
          <a:xfrm>
            <a:off x="960125" y="825240"/>
            <a:ext cx="114300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12202F"/>
                </a:solidFill>
                <a:latin typeface="Calibri"/>
                <a:ea typeface="Calibri"/>
                <a:cs typeface="Calibri"/>
                <a:sym typeface="Calibri"/>
              </a:rPr>
              <a:t>Récupération des données</a:t>
            </a:r>
            <a:endParaRPr b="0" i="0" sz="1400" u="none" cap="none" strike="noStrike">
              <a:solidFill>
                <a:srgbClr val="000000"/>
              </a:solidFill>
              <a:latin typeface="Arial"/>
              <a:ea typeface="Arial"/>
              <a:cs typeface="Arial"/>
              <a:sym typeface="Arial"/>
            </a:endParaRPr>
          </a:p>
        </p:txBody>
      </p:sp>
      <p:sp>
        <p:nvSpPr>
          <p:cNvPr id="570" name="Google Shape;570;p27"/>
          <p:cNvSpPr txBox="1"/>
          <p:nvPr/>
        </p:nvSpPr>
        <p:spPr>
          <a:xfrm>
            <a:off x="960120" y="2148840"/>
            <a:ext cx="8686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A6673"/>
                </a:solidFill>
                <a:latin typeface="Calibri"/>
                <a:ea typeface="Calibri"/>
                <a:cs typeface="Calibri"/>
                <a:sym typeface="Calibri"/>
              </a:rPr>
              <a:t>éCO2mix + prévisions horaires ICON via Open-Meteo</a:t>
            </a:r>
            <a:endParaRPr b="0" i="0" sz="1400" u="none" cap="none" strike="noStrike">
              <a:solidFill>
                <a:srgbClr val="000000"/>
              </a:solidFill>
              <a:latin typeface="Arial"/>
              <a:ea typeface="Arial"/>
              <a:cs typeface="Arial"/>
              <a:sym typeface="Arial"/>
            </a:endParaRPr>
          </a:p>
        </p:txBody>
      </p:sp>
      <p:sp>
        <p:nvSpPr>
          <p:cNvPr id="571" name="Google Shape;571;p27"/>
          <p:cNvSpPr/>
          <p:nvPr/>
        </p:nvSpPr>
        <p:spPr>
          <a:xfrm>
            <a:off x="2880390" y="4202145"/>
            <a:ext cx="2469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 3M lignes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données éCO2mix</a:t>
            </a:r>
            <a:endParaRPr b="0" i="0" sz="1400" u="none" cap="none" strike="noStrike">
              <a:solidFill>
                <a:srgbClr val="000000"/>
              </a:solidFill>
              <a:latin typeface="Arial"/>
              <a:ea typeface="Arial"/>
              <a:cs typeface="Arial"/>
              <a:sym typeface="Arial"/>
            </a:endParaRPr>
          </a:p>
        </p:txBody>
      </p:sp>
      <p:sp>
        <p:nvSpPr>
          <p:cNvPr id="572" name="Google Shape;572;p27"/>
          <p:cNvSpPr/>
          <p:nvPr/>
        </p:nvSpPr>
        <p:spPr>
          <a:xfrm>
            <a:off x="5760750" y="4202145"/>
            <a:ext cx="2469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30 min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granularité temporelle</a:t>
            </a:r>
            <a:endParaRPr b="0" i="0" sz="1400" u="none" cap="none" strike="noStrike">
              <a:solidFill>
                <a:srgbClr val="000000"/>
              </a:solidFill>
              <a:latin typeface="Arial"/>
              <a:ea typeface="Arial"/>
              <a:cs typeface="Arial"/>
              <a:sym typeface="Arial"/>
            </a:endParaRPr>
          </a:p>
        </p:txBody>
      </p:sp>
      <p:sp>
        <p:nvSpPr>
          <p:cNvPr id="573" name="Google Shape;573;p27"/>
          <p:cNvSpPr/>
          <p:nvPr/>
        </p:nvSpPr>
        <p:spPr>
          <a:xfrm>
            <a:off x="8641110" y="4202145"/>
            <a:ext cx="31089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Régionale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granularité spatiale</a:t>
            </a:r>
            <a:endParaRPr b="0" i="0" sz="1400" u="none" cap="none" strike="noStrike">
              <a:solidFill>
                <a:srgbClr val="000000"/>
              </a:solidFill>
              <a:latin typeface="Arial"/>
              <a:ea typeface="Arial"/>
              <a:cs typeface="Arial"/>
              <a:sym typeface="Arial"/>
            </a:endParaRPr>
          </a:p>
        </p:txBody>
      </p:sp>
      <p:sp>
        <p:nvSpPr>
          <p:cNvPr id="574" name="Google Shape;574;p27"/>
          <p:cNvSpPr/>
          <p:nvPr/>
        </p:nvSpPr>
        <p:spPr>
          <a:xfrm>
            <a:off x="0" y="8001000"/>
            <a:ext cx="14630400" cy="4560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5" name="Google Shape;575;p27"/>
          <p:cNvSpPr txBox="1"/>
          <p:nvPr/>
        </p:nvSpPr>
        <p:spPr>
          <a:xfrm>
            <a:off x="960125" y="2832950"/>
            <a:ext cx="8975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chemeClr val="dk2"/>
                </a:solidFill>
                <a:latin typeface="Nunito"/>
                <a:ea typeface="Nunito"/>
                <a:cs typeface="Nunito"/>
                <a:sym typeface="Nunito"/>
              </a:rPr>
              <a:t>Dataset utilisé : Données éCO2mix régionales consolidées et définitives</a:t>
            </a:r>
            <a:br>
              <a:rPr b="0" i="0" lang="en-US" sz="2100" u="none" cap="none" strike="noStrike">
                <a:solidFill>
                  <a:schemeClr val="dk2"/>
                </a:solidFill>
                <a:latin typeface="Nunito"/>
                <a:ea typeface="Nunito"/>
                <a:cs typeface="Nunito"/>
                <a:sym typeface="Nunito"/>
              </a:rPr>
            </a:br>
            <a:r>
              <a:rPr b="0" i="0" lang="en-US" sz="1100" u="sng" cap="none" strike="noStrike">
                <a:solidFill>
                  <a:schemeClr val="hlink"/>
                </a:solidFill>
                <a:latin typeface="Nunito"/>
                <a:ea typeface="Nunito"/>
                <a:cs typeface="Nunito"/>
                <a:sym typeface="Nunito"/>
                <a:hlinkClick r:id="rId3"/>
              </a:rPr>
              <a:t>https://www.data.gouv.fr/datasets/donnees-eco2mix-regionales-consolidees-et-definitives</a:t>
            </a:r>
            <a:endParaRPr b="0" i="0" sz="1100" u="none" cap="none" strike="noStrike">
              <a:solidFill>
                <a:schemeClr val="dk2"/>
              </a:solidFill>
              <a:latin typeface="Nunito"/>
              <a:ea typeface="Nunito"/>
              <a:cs typeface="Nunito"/>
              <a:sym typeface="Nunito"/>
            </a:endParaRPr>
          </a:p>
        </p:txBody>
      </p:sp>
      <p:sp>
        <p:nvSpPr>
          <p:cNvPr id="576" name="Google Shape;576;p27"/>
          <p:cNvSpPr/>
          <p:nvPr/>
        </p:nvSpPr>
        <p:spPr>
          <a:xfrm>
            <a:off x="4754805" y="5598205"/>
            <a:ext cx="5120700" cy="5028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12202F"/>
                </a:solidFill>
                <a:latin typeface="Arial"/>
                <a:ea typeface="Arial"/>
                <a:cs typeface="Arial"/>
                <a:sym typeface="Arial"/>
              </a:rPr>
              <a:t>Candidat météo prévue : entraînement 2024 | test 2025</a:t>
            </a:r>
            <a:endParaRPr b="0" i="0" sz="1400" u="none" cap="none" strike="noStrike">
              <a:solidFill>
                <a:srgbClr val="000000"/>
              </a:solidFill>
              <a:latin typeface="Arial"/>
              <a:ea typeface="Arial"/>
              <a:cs typeface="Arial"/>
              <a:sym typeface="Arial"/>
            </a:endParaRPr>
          </a:p>
        </p:txBody>
      </p:sp>
      <p:sp>
        <p:nvSpPr>
          <p:cNvPr id="577" name="Google Shape;577;p27"/>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C5.1.1</a:t>
            </a:r>
            <a:endParaRPr b="0" i="0" sz="1400" u="none" cap="none" strike="noStrike">
              <a:solidFill>
                <a:srgbClr val="000000"/>
              </a:solidFill>
              <a:latin typeface="Arial"/>
              <a:ea typeface="Arial"/>
              <a:cs typeface="Arial"/>
              <a:sym typeface="Arial"/>
            </a:endParaRPr>
          </a:p>
        </p:txBody>
      </p:sp>
      <p:sp>
        <p:nvSpPr>
          <p:cNvPr id="578" name="Google Shape;578;p27"/>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2" name="Shape 582"/>
        <p:cNvGrpSpPr/>
        <p:nvPr/>
      </p:nvGrpSpPr>
      <p:grpSpPr>
        <a:xfrm>
          <a:off x="0" y="0"/>
          <a:ext cx="0" cy="0"/>
          <a:chOff x="0" y="0"/>
          <a:chExt cx="0" cy="0"/>
        </a:xfrm>
      </p:grpSpPr>
      <p:sp>
        <p:nvSpPr>
          <p:cNvPr id="583" name="Google Shape;583;p28"/>
          <p:cNvSpPr txBox="1"/>
          <p:nvPr/>
        </p:nvSpPr>
        <p:spPr>
          <a:xfrm>
            <a:off x="731520" y="502920"/>
            <a:ext cx="9875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2202F"/>
                </a:solidFill>
                <a:latin typeface="Arial"/>
                <a:ea typeface="Arial"/>
                <a:cs typeface="Arial"/>
                <a:sym typeface="Arial"/>
              </a:rPr>
              <a:t>Exploration — vérifier la faisabilité</a:t>
            </a:r>
            <a:endParaRPr b="0" i="0" sz="1400" u="none" cap="none" strike="noStrike">
              <a:solidFill>
                <a:srgbClr val="000000"/>
              </a:solidFill>
              <a:latin typeface="Arial"/>
              <a:ea typeface="Arial"/>
              <a:cs typeface="Arial"/>
              <a:sym typeface="Arial"/>
            </a:endParaRPr>
          </a:p>
        </p:txBody>
      </p:sp>
      <p:sp>
        <p:nvSpPr>
          <p:cNvPr id="584" name="Google Shape;584;p28"/>
          <p:cNvSpPr txBox="1"/>
          <p:nvPr/>
        </p:nvSpPr>
        <p:spPr>
          <a:xfrm>
            <a:off x="777240" y="11704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Volumétrie, fréquence, complétude et saisonnalités avant toute modélisation</a:t>
            </a:r>
            <a:endParaRPr b="0" i="0" sz="1400" u="none" cap="none" strike="noStrike">
              <a:solidFill>
                <a:srgbClr val="000000"/>
              </a:solidFill>
              <a:latin typeface="Arial"/>
              <a:ea typeface="Arial"/>
              <a:cs typeface="Arial"/>
              <a:sym typeface="Arial"/>
            </a:endParaRPr>
          </a:p>
        </p:txBody>
      </p:sp>
      <p:pic>
        <p:nvPicPr>
          <p:cNvPr descr="exploration_cell13_out0.png" id="585" name="Google Shape;585;p28"/>
          <p:cNvPicPr preferRelativeResize="0"/>
          <p:nvPr/>
        </p:nvPicPr>
        <p:blipFill rotWithShape="1">
          <a:blip r:embed="rId3">
            <a:alphaModFix/>
          </a:blip>
          <a:srcRect b="0" l="0" r="0" t="0"/>
          <a:stretch/>
        </p:blipFill>
        <p:spPr>
          <a:xfrm>
            <a:off x="654725" y="2436935"/>
            <a:ext cx="6217920" cy="2560320"/>
          </a:xfrm>
          <a:prstGeom prst="rect">
            <a:avLst/>
          </a:prstGeom>
          <a:noFill/>
          <a:ln>
            <a:noFill/>
          </a:ln>
        </p:spPr>
      </p:pic>
      <p:pic>
        <p:nvPicPr>
          <p:cNvPr descr="exploration_cell24_out0.png" id="586" name="Google Shape;586;p28"/>
          <p:cNvPicPr preferRelativeResize="0"/>
          <p:nvPr/>
        </p:nvPicPr>
        <p:blipFill rotWithShape="1">
          <a:blip r:embed="rId4">
            <a:alphaModFix/>
          </a:blip>
          <a:srcRect b="0" l="0" r="0" t="0"/>
          <a:stretch/>
        </p:blipFill>
        <p:spPr>
          <a:xfrm>
            <a:off x="7391970" y="2148847"/>
            <a:ext cx="6309359" cy="3136497"/>
          </a:xfrm>
          <a:prstGeom prst="rect">
            <a:avLst/>
          </a:prstGeom>
          <a:noFill/>
          <a:ln>
            <a:noFill/>
          </a:ln>
        </p:spPr>
      </p:pic>
      <p:sp>
        <p:nvSpPr>
          <p:cNvPr id="587" name="Google Shape;587;p28"/>
          <p:cNvSpPr/>
          <p:nvPr/>
        </p:nvSpPr>
        <p:spPr>
          <a:xfrm>
            <a:off x="914400" y="6720840"/>
            <a:ext cx="12710100" cy="685800"/>
          </a:xfrm>
          <a:prstGeom prst="roundRect">
            <a:avLst>
              <a:gd fmla="val 16667" name="adj"/>
            </a:avLst>
          </a:prstGeom>
          <a:solidFill>
            <a:srgbClr val="E8F2EE"/>
          </a:solidFill>
          <a:ln cap="flat" cmpd="sng" w="9525">
            <a:solidFill>
              <a:srgbClr val="268B6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268B67"/>
                </a:solidFill>
                <a:latin typeface="Calibri"/>
                <a:ea typeface="Calibri"/>
                <a:cs typeface="Calibri"/>
                <a:sym typeface="Calibri"/>
              </a:rPr>
              <a:t>Conclusion : projet faisable, avec un volume suffisant et une cible directement observable.</a:t>
            </a:r>
            <a:endParaRPr b="0" i="0" sz="1400" u="none" cap="none" strike="noStrike">
              <a:solidFill>
                <a:srgbClr val="000000"/>
              </a:solidFill>
              <a:latin typeface="Arial"/>
              <a:ea typeface="Arial"/>
              <a:cs typeface="Arial"/>
              <a:sym typeface="Arial"/>
            </a:endParaRPr>
          </a:p>
        </p:txBody>
      </p:sp>
      <p:sp>
        <p:nvSpPr>
          <p:cNvPr id="588" name="Google Shape;588;p28"/>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C5.1.1</a:t>
            </a:r>
            <a:endParaRPr b="0" i="0" sz="1400" u="none" cap="none" strike="noStrike">
              <a:solidFill>
                <a:srgbClr val="000000"/>
              </a:solidFill>
              <a:latin typeface="Arial"/>
              <a:ea typeface="Arial"/>
              <a:cs typeface="Arial"/>
              <a:sym typeface="Arial"/>
            </a:endParaRPr>
          </a:p>
        </p:txBody>
      </p:sp>
      <p:sp>
        <p:nvSpPr>
          <p:cNvPr id="589" name="Google Shape;589;p28"/>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0" name="Google Shape;590;p28"/>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4" name="Shape 594"/>
        <p:cNvGrpSpPr/>
        <p:nvPr/>
      </p:nvGrpSpPr>
      <p:grpSpPr>
        <a:xfrm>
          <a:off x="0" y="0"/>
          <a:ext cx="0" cy="0"/>
          <a:chOff x="0" y="0"/>
          <a:chExt cx="0" cy="0"/>
        </a:xfrm>
      </p:grpSpPr>
      <p:sp>
        <p:nvSpPr>
          <p:cNvPr id="595" name="Google Shape;595;p29"/>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C5.1.2</a:t>
            </a:r>
            <a:endParaRPr b="0" i="0" sz="1400" u="none" cap="none" strike="noStrike">
              <a:solidFill>
                <a:srgbClr val="000000"/>
              </a:solidFill>
              <a:latin typeface="Arial"/>
              <a:ea typeface="Arial"/>
              <a:cs typeface="Arial"/>
              <a:sym typeface="Arial"/>
            </a:endParaRPr>
          </a:p>
        </p:txBody>
      </p:sp>
      <p:sp>
        <p:nvSpPr>
          <p:cNvPr id="596" name="Google Shape;596;p29"/>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Définir la stratégie de résolution</a:t>
            </a:r>
            <a:endParaRPr b="0" i="0" sz="1400" u="none" cap="none" strike="noStrike">
              <a:solidFill>
                <a:srgbClr val="000000"/>
              </a:solidFill>
              <a:latin typeface="Arial"/>
              <a:ea typeface="Arial"/>
              <a:cs typeface="Arial"/>
              <a:sym typeface="Arial"/>
            </a:endParaRPr>
          </a:p>
        </p:txBody>
      </p:sp>
      <p:sp>
        <p:nvSpPr>
          <p:cNvPr id="597" name="Google Shape;597;p29"/>
          <p:cNvSpPr txBox="1"/>
          <p:nvPr/>
        </p:nvSpPr>
        <p:spPr>
          <a:xfrm>
            <a:off x="777240" y="1207008"/>
            <a:ext cx="987552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A6673"/>
                </a:solidFill>
                <a:latin typeface="Calibri"/>
                <a:ea typeface="Calibri"/>
                <a:cs typeface="Calibri"/>
                <a:sym typeface="Calibri"/>
              </a:rPr>
              <a:t>Transformer un besoin métier en problème de Machine Learning</a:t>
            </a:r>
            <a:endParaRPr b="0" i="0" sz="1400" u="none" cap="none" strike="noStrike">
              <a:solidFill>
                <a:srgbClr val="000000"/>
              </a:solidFill>
              <a:latin typeface="Arial"/>
              <a:ea typeface="Arial"/>
              <a:cs typeface="Arial"/>
              <a:sym typeface="Arial"/>
            </a:endParaRPr>
          </a:p>
        </p:txBody>
      </p:sp>
      <p:sp>
        <p:nvSpPr>
          <p:cNvPr id="598" name="Google Shape;598;p29"/>
          <p:cNvSpPr txBox="1"/>
          <p:nvPr/>
        </p:nvSpPr>
        <p:spPr>
          <a:xfrm>
            <a:off x="1390597" y="230413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FORMULATION ML</a:t>
            </a:r>
            <a:endParaRPr b="0" i="0" sz="1800" u="none" cap="none" strike="noStrike">
              <a:solidFill>
                <a:srgbClr val="000000"/>
              </a:solidFill>
              <a:latin typeface="Arial"/>
              <a:ea typeface="Arial"/>
              <a:cs typeface="Arial"/>
              <a:sym typeface="Arial"/>
            </a:endParaRPr>
          </a:p>
        </p:txBody>
      </p:sp>
      <p:sp>
        <p:nvSpPr>
          <p:cNvPr id="599" name="Google Shape;599;p29"/>
          <p:cNvSpPr txBox="1"/>
          <p:nvPr/>
        </p:nvSpPr>
        <p:spPr>
          <a:xfrm>
            <a:off x="1390597" y="2669895"/>
            <a:ext cx="5029200" cy="12621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Tâche : régression sur série temporelle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Cible : consommation à t + 24 h</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Unité : région × demi-heure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Horizon principal : J+1</a:t>
            </a:r>
            <a:endParaRPr b="0" i="0" sz="1400" u="none" cap="none" strike="noStrike">
              <a:solidFill>
                <a:srgbClr val="000000"/>
              </a:solidFill>
              <a:latin typeface="Arial"/>
              <a:ea typeface="Arial"/>
              <a:cs typeface="Arial"/>
              <a:sym typeface="Arial"/>
            </a:endParaRPr>
          </a:p>
        </p:txBody>
      </p:sp>
      <p:sp>
        <p:nvSpPr>
          <p:cNvPr id="600" name="Google Shape;600;p29"/>
          <p:cNvSpPr txBox="1"/>
          <p:nvPr/>
        </p:nvSpPr>
        <p:spPr>
          <a:xfrm>
            <a:off x="7296208" y="230413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APPROCHE RETENUE</a:t>
            </a:r>
            <a:endParaRPr b="0" i="0" sz="1800" u="none" cap="none" strike="noStrike">
              <a:solidFill>
                <a:srgbClr val="000000"/>
              </a:solidFill>
              <a:latin typeface="Arial"/>
              <a:ea typeface="Arial"/>
              <a:cs typeface="Arial"/>
              <a:sym typeface="Arial"/>
            </a:endParaRPr>
          </a:p>
        </p:txBody>
      </p:sp>
      <p:sp>
        <p:nvSpPr>
          <p:cNvPr id="601" name="Google Shape;601;p29"/>
          <p:cNvSpPr txBox="1"/>
          <p:nvPr/>
        </p:nvSpPr>
        <p:spPr>
          <a:xfrm>
            <a:off x="7296207" y="2669895"/>
            <a:ext cx="5943600" cy="12621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Baseline temporelle : demain = aujourd'hui</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Découpage chronologique, purge de 24 h</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Paramètres conservés ; aucun tuning sur 2025</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Analyse spécifique des pics</a:t>
            </a:r>
            <a:endParaRPr b="0" i="0" sz="1400" u="none" cap="none" strike="noStrike">
              <a:solidFill>
                <a:srgbClr val="000000"/>
              </a:solidFill>
              <a:latin typeface="Arial"/>
              <a:ea typeface="Arial"/>
              <a:cs typeface="Arial"/>
              <a:sym typeface="Arial"/>
            </a:endParaRPr>
          </a:p>
        </p:txBody>
      </p:sp>
      <p:sp>
        <p:nvSpPr>
          <p:cNvPr id="602" name="Google Shape;602;p29"/>
          <p:cNvSpPr/>
          <p:nvPr/>
        </p:nvSpPr>
        <p:spPr>
          <a:xfrm>
            <a:off x="2240275" y="5204330"/>
            <a:ext cx="24690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2202F"/>
                </a:solidFill>
                <a:latin typeface="Calibri"/>
                <a:ea typeface="Calibri"/>
                <a:cs typeface="Calibri"/>
                <a:sym typeface="Calibri"/>
              </a:rPr>
              <a:t>Train</a:t>
            </a:r>
            <a:br>
              <a:rPr b="1" i="0" lang="en-US" sz="1600" u="none" cap="none" strike="noStrike">
                <a:solidFill>
                  <a:srgbClr val="12202F"/>
                </a:solidFill>
                <a:latin typeface="Calibri"/>
                <a:ea typeface="Calibri"/>
                <a:cs typeface="Calibri"/>
                <a:sym typeface="Calibri"/>
              </a:rPr>
            </a:br>
            <a:r>
              <a:rPr b="1" i="0" lang="en-US" sz="1600" u="none" cap="none" strike="noStrike">
                <a:solidFill>
                  <a:srgbClr val="12202F"/>
                </a:solidFill>
                <a:latin typeface="Calibri"/>
                <a:ea typeface="Calibri"/>
                <a:cs typeface="Calibri"/>
                <a:sym typeface="Calibri"/>
              </a:rPr>
              <a:t>2019–2023</a:t>
            </a:r>
            <a:endParaRPr b="0" i="0" sz="1400" u="none" cap="none" strike="noStrike">
              <a:solidFill>
                <a:srgbClr val="000000"/>
              </a:solidFill>
              <a:latin typeface="Arial"/>
              <a:ea typeface="Arial"/>
              <a:cs typeface="Arial"/>
              <a:sym typeface="Arial"/>
            </a:endParaRPr>
          </a:p>
        </p:txBody>
      </p:sp>
      <p:cxnSp>
        <p:nvCxnSpPr>
          <p:cNvPr id="603" name="Google Shape;603;p29"/>
          <p:cNvCxnSpPr/>
          <p:nvPr/>
        </p:nvCxnSpPr>
        <p:spPr>
          <a:xfrm>
            <a:off x="4754875" y="5615810"/>
            <a:ext cx="12801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604" name="Google Shape;604;p29"/>
          <p:cNvSpPr/>
          <p:nvPr/>
        </p:nvSpPr>
        <p:spPr>
          <a:xfrm>
            <a:off x="6080755" y="5204330"/>
            <a:ext cx="24690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2202F"/>
                </a:solidFill>
                <a:latin typeface="Calibri"/>
                <a:ea typeface="Calibri"/>
                <a:cs typeface="Calibri"/>
                <a:sym typeface="Calibri"/>
              </a:rPr>
              <a:t>Validation</a:t>
            </a:r>
            <a:br>
              <a:rPr b="1" i="0" lang="en-US" sz="1600" u="none" cap="none" strike="noStrike">
                <a:solidFill>
                  <a:srgbClr val="12202F"/>
                </a:solidFill>
                <a:latin typeface="Calibri"/>
                <a:ea typeface="Calibri"/>
                <a:cs typeface="Calibri"/>
                <a:sym typeface="Calibri"/>
              </a:rPr>
            </a:br>
            <a:r>
              <a:rPr b="1" i="0" lang="en-US" sz="1600" u="none" cap="none" strike="noStrike">
                <a:solidFill>
                  <a:srgbClr val="12202F"/>
                </a:solidFill>
                <a:latin typeface="Calibri"/>
                <a:ea typeface="Calibri"/>
                <a:cs typeface="Calibri"/>
                <a:sym typeface="Calibri"/>
              </a:rPr>
              <a:t>2024</a:t>
            </a:r>
            <a:endParaRPr b="0" i="0" sz="1400" u="none" cap="none" strike="noStrike">
              <a:solidFill>
                <a:srgbClr val="000000"/>
              </a:solidFill>
              <a:latin typeface="Arial"/>
              <a:ea typeface="Arial"/>
              <a:cs typeface="Arial"/>
              <a:sym typeface="Arial"/>
            </a:endParaRPr>
          </a:p>
        </p:txBody>
      </p:sp>
      <p:cxnSp>
        <p:nvCxnSpPr>
          <p:cNvPr id="605" name="Google Shape;605;p29"/>
          <p:cNvCxnSpPr/>
          <p:nvPr/>
        </p:nvCxnSpPr>
        <p:spPr>
          <a:xfrm>
            <a:off x="8595354" y="5615810"/>
            <a:ext cx="12801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606" name="Google Shape;606;p29"/>
          <p:cNvSpPr/>
          <p:nvPr/>
        </p:nvSpPr>
        <p:spPr>
          <a:xfrm>
            <a:off x="9921235" y="5204330"/>
            <a:ext cx="24690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2202F"/>
                </a:solidFill>
                <a:latin typeface="Calibri"/>
                <a:ea typeface="Calibri"/>
                <a:cs typeface="Calibri"/>
                <a:sym typeface="Calibri"/>
              </a:rPr>
              <a:t>Test</a:t>
            </a:r>
            <a:br>
              <a:rPr b="1" i="0" lang="en-US" sz="1600" u="none" cap="none" strike="noStrike">
                <a:solidFill>
                  <a:srgbClr val="12202F"/>
                </a:solidFill>
                <a:latin typeface="Calibri"/>
                <a:ea typeface="Calibri"/>
                <a:cs typeface="Calibri"/>
                <a:sym typeface="Calibri"/>
              </a:rPr>
            </a:br>
            <a:r>
              <a:rPr b="1" i="0" lang="en-US" sz="1600" u="none" cap="none" strike="noStrike">
                <a:solidFill>
                  <a:srgbClr val="12202F"/>
                </a:solidFill>
                <a:latin typeface="Calibri"/>
                <a:ea typeface="Calibri"/>
                <a:cs typeface="Calibri"/>
                <a:sym typeface="Calibri"/>
              </a:rPr>
              <a:t>2025</a:t>
            </a:r>
            <a:endParaRPr b="0" i="0" sz="1400" u="none" cap="none" strike="noStrike">
              <a:solidFill>
                <a:srgbClr val="000000"/>
              </a:solidFill>
              <a:latin typeface="Arial"/>
              <a:ea typeface="Arial"/>
              <a:cs typeface="Arial"/>
              <a:sym typeface="Arial"/>
            </a:endParaRPr>
          </a:p>
        </p:txBody>
      </p:sp>
      <p:sp>
        <p:nvSpPr>
          <p:cNvPr id="607" name="Google Shape;607;p29"/>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8" name="Google Shape;608;p29"/>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2" name="Shape 612"/>
        <p:cNvGrpSpPr/>
        <p:nvPr/>
      </p:nvGrpSpPr>
      <p:grpSpPr>
        <a:xfrm>
          <a:off x="0" y="0"/>
          <a:ext cx="0" cy="0"/>
          <a:chOff x="0" y="0"/>
          <a:chExt cx="0" cy="0"/>
        </a:xfrm>
      </p:grpSpPr>
      <p:sp>
        <p:nvSpPr>
          <p:cNvPr id="613" name="Google Shape;613;p30"/>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C5.1.3</a:t>
            </a:r>
            <a:endParaRPr b="0" i="0" sz="1400" u="none" cap="none" strike="noStrike">
              <a:solidFill>
                <a:srgbClr val="000000"/>
              </a:solidFill>
              <a:latin typeface="Arial"/>
              <a:ea typeface="Arial"/>
              <a:cs typeface="Arial"/>
              <a:sym typeface="Arial"/>
            </a:endParaRPr>
          </a:p>
        </p:txBody>
      </p:sp>
      <p:sp>
        <p:nvSpPr>
          <p:cNvPr id="614" name="Google Shape;614;p30"/>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Sélectionner les technologies et les outils</a:t>
            </a:r>
            <a:endParaRPr b="0" i="0" sz="1400" u="none" cap="none" strike="noStrike">
              <a:solidFill>
                <a:srgbClr val="000000"/>
              </a:solidFill>
              <a:latin typeface="Arial"/>
              <a:ea typeface="Arial"/>
              <a:cs typeface="Arial"/>
              <a:sym typeface="Arial"/>
            </a:endParaRPr>
          </a:p>
        </p:txBody>
      </p:sp>
      <p:sp>
        <p:nvSpPr>
          <p:cNvPr id="615" name="Google Shape;615;p30"/>
          <p:cNvSpPr txBox="1"/>
          <p:nvPr/>
        </p:nvSpPr>
        <p:spPr>
          <a:xfrm>
            <a:off x="914400" y="160020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PYTHON / PANDAS</a:t>
            </a:r>
            <a:endParaRPr b="0" i="0" sz="1800" u="none" cap="none" strike="noStrike">
              <a:solidFill>
                <a:srgbClr val="000000"/>
              </a:solidFill>
              <a:latin typeface="Arial"/>
              <a:ea typeface="Arial"/>
              <a:cs typeface="Arial"/>
              <a:sym typeface="Arial"/>
            </a:endParaRPr>
          </a:p>
        </p:txBody>
      </p:sp>
      <p:sp>
        <p:nvSpPr>
          <p:cNvPr id="616" name="Google Shape;616;p30"/>
          <p:cNvSpPr txBox="1"/>
          <p:nvPr/>
        </p:nvSpPr>
        <p:spPr>
          <a:xfrm>
            <a:off x="4663440" y="157276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préparation et manipulation des données</a:t>
            </a:r>
            <a:endParaRPr b="0" i="0" sz="1400" u="none" cap="none" strike="noStrike">
              <a:solidFill>
                <a:srgbClr val="000000"/>
              </a:solidFill>
              <a:latin typeface="Arial"/>
              <a:ea typeface="Arial"/>
              <a:cs typeface="Arial"/>
              <a:sym typeface="Arial"/>
            </a:endParaRPr>
          </a:p>
        </p:txBody>
      </p:sp>
      <p:sp>
        <p:nvSpPr>
          <p:cNvPr id="617" name="Google Shape;617;p30"/>
          <p:cNvSpPr txBox="1"/>
          <p:nvPr/>
        </p:nvSpPr>
        <p:spPr>
          <a:xfrm>
            <a:off x="914400" y="260604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SCIKIT-LEARN</a:t>
            </a:r>
            <a:endParaRPr b="0" i="0" sz="1800" u="none" cap="none" strike="noStrike">
              <a:solidFill>
                <a:srgbClr val="000000"/>
              </a:solidFill>
              <a:latin typeface="Arial"/>
              <a:ea typeface="Arial"/>
              <a:cs typeface="Arial"/>
              <a:sym typeface="Arial"/>
            </a:endParaRPr>
          </a:p>
        </p:txBody>
      </p:sp>
      <p:sp>
        <p:nvSpPr>
          <p:cNvPr id="618" name="Google Shape;618;p30"/>
          <p:cNvSpPr txBox="1"/>
          <p:nvPr/>
        </p:nvSpPr>
        <p:spPr>
          <a:xfrm>
            <a:off x="4663440" y="257860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modèles, validation, métriques, optimisation</a:t>
            </a:r>
            <a:endParaRPr b="0" i="0" sz="1400" u="none" cap="none" strike="noStrike">
              <a:solidFill>
                <a:srgbClr val="000000"/>
              </a:solidFill>
              <a:latin typeface="Arial"/>
              <a:ea typeface="Arial"/>
              <a:cs typeface="Arial"/>
              <a:sym typeface="Arial"/>
            </a:endParaRPr>
          </a:p>
        </p:txBody>
      </p:sp>
      <p:sp>
        <p:nvSpPr>
          <p:cNvPr id="619" name="Google Shape;619;p30"/>
          <p:cNvSpPr txBox="1"/>
          <p:nvPr/>
        </p:nvSpPr>
        <p:spPr>
          <a:xfrm>
            <a:off x="914400" y="361188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JOBLIB + JSON</a:t>
            </a:r>
            <a:endParaRPr b="0" i="0" sz="1800" u="none" cap="none" strike="noStrike">
              <a:solidFill>
                <a:srgbClr val="000000"/>
              </a:solidFill>
              <a:latin typeface="Arial"/>
              <a:ea typeface="Arial"/>
              <a:cs typeface="Arial"/>
              <a:sym typeface="Arial"/>
            </a:endParaRPr>
          </a:p>
        </p:txBody>
      </p:sp>
      <p:sp>
        <p:nvSpPr>
          <p:cNvPr id="620" name="Google Shape;620;p30"/>
          <p:cNvSpPr txBox="1"/>
          <p:nvPr/>
        </p:nvSpPr>
        <p:spPr>
          <a:xfrm>
            <a:off x="4663440" y="358444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sauvegarde modèle + métadonnées</a:t>
            </a:r>
            <a:endParaRPr b="0" i="0" sz="1400" u="none" cap="none" strike="noStrike">
              <a:solidFill>
                <a:srgbClr val="000000"/>
              </a:solidFill>
              <a:latin typeface="Arial"/>
              <a:ea typeface="Arial"/>
              <a:cs typeface="Arial"/>
              <a:sym typeface="Arial"/>
            </a:endParaRPr>
          </a:p>
        </p:txBody>
      </p:sp>
      <p:sp>
        <p:nvSpPr>
          <p:cNvPr id="621" name="Google Shape;621;p30"/>
          <p:cNvSpPr txBox="1"/>
          <p:nvPr/>
        </p:nvSpPr>
        <p:spPr>
          <a:xfrm>
            <a:off x="914400" y="461772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MLFLOW</a:t>
            </a:r>
            <a:endParaRPr b="0" i="0" sz="1800" u="none" cap="none" strike="noStrike">
              <a:solidFill>
                <a:srgbClr val="000000"/>
              </a:solidFill>
              <a:latin typeface="Arial"/>
              <a:ea typeface="Arial"/>
              <a:cs typeface="Arial"/>
              <a:sym typeface="Arial"/>
            </a:endParaRPr>
          </a:p>
        </p:txBody>
      </p:sp>
      <p:sp>
        <p:nvSpPr>
          <p:cNvPr id="622" name="Google Shape;622;p30"/>
          <p:cNvSpPr txBox="1"/>
          <p:nvPr/>
        </p:nvSpPr>
        <p:spPr>
          <a:xfrm>
            <a:off x="4663440" y="459028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traçabilité et versioning</a:t>
            </a:r>
            <a:endParaRPr b="0" i="0" sz="1400" u="none" cap="none" strike="noStrike">
              <a:solidFill>
                <a:srgbClr val="000000"/>
              </a:solidFill>
              <a:latin typeface="Arial"/>
              <a:ea typeface="Arial"/>
              <a:cs typeface="Arial"/>
              <a:sym typeface="Arial"/>
            </a:endParaRPr>
          </a:p>
        </p:txBody>
      </p:sp>
      <p:sp>
        <p:nvSpPr>
          <p:cNvPr id="623" name="Google Shape;623;p30"/>
          <p:cNvSpPr txBox="1"/>
          <p:nvPr/>
        </p:nvSpPr>
        <p:spPr>
          <a:xfrm>
            <a:off x="914400" y="5623560"/>
            <a:ext cx="4114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PYTEST / GITHUB ACTIONS</a:t>
            </a:r>
            <a:endParaRPr b="0" i="0" sz="1800" u="none" cap="none" strike="noStrike">
              <a:solidFill>
                <a:srgbClr val="000000"/>
              </a:solidFill>
              <a:latin typeface="Arial"/>
              <a:ea typeface="Arial"/>
              <a:cs typeface="Arial"/>
              <a:sym typeface="Arial"/>
            </a:endParaRPr>
          </a:p>
        </p:txBody>
      </p:sp>
      <p:sp>
        <p:nvSpPr>
          <p:cNvPr id="624" name="Google Shape;624;p30"/>
          <p:cNvSpPr txBox="1"/>
          <p:nvPr/>
        </p:nvSpPr>
        <p:spPr>
          <a:xfrm>
            <a:off x="4663440" y="5596128"/>
            <a:ext cx="7498079" cy="4114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tests et intégration continue</a:t>
            </a:r>
            <a:endParaRPr b="0" i="0" sz="1400" u="none" cap="none" strike="noStrike">
              <a:solidFill>
                <a:srgbClr val="000000"/>
              </a:solidFill>
              <a:latin typeface="Arial"/>
              <a:ea typeface="Arial"/>
              <a:cs typeface="Arial"/>
              <a:sym typeface="Arial"/>
            </a:endParaRPr>
          </a:p>
        </p:txBody>
      </p:sp>
      <p:sp>
        <p:nvSpPr>
          <p:cNvPr id="625" name="Google Shape;625;p30"/>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6" name="Google Shape;626;p30"/>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0" name="Shape 630"/>
        <p:cNvGrpSpPr/>
        <p:nvPr/>
      </p:nvGrpSpPr>
      <p:grpSpPr>
        <a:xfrm>
          <a:off x="0" y="0"/>
          <a:ext cx="0" cy="0"/>
          <a:chOff x="0" y="0"/>
          <a:chExt cx="0" cy="0"/>
        </a:xfrm>
      </p:grpSpPr>
      <p:sp>
        <p:nvSpPr>
          <p:cNvPr id="631" name="Google Shape;631;p31"/>
          <p:cNvSpPr txBox="1"/>
          <p:nvPr/>
        </p:nvSpPr>
        <p:spPr>
          <a:xfrm>
            <a:off x="731520" y="502920"/>
            <a:ext cx="9875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2202F"/>
                </a:solidFill>
                <a:latin typeface="Arial"/>
                <a:ea typeface="Arial"/>
                <a:cs typeface="Arial"/>
                <a:sym typeface="Arial"/>
              </a:rPr>
              <a:t>Préparation — du brut au dataset supervisé</a:t>
            </a:r>
            <a:endParaRPr b="0" i="0" sz="1400" u="none" cap="none" strike="noStrike">
              <a:solidFill>
                <a:srgbClr val="000000"/>
              </a:solidFill>
              <a:latin typeface="Arial"/>
              <a:ea typeface="Arial"/>
              <a:cs typeface="Arial"/>
              <a:sym typeface="Arial"/>
            </a:endParaRPr>
          </a:p>
        </p:txBody>
      </p:sp>
      <p:sp>
        <p:nvSpPr>
          <p:cNvPr id="632" name="Google Shape;632;p31"/>
          <p:cNvSpPr txBox="1"/>
          <p:nvPr/>
        </p:nvSpPr>
        <p:spPr>
          <a:xfrm>
            <a:off x="777240" y="11704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Affinage du cadre</a:t>
            </a:r>
            <a:endParaRPr b="0" i="0" sz="1400" u="none" cap="none" strike="noStrike">
              <a:solidFill>
                <a:srgbClr val="000000"/>
              </a:solidFill>
              <a:latin typeface="Arial"/>
              <a:ea typeface="Arial"/>
              <a:cs typeface="Arial"/>
              <a:sym typeface="Arial"/>
            </a:endParaRPr>
          </a:p>
        </p:txBody>
      </p:sp>
      <p:sp>
        <p:nvSpPr>
          <p:cNvPr id="633" name="Google Shape;633;p31"/>
          <p:cNvSpPr/>
          <p:nvPr/>
        </p:nvSpPr>
        <p:spPr>
          <a:xfrm>
            <a:off x="502963" y="4904230"/>
            <a:ext cx="27432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2F61B8"/>
                </a:solidFill>
                <a:latin typeface="Arial"/>
                <a:ea typeface="Arial"/>
                <a:cs typeface="Arial"/>
                <a:sym typeface="Arial"/>
              </a:rPr>
              <a:t>34 088 lignes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5A6673"/>
                </a:solidFill>
                <a:latin typeface="Arial"/>
                <a:ea typeface="Arial"/>
                <a:cs typeface="Arial"/>
                <a:sym typeface="Arial"/>
              </a:rPr>
              <a:t>16 577 train + 17 511 test</a:t>
            </a:r>
            <a:endParaRPr b="0" i="0" sz="1400" u="none" cap="none" strike="noStrike">
              <a:solidFill>
                <a:srgbClr val="000000"/>
              </a:solidFill>
              <a:latin typeface="Arial"/>
              <a:ea typeface="Arial"/>
              <a:cs typeface="Arial"/>
              <a:sym typeface="Arial"/>
            </a:endParaRPr>
          </a:p>
        </p:txBody>
      </p:sp>
      <p:sp>
        <p:nvSpPr>
          <p:cNvPr id="634" name="Google Shape;634;p31"/>
          <p:cNvSpPr/>
          <p:nvPr/>
        </p:nvSpPr>
        <p:spPr>
          <a:xfrm>
            <a:off x="3520483" y="4904230"/>
            <a:ext cx="20118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2F61B8"/>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5A6673"/>
                </a:solidFill>
                <a:latin typeface="Arial"/>
                <a:ea typeface="Arial"/>
                <a:cs typeface="Arial"/>
                <a:sym typeface="Arial"/>
              </a:rPr>
              <a:t>13 variables + date + cible</a:t>
            </a:r>
            <a:endParaRPr b="0" i="0" sz="1400" u="none" cap="none" strike="noStrike">
              <a:solidFill>
                <a:srgbClr val="000000"/>
              </a:solidFill>
              <a:latin typeface="Arial"/>
              <a:ea typeface="Arial"/>
              <a:cs typeface="Arial"/>
              <a:sym typeface="Arial"/>
            </a:endParaRPr>
          </a:p>
        </p:txBody>
      </p:sp>
      <p:sp>
        <p:nvSpPr>
          <p:cNvPr id="635" name="Google Shape;635;p31"/>
          <p:cNvSpPr/>
          <p:nvPr/>
        </p:nvSpPr>
        <p:spPr>
          <a:xfrm>
            <a:off x="5897923" y="4904230"/>
            <a:ext cx="25602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2F61B8"/>
                </a:solidFill>
                <a:latin typeface="Arial"/>
                <a:ea typeface="Arial"/>
                <a:cs typeface="Arial"/>
                <a:sym typeface="Arial"/>
              </a:rPr>
              <a:t>2024-01-19</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5A6673"/>
                </a:solidFill>
                <a:latin typeface="Arial"/>
                <a:ea typeface="Arial"/>
                <a:cs typeface="Arial"/>
                <a:sym typeface="Arial"/>
              </a:rPr>
              <a:t>début features</a:t>
            </a:r>
            <a:endParaRPr b="0" i="0" sz="1400" u="none" cap="none" strike="noStrike">
              <a:solidFill>
                <a:srgbClr val="000000"/>
              </a:solidFill>
              <a:latin typeface="Arial"/>
              <a:ea typeface="Arial"/>
              <a:cs typeface="Arial"/>
              <a:sym typeface="Arial"/>
            </a:endParaRPr>
          </a:p>
        </p:txBody>
      </p:sp>
      <p:sp>
        <p:nvSpPr>
          <p:cNvPr id="636" name="Google Shape;636;p31"/>
          <p:cNvSpPr/>
          <p:nvPr/>
        </p:nvSpPr>
        <p:spPr>
          <a:xfrm>
            <a:off x="8732563" y="4904230"/>
            <a:ext cx="25602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2F61B8"/>
                </a:solidFill>
                <a:latin typeface="Arial"/>
                <a:ea typeface="Arial"/>
                <a:cs typeface="Arial"/>
                <a:sym typeface="Arial"/>
              </a:rPr>
              <a:t>2025-12-30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5A6673"/>
                </a:solidFill>
                <a:latin typeface="Arial"/>
                <a:ea typeface="Arial"/>
                <a:cs typeface="Arial"/>
                <a:sym typeface="Arial"/>
              </a:rPr>
              <a:t>dernier instant source</a:t>
            </a:r>
            <a:endParaRPr b="0" i="0" sz="1400" u="none" cap="none" strike="noStrike">
              <a:solidFill>
                <a:srgbClr val="000000"/>
              </a:solidFill>
              <a:latin typeface="Arial"/>
              <a:ea typeface="Arial"/>
              <a:cs typeface="Arial"/>
              <a:sym typeface="Arial"/>
            </a:endParaRPr>
          </a:p>
        </p:txBody>
      </p:sp>
      <p:sp>
        <p:nvSpPr>
          <p:cNvPr id="637" name="Google Shape;637;p31"/>
          <p:cNvSpPr txBox="1"/>
          <p:nvPr/>
        </p:nvSpPr>
        <p:spPr>
          <a:xfrm>
            <a:off x="777250" y="1668360"/>
            <a:ext cx="36576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2F61B8"/>
                </a:solidFill>
                <a:latin typeface="Arial"/>
                <a:ea typeface="Arial"/>
                <a:cs typeface="Arial"/>
                <a:sym typeface="Arial"/>
              </a:rPr>
              <a:t>DÉCISIONS DE PRÉPARATION</a:t>
            </a:r>
            <a:endParaRPr b="0" i="0" sz="1400" u="none" cap="none" strike="noStrike">
              <a:solidFill>
                <a:srgbClr val="000000"/>
              </a:solidFill>
              <a:latin typeface="Arial"/>
              <a:ea typeface="Arial"/>
              <a:cs typeface="Arial"/>
              <a:sym typeface="Arial"/>
            </a:endParaRPr>
          </a:p>
        </p:txBody>
      </p:sp>
      <p:sp>
        <p:nvSpPr>
          <p:cNvPr id="638" name="Google Shape;638;p31"/>
          <p:cNvSpPr txBox="1"/>
          <p:nvPr/>
        </p:nvSpPr>
        <p:spPr>
          <a:xfrm>
            <a:off x="777250" y="2034120"/>
            <a:ext cx="6217800" cy="1923900"/>
          </a:xfrm>
          <a:prstGeom prst="rect">
            <a:avLst/>
          </a:prstGeom>
          <a:noFill/>
          <a:ln>
            <a:noFill/>
          </a:ln>
        </p:spPr>
        <p:txBody>
          <a:bodyPr anchorCtr="0" anchor="t" bIns="45700" lIns="91425" spcFirstLastPara="1" rIns="91425" wrap="square" tIns="45700">
            <a:spAutoFit/>
          </a:bodyPr>
          <a:lstStyle/>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Filtrage sur la Nouvelle-Aquitaine et les années récentes.</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Déduplication des timestamps liés aux changements d’heure.</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Jointure sur l’heure UTC de la cible H+24.</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Cible construite sur la consommation observée 24 h plus tard.</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12202F"/>
              </a:buClr>
              <a:buSzPts val="1700"/>
              <a:buFont typeface="Arial"/>
              <a:buChar char="●"/>
            </a:pPr>
            <a:r>
              <a:rPr b="0" i="0" lang="en-US" sz="1700" u="none" cap="none" strike="noStrike">
                <a:solidFill>
                  <a:srgbClr val="12202F"/>
                </a:solidFill>
                <a:latin typeface="Arial"/>
                <a:ea typeface="Arial"/>
                <a:cs typeface="Arial"/>
                <a:sym typeface="Arial"/>
              </a:rPr>
              <a:t>Export d’un fichier parquet prêt pour la modélisation.</a:t>
            </a:r>
            <a:endParaRPr b="0" i="0" sz="1400" u="none" cap="none" strike="noStrike">
              <a:solidFill>
                <a:srgbClr val="000000"/>
              </a:solidFill>
              <a:latin typeface="Arial"/>
              <a:ea typeface="Arial"/>
              <a:cs typeface="Arial"/>
              <a:sym typeface="Arial"/>
            </a:endParaRPr>
          </a:p>
        </p:txBody>
      </p:sp>
      <p:sp>
        <p:nvSpPr>
          <p:cNvPr id="639" name="Google Shape;639;p31"/>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C5.2.1</a:t>
            </a:r>
            <a:endParaRPr b="1" i="0" sz="1200" u="none" cap="none" strike="noStrike">
              <a:solidFill>
                <a:srgbClr val="2F61B8"/>
              </a:solidFill>
              <a:latin typeface="Calibri"/>
              <a:ea typeface="Calibri"/>
              <a:cs typeface="Calibri"/>
              <a:sym typeface="Calibri"/>
            </a:endParaRPr>
          </a:p>
        </p:txBody>
      </p:sp>
      <p:sp>
        <p:nvSpPr>
          <p:cNvPr id="640" name="Google Shape;640;p31"/>
          <p:cNvSpPr/>
          <p:nvPr/>
        </p:nvSpPr>
        <p:spPr>
          <a:xfrm>
            <a:off x="11567225" y="4904225"/>
            <a:ext cx="2560200" cy="8229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lang="en-US" sz="2600">
                <a:solidFill>
                  <a:srgbClr val="2F61B8"/>
                </a:solidFill>
                <a:latin typeface="Calibri"/>
                <a:ea typeface="Calibri"/>
                <a:cs typeface="Calibri"/>
                <a:sym typeface="Calibri"/>
              </a:rPr>
              <a:t>4717</a:t>
            </a:r>
            <a:r>
              <a:rPr b="1" i="0" lang="en-US" sz="2600" u="none" cap="none" strike="noStrike">
                <a:solidFill>
                  <a:srgbClr val="2F61B8"/>
                </a:solidFill>
                <a:latin typeface="Calibri"/>
                <a:ea typeface="Calibri"/>
                <a:cs typeface="Calibri"/>
                <a:sym typeface="Calibri"/>
              </a:rPr>
              <a:t> MW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lang="en-US" sz="1100">
                <a:solidFill>
                  <a:srgbClr val="5A6673"/>
                </a:solidFill>
                <a:latin typeface="Calibri"/>
                <a:ea typeface="Calibri"/>
                <a:cs typeface="Calibri"/>
                <a:sym typeface="Calibri"/>
              </a:rPr>
              <a:t>Moyenne sur le test 2025</a:t>
            </a:r>
            <a:endParaRPr b="0" i="0" sz="1400" u="none" cap="none" strike="noStrike">
              <a:solidFill>
                <a:srgbClr val="000000"/>
              </a:solidFill>
              <a:latin typeface="Arial"/>
              <a:ea typeface="Arial"/>
              <a:cs typeface="Arial"/>
              <a:sym typeface="Arial"/>
            </a:endParaRPr>
          </a:p>
        </p:txBody>
      </p:sp>
      <p:sp>
        <p:nvSpPr>
          <p:cNvPr id="641" name="Google Shape;641;p31"/>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2" name="Google Shape;642;p31"/>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6" name="Shape 646"/>
        <p:cNvGrpSpPr/>
        <p:nvPr/>
      </p:nvGrpSpPr>
      <p:grpSpPr>
        <a:xfrm>
          <a:off x="0" y="0"/>
          <a:ext cx="0" cy="0"/>
          <a:chOff x="0" y="0"/>
          <a:chExt cx="0" cy="0"/>
        </a:xfrm>
      </p:grpSpPr>
      <p:sp>
        <p:nvSpPr>
          <p:cNvPr id="647" name="Google Shape;647;p32"/>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C5.2.1</a:t>
            </a:r>
            <a:endParaRPr b="1" i="0" sz="1200" u="none" cap="none" strike="noStrike">
              <a:solidFill>
                <a:srgbClr val="2F61B8"/>
              </a:solidFill>
              <a:latin typeface="Calibri"/>
              <a:ea typeface="Calibri"/>
              <a:cs typeface="Calibri"/>
              <a:sym typeface="Calibri"/>
            </a:endParaRPr>
          </a:p>
        </p:txBody>
      </p:sp>
      <p:sp>
        <p:nvSpPr>
          <p:cNvPr id="648" name="Google Shape;648;p32"/>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Construire le dataset et les variables</a:t>
            </a:r>
            <a:endParaRPr b="0" i="0" sz="1400" u="none" cap="none" strike="noStrike">
              <a:solidFill>
                <a:srgbClr val="000000"/>
              </a:solidFill>
              <a:latin typeface="Arial"/>
              <a:ea typeface="Arial"/>
              <a:cs typeface="Arial"/>
              <a:sym typeface="Arial"/>
            </a:endParaRPr>
          </a:p>
        </p:txBody>
      </p:sp>
      <p:sp>
        <p:nvSpPr>
          <p:cNvPr id="649" name="Google Shape;649;p32"/>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DATASET SUPERVISÉ</a:t>
            </a:r>
            <a:endParaRPr b="0" i="0" sz="1800" u="none" cap="none" strike="noStrike">
              <a:solidFill>
                <a:srgbClr val="000000"/>
              </a:solidFill>
              <a:latin typeface="Arial"/>
              <a:ea typeface="Arial"/>
              <a:cs typeface="Arial"/>
              <a:sym typeface="Arial"/>
            </a:endParaRPr>
          </a:p>
        </p:txBody>
      </p:sp>
      <p:sp>
        <p:nvSpPr>
          <p:cNvPr id="650" name="Google Shape;650;p32"/>
          <p:cNvSpPr txBox="1"/>
          <p:nvPr/>
        </p:nvSpPr>
        <p:spPr>
          <a:xfrm>
            <a:off x="822960" y="2011680"/>
            <a:ext cx="53034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Données régionales éCO2mix</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Nouvelle-Aquitaine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Observation : une demi-heure t</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Cible : consommation à t + 24 h</a:t>
            </a:r>
            <a:endParaRPr b="0" i="0" sz="1400" u="none" cap="none" strike="noStrike">
              <a:solidFill>
                <a:srgbClr val="000000"/>
              </a:solidFill>
              <a:latin typeface="Arial"/>
              <a:ea typeface="Arial"/>
              <a:cs typeface="Arial"/>
              <a:sym typeface="Arial"/>
            </a:endParaRPr>
          </a:p>
        </p:txBody>
      </p:sp>
      <p:sp>
        <p:nvSpPr>
          <p:cNvPr id="651" name="Google Shape;651;p32"/>
          <p:cNvSpPr txBox="1"/>
          <p:nvPr/>
        </p:nvSpPr>
        <p:spPr>
          <a:xfrm>
            <a:off x="685800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FEATURE ENGINEERING</a:t>
            </a:r>
            <a:endParaRPr b="0" i="0" sz="1800" u="none" cap="none" strike="noStrike">
              <a:solidFill>
                <a:srgbClr val="000000"/>
              </a:solidFill>
              <a:latin typeface="Arial"/>
              <a:ea typeface="Arial"/>
              <a:cs typeface="Arial"/>
              <a:sym typeface="Arial"/>
            </a:endParaRPr>
          </a:p>
        </p:txBody>
      </p:sp>
      <p:sp>
        <p:nvSpPr>
          <p:cNvPr id="652" name="Google Shape;652;p32"/>
          <p:cNvSpPr txBox="1"/>
          <p:nvPr/>
        </p:nvSpPr>
        <p:spPr>
          <a:xfrm>
            <a:off x="6858000" y="2011680"/>
            <a:ext cx="5852100" cy="17547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Lags : 30 min, 1 h, 24 h, 48 h, 7 j</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Moyennes et écarts-types glissants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Différences de consommation</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Calendrier + 3 prévisions météo horaires</a:t>
            </a:r>
            <a:endParaRPr b="0" i="0" sz="1800" u="none" cap="none" strike="noStrike">
              <a:solidFill>
                <a:srgbClr val="12202F"/>
              </a:solidFill>
              <a:latin typeface="Calibri"/>
              <a:ea typeface="Calibri"/>
              <a:cs typeface="Calibri"/>
              <a:sym typeface="Calibri"/>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Température prévue, ressentie prévue, code WMO</a:t>
            </a:r>
            <a:endParaRPr b="0" i="0" sz="1800" u="none" cap="none" strike="noStrike">
              <a:solidFill>
                <a:srgbClr val="12202F"/>
              </a:solidFill>
              <a:latin typeface="Calibri"/>
              <a:ea typeface="Calibri"/>
              <a:cs typeface="Calibri"/>
              <a:sym typeface="Calibri"/>
            </a:endParaRPr>
          </a:p>
        </p:txBody>
      </p:sp>
      <p:sp>
        <p:nvSpPr>
          <p:cNvPr id="653" name="Google Shape;653;p32"/>
          <p:cNvSpPr txBox="1"/>
          <p:nvPr/>
        </p:nvSpPr>
        <p:spPr>
          <a:xfrm>
            <a:off x="822960" y="457200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CONTRÔLES QUALITÉ</a:t>
            </a:r>
            <a:endParaRPr b="0" i="0" sz="1800" u="none" cap="none" strike="noStrike">
              <a:solidFill>
                <a:srgbClr val="000000"/>
              </a:solidFill>
              <a:latin typeface="Arial"/>
              <a:ea typeface="Arial"/>
              <a:cs typeface="Arial"/>
              <a:sym typeface="Arial"/>
            </a:endParaRPr>
          </a:p>
        </p:txBody>
      </p:sp>
      <p:sp>
        <p:nvSpPr>
          <p:cNvPr id="654" name="Google Shape;654;p32"/>
          <p:cNvSpPr txBox="1"/>
          <p:nvPr/>
        </p:nvSpPr>
        <p:spPr>
          <a:xfrm>
            <a:off x="822955" y="4937750"/>
            <a:ext cx="61488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Traitement des doublons de changement d’heure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Suppression des colonnes vides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Construction par timestamp pour éviter les décalages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Prévision à 48 h : marge nominale de 24 h</a:t>
            </a:r>
            <a:endParaRPr b="0" i="0" sz="1400" u="none" cap="none" strike="noStrike">
              <a:solidFill>
                <a:srgbClr val="000000"/>
              </a:solidFill>
              <a:latin typeface="Arial"/>
              <a:ea typeface="Arial"/>
              <a:cs typeface="Arial"/>
              <a:sym typeface="Arial"/>
            </a:endParaRPr>
          </a:p>
        </p:txBody>
      </p:sp>
      <p:sp>
        <p:nvSpPr>
          <p:cNvPr id="655" name="Google Shape;655;p32"/>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56" name="Google Shape;656;p32"/>
          <p:cNvPicPr preferRelativeResize="0"/>
          <p:nvPr/>
        </p:nvPicPr>
        <p:blipFill rotWithShape="1">
          <a:blip r:embed="rId3">
            <a:alphaModFix/>
          </a:blip>
          <a:srcRect b="0" l="0" r="0" t="0"/>
          <a:stretch/>
        </p:blipFill>
        <p:spPr>
          <a:xfrm>
            <a:off x="6858005" y="4024580"/>
            <a:ext cx="4438650" cy="3333750"/>
          </a:xfrm>
          <a:prstGeom prst="rect">
            <a:avLst/>
          </a:prstGeom>
          <a:noFill/>
          <a:ln>
            <a:noFill/>
          </a:ln>
        </p:spPr>
      </p:pic>
      <p:sp>
        <p:nvSpPr>
          <p:cNvPr id="657" name="Google Shape;657;p32"/>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1" name="Shape 661"/>
        <p:cNvGrpSpPr/>
        <p:nvPr/>
      </p:nvGrpSpPr>
      <p:grpSpPr>
        <a:xfrm>
          <a:off x="0" y="0"/>
          <a:ext cx="0" cy="0"/>
          <a:chOff x="0" y="0"/>
          <a:chExt cx="0" cy="0"/>
        </a:xfrm>
      </p:grpSpPr>
      <p:sp>
        <p:nvSpPr>
          <p:cNvPr id="662" name="Google Shape;662;p33"/>
          <p:cNvSpPr txBox="1"/>
          <p:nvPr/>
        </p:nvSpPr>
        <p:spPr>
          <a:xfrm>
            <a:off x="731520" y="502920"/>
            <a:ext cx="98754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2202F"/>
                </a:solidFill>
                <a:latin typeface="Arial"/>
                <a:ea typeface="Arial"/>
                <a:cs typeface="Arial"/>
                <a:sym typeface="Arial"/>
              </a:rPr>
              <a:t>Exploration — identifier les effets temporels</a:t>
            </a:r>
            <a:endParaRPr b="0" i="0" sz="1400" u="none" cap="none" strike="noStrike">
              <a:solidFill>
                <a:srgbClr val="000000"/>
              </a:solidFill>
              <a:latin typeface="Arial"/>
              <a:ea typeface="Arial"/>
              <a:cs typeface="Arial"/>
              <a:sym typeface="Arial"/>
            </a:endParaRPr>
          </a:p>
        </p:txBody>
      </p:sp>
      <p:sp>
        <p:nvSpPr>
          <p:cNvPr id="663" name="Google Shape;663;p33"/>
          <p:cNvSpPr txBox="1"/>
          <p:nvPr/>
        </p:nvSpPr>
        <p:spPr>
          <a:xfrm>
            <a:off x="777240" y="11083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Les graphiques motivent les variables calendaires et les lags</a:t>
            </a:r>
            <a:endParaRPr b="0" i="0" sz="1400" u="none" cap="none" strike="noStrike">
              <a:solidFill>
                <a:srgbClr val="000000"/>
              </a:solidFill>
              <a:latin typeface="Arial"/>
              <a:ea typeface="Arial"/>
              <a:cs typeface="Arial"/>
              <a:sym typeface="Arial"/>
            </a:endParaRPr>
          </a:p>
        </p:txBody>
      </p:sp>
      <p:pic>
        <p:nvPicPr>
          <p:cNvPr descr="exploration_cell37_out0.png" id="664" name="Google Shape;664;p33"/>
          <p:cNvPicPr preferRelativeResize="0"/>
          <p:nvPr/>
        </p:nvPicPr>
        <p:blipFill rotWithShape="1">
          <a:blip r:embed="rId3">
            <a:alphaModFix/>
          </a:blip>
          <a:srcRect b="0" l="0" r="0" t="0"/>
          <a:stretch/>
        </p:blipFill>
        <p:spPr>
          <a:xfrm>
            <a:off x="594360" y="1417320"/>
            <a:ext cx="6400799" cy="2635624"/>
          </a:xfrm>
          <a:prstGeom prst="rect">
            <a:avLst/>
          </a:prstGeom>
          <a:noFill/>
          <a:ln>
            <a:noFill/>
          </a:ln>
        </p:spPr>
      </p:pic>
      <p:pic>
        <p:nvPicPr>
          <p:cNvPr descr="exploration_cell39_out0.png" id="665" name="Google Shape;665;p33"/>
          <p:cNvPicPr preferRelativeResize="0"/>
          <p:nvPr/>
        </p:nvPicPr>
        <p:blipFill rotWithShape="1">
          <a:blip r:embed="rId4">
            <a:alphaModFix/>
          </a:blip>
          <a:srcRect b="0" l="0" r="0" t="0"/>
          <a:stretch/>
        </p:blipFill>
        <p:spPr>
          <a:xfrm>
            <a:off x="7406640" y="1417320"/>
            <a:ext cx="6126479" cy="3032298"/>
          </a:xfrm>
          <a:prstGeom prst="rect">
            <a:avLst/>
          </a:prstGeom>
          <a:noFill/>
          <a:ln>
            <a:noFill/>
          </a:ln>
        </p:spPr>
      </p:pic>
      <p:pic>
        <p:nvPicPr>
          <p:cNvPr descr="exploration_cell40_out0.png" id="666" name="Google Shape;666;p33"/>
          <p:cNvPicPr preferRelativeResize="0"/>
          <p:nvPr/>
        </p:nvPicPr>
        <p:blipFill rotWithShape="1">
          <a:blip r:embed="rId5">
            <a:alphaModFix/>
          </a:blip>
          <a:srcRect b="0" l="0" r="0" t="0"/>
          <a:stretch/>
        </p:blipFill>
        <p:spPr>
          <a:xfrm>
            <a:off x="594360" y="4663440"/>
            <a:ext cx="6126479" cy="3032298"/>
          </a:xfrm>
          <a:prstGeom prst="rect">
            <a:avLst/>
          </a:prstGeom>
          <a:noFill/>
          <a:ln>
            <a:noFill/>
          </a:ln>
        </p:spPr>
      </p:pic>
      <p:pic>
        <p:nvPicPr>
          <p:cNvPr descr="exploration_cell42_out0.png" id="667" name="Google Shape;667;p33"/>
          <p:cNvPicPr preferRelativeResize="0"/>
          <p:nvPr/>
        </p:nvPicPr>
        <p:blipFill rotWithShape="1">
          <a:blip r:embed="rId6">
            <a:alphaModFix/>
          </a:blip>
          <a:srcRect b="0" l="0" r="0" t="0"/>
          <a:stretch/>
        </p:blipFill>
        <p:spPr>
          <a:xfrm>
            <a:off x="7406640" y="4663440"/>
            <a:ext cx="6126481" cy="2802032"/>
          </a:xfrm>
          <a:prstGeom prst="rect">
            <a:avLst/>
          </a:prstGeom>
          <a:noFill/>
          <a:ln>
            <a:noFill/>
          </a:ln>
        </p:spPr>
      </p:pic>
      <p:sp>
        <p:nvSpPr>
          <p:cNvPr id="668" name="Google Shape;668;p33"/>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C5.2.2</a:t>
            </a:r>
            <a:endParaRPr b="0" i="0" sz="1400" u="none" cap="none" strike="noStrike">
              <a:solidFill>
                <a:srgbClr val="000000"/>
              </a:solidFill>
              <a:latin typeface="Arial"/>
              <a:ea typeface="Arial"/>
              <a:cs typeface="Arial"/>
              <a:sym typeface="Arial"/>
            </a:endParaRPr>
          </a:p>
        </p:txBody>
      </p:sp>
      <p:sp>
        <p:nvSpPr>
          <p:cNvPr id="669" name="Google Shape;669;p33"/>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0" name="Google Shape;670;p33"/>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4" name="Shape 674"/>
        <p:cNvGrpSpPr/>
        <p:nvPr/>
      </p:nvGrpSpPr>
      <p:grpSpPr>
        <a:xfrm>
          <a:off x="0" y="0"/>
          <a:ext cx="0" cy="0"/>
          <a:chOff x="0" y="0"/>
          <a:chExt cx="0" cy="0"/>
        </a:xfrm>
      </p:grpSpPr>
      <p:sp>
        <p:nvSpPr>
          <p:cNvPr id="675" name="Google Shape;675;p34"/>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C5.2.2</a:t>
            </a:r>
            <a:endParaRPr b="0" i="0" sz="1400" u="none" cap="none" strike="noStrike">
              <a:solidFill>
                <a:srgbClr val="000000"/>
              </a:solidFill>
              <a:latin typeface="Arial"/>
              <a:ea typeface="Arial"/>
              <a:cs typeface="Arial"/>
              <a:sym typeface="Arial"/>
            </a:endParaRPr>
          </a:p>
        </p:txBody>
      </p:sp>
      <p:sp>
        <p:nvSpPr>
          <p:cNvPr id="676" name="Google Shape;676;p34"/>
          <p:cNvSpPr txBox="1"/>
          <p:nvPr/>
        </p:nvSpPr>
        <p:spPr>
          <a:xfrm>
            <a:off x="731520" y="502920"/>
            <a:ext cx="9875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Sélection initiale — avant météo</a:t>
            </a:r>
            <a:endParaRPr b="0" i="0" sz="1400" u="none" cap="none" strike="noStrike">
              <a:solidFill>
                <a:srgbClr val="000000"/>
              </a:solidFill>
              <a:latin typeface="Arial"/>
              <a:ea typeface="Arial"/>
              <a:cs typeface="Arial"/>
              <a:sym typeface="Arial"/>
            </a:endParaRPr>
          </a:p>
        </p:txBody>
      </p:sp>
      <p:sp>
        <p:nvSpPr>
          <p:cNvPr id="677" name="Google Shape;677;p34"/>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MÉTHODES UTILISÉES</a:t>
            </a:r>
            <a:endParaRPr b="0" i="0" sz="1800" u="none" cap="none" strike="noStrike">
              <a:solidFill>
                <a:srgbClr val="000000"/>
              </a:solidFill>
              <a:latin typeface="Arial"/>
              <a:ea typeface="Arial"/>
              <a:cs typeface="Arial"/>
              <a:sym typeface="Arial"/>
            </a:endParaRPr>
          </a:p>
        </p:txBody>
      </p:sp>
      <p:sp>
        <p:nvSpPr>
          <p:cNvPr id="678" name="Google Shape;678;p34"/>
          <p:cNvSpPr txBox="1"/>
          <p:nvPr/>
        </p:nvSpPr>
        <p:spPr>
          <a:xfrm>
            <a:off x="822960" y="2011680"/>
            <a:ext cx="64008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Étude initiale sans météo : variables disponibles à t</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Corrélations avec la cible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Permutation importance sur le modèle HGB</a:t>
            </a:r>
            <a:endParaRPr b="0" i="0" sz="1400" u="none" cap="none" strike="noStrike">
              <a:solidFill>
                <a:srgbClr val="000000"/>
              </a:solidFill>
              <a:latin typeface="Arial"/>
              <a:ea typeface="Arial"/>
              <a:cs typeface="Arial"/>
              <a:sym typeface="Arial"/>
            </a:endParaRPr>
          </a:p>
        </p:txBody>
      </p:sp>
      <p:sp>
        <p:nvSpPr>
          <p:cNvPr id="679" name="Google Shape;679;p34"/>
          <p:cNvSpPr txBox="1"/>
          <p:nvPr/>
        </p:nvSpPr>
        <p:spPr>
          <a:xfrm>
            <a:off x="786384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ÉTUDE INITIALE</a:t>
            </a:r>
            <a:endParaRPr b="0" i="0" sz="1800" u="none" cap="none" strike="noStrike">
              <a:solidFill>
                <a:srgbClr val="000000"/>
              </a:solidFill>
              <a:latin typeface="Arial"/>
              <a:ea typeface="Arial"/>
              <a:cs typeface="Arial"/>
              <a:sym typeface="Arial"/>
            </a:endParaRPr>
          </a:p>
        </p:txBody>
      </p:sp>
      <p:sp>
        <p:nvSpPr>
          <p:cNvPr id="680" name="Google Shape;680;p34"/>
          <p:cNvSpPr/>
          <p:nvPr/>
        </p:nvSpPr>
        <p:spPr>
          <a:xfrm>
            <a:off x="8046720" y="2103120"/>
            <a:ext cx="2103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15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variables candidates</a:t>
            </a:r>
            <a:endParaRPr b="0" i="0" sz="1400" u="none" cap="none" strike="noStrike">
              <a:solidFill>
                <a:srgbClr val="000000"/>
              </a:solidFill>
              <a:latin typeface="Arial"/>
              <a:ea typeface="Arial"/>
              <a:cs typeface="Arial"/>
              <a:sym typeface="Arial"/>
            </a:endParaRPr>
          </a:p>
        </p:txBody>
      </p:sp>
      <p:sp>
        <p:nvSpPr>
          <p:cNvPr id="681" name="Google Shape;681;p34"/>
          <p:cNvSpPr/>
          <p:nvPr/>
        </p:nvSpPr>
        <p:spPr>
          <a:xfrm>
            <a:off x="10515600" y="2103120"/>
            <a:ext cx="2103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7</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variables étudiées (historique)</a:t>
            </a:r>
            <a:endParaRPr b="0" i="0" sz="1400" u="none" cap="none" strike="noStrike">
              <a:solidFill>
                <a:srgbClr val="000000"/>
              </a:solidFill>
              <a:latin typeface="Arial"/>
              <a:ea typeface="Arial"/>
              <a:cs typeface="Arial"/>
              <a:sym typeface="Arial"/>
            </a:endParaRPr>
          </a:p>
        </p:txBody>
      </p:sp>
      <p:sp>
        <p:nvSpPr>
          <p:cNvPr id="682" name="Google Shape;682;p34"/>
          <p:cNvSpPr txBox="1"/>
          <p:nvPr/>
        </p:nvSpPr>
        <p:spPr>
          <a:xfrm>
            <a:off x="822960" y="433271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REPÈRES HISTORIQUES — PÉRIODES DISTINCTES</a:t>
            </a:r>
            <a:endParaRPr b="0" i="0" sz="1800" u="none" cap="none" strike="noStrike">
              <a:solidFill>
                <a:srgbClr val="000000"/>
              </a:solidFill>
              <a:latin typeface="Arial"/>
              <a:ea typeface="Arial"/>
              <a:cs typeface="Arial"/>
              <a:sym typeface="Arial"/>
            </a:endParaRPr>
          </a:p>
        </p:txBody>
      </p:sp>
      <p:sp>
        <p:nvSpPr>
          <p:cNvPr id="683" name="Google Shape;683;p34"/>
          <p:cNvSpPr/>
          <p:nvPr/>
        </p:nvSpPr>
        <p:spPr>
          <a:xfrm>
            <a:off x="548688" y="5296548"/>
            <a:ext cx="23775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206,3 MW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HGB toutes variables</a:t>
            </a:r>
            <a:br>
              <a:rPr b="0" i="0" lang="en-US" sz="1100" u="none" cap="none" strike="noStrike">
                <a:solidFill>
                  <a:srgbClr val="5A6673"/>
                </a:solidFill>
                <a:latin typeface="Calibri"/>
                <a:ea typeface="Calibri"/>
                <a:cs typeface="Calibri"/>
                <a:sym typeface="Calibri"/>
              </a:rPr>
            </a:br>
            <a:r>
              <a:rPr b="0" i="0" lang="en-US" sz="1100" u="none" cap="none" strike="noStrike">
                <a:solidFill>
                  <a:srgbClr val="5A6673"/>
                </a:solidFill>
                <a:latin typeface="Calibri"/>
                <a:ea typeface="Calibri"/>
                <a:cs typeface="Calibri"/>
                <a:sym typeface="Calibri"/>
              </a:rPr>
              <a:t>MAE</a:t>
            </a:r>
            <a:endParaRPr b="0" i="0" sz="1400" u="none" cap="none" strike="noStrike">
              <a:solidFill>
                <a:srgbClr val="000000"/>
              </a:solidFill>
              <a:latin typeface="Arial"/>
              <a:ea typeface="Arial"/>
              <a:cs typeface="Arial"/>
              <a:sym typeface="Arial"/>
            </a:endParaRPr>
          </a:p>
        </p:txBody>
      </p:sp>
      <p:sp>
        <p:nvSpPr>
          <p:cNvPr id="684" name="Google Shape;684;p34"/>
          <p:cNvSpPr/>
          <p:nvPr/>
        </p:nvSpPr>
        <p:spPr>
          <a:xfrm>
            <a:off x="3291888" y="5296548"/>
            <a:ext cx="23775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226,7 MW</a:t>
            </a:r>
            <a:r>
              <a:rPr b="1" lang="en-US" sz="2600">
                <a:solidFill>
                  <a:srgbClr val="2F61B8"/>
                </a:solidFill>
                <a:latin typeface="Calibri"/>
                <a:ea typeface="Calibri"/>
                <a:cs typeface="Calibri"/>
                <a:sym typeface="Calibri"/>
              </a:rPr>
              <a:t/>
            </a:r>
            <a:r>
              <a:rPr b="1" i="0" lang="en-US" sz="2600" u="none" cap="none" strike="noStrike">
                <a:solidFill>
                  <a:srgbClr val="2F61B8"/>
                </a:solidFill>
                <a:latin typeface="Calibri"/>
                <a:ea typeface="Calibri"/>
                <a:cs typeface="Calibri"/>
                <a:sym typeface="Calibri"/>
              </a:rP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HGB top 7</a:t>
            </a:r>
            <a:br>
              <a:rPr b="0" i="0" lang="en-US" sz="1100" u="none" cap="none" strike="noStrike">
                <a:solidFill>
                  <a:srgbClr val="5A6673"/>
                </a:solidFill>
                <a:latin typeface="Calibri"/>
                <a:ea typeface="Calibri"/>
                <a:cs typeface="Calibri"/>
                <a:sym typeface="Calibri"/>
              </a:rPr>
            </a:br>
            <a:r>
              <a:rPr b="0" i="0" lang="en-US" sz="1100" u="none" cap="none" strike="noStrike">
                <a:solidFill>
                  <a:srgbClr val="5A6673"/>
                </a:solidFill>
                <a:latin typeface="Calibri"/>
                <a:ea typeface="Calibri"/>
                <a:cs typeface="Calibri"/>
                <a:sym typeface="Calibri"/>
              </a:rPr>
              <a:t>MAE</a:t>
            </a:r>
            <a:endParaRPr b="0" i="0" sz="1400" u="none" cap="none" strike="noStrike">
              <a:solidFill>
                <a:srgbClr val="000000"/>
              </a:solidFill>
              <a:latin typeface="Arial"/>
              <a:ea typeface="Arial"/>
              <a:cs typeface="Arial"/>
              <a:sym typeface="Arial"/>
            </a:endParaRPr>
          </a:p>
        </p:txBody>
      </p:sp>
      <p:sp>
        <p:nvSpPr>
          <p:cNvPr id="685" name="Google Shape;685;p34"/>
          <p:cNvSpPr/>
          <p:nvPr/>
        </p:nvSpPr>
        <p:spPr>
          <a:xfrm>
            <a:off x="6035088" y="5296548"/>
            <a:ext cx="23775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≈0,9</a:t>
            </a:r>
            <a:r>
              <a:rPr b="1" lang="en-US" sz="2600">
                <a:solidFill>
                  <a:srgbClr val="2F61B8"/>
                </a:solidFill>
                <a:latin typeface="Calibri"/>
                <a:ea typeface="Calibri"/>
                <a:cs typeface="Calibri"/>
                <a:sym typeface="Calibri"/>
              </a:rPr>
              <a:t>25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R² conservé</a:t>
            </a:r>
            <a:endParaRPr b="0" i="0" sz="1400" u="none" cap="none" strike="noStrike">
              <a:solidFill>
                <a:srgbClr val="000000"/>
              </a:solidFill>
              <a:latin typeface="Arial"/>
              <a:ea typeface="Arial"/>
              <a:cs typeface="Arial"/>
              <a:sym typeface="Arial"/>
            </a:endParaRPr>
          </a:p>
        </p:txBody>
      </p:sp>
      <p:sp>
        <p:nvSpPr>
          <p:cNvPr id="686" name="Google Shape;686;p34"/>
          <p:cNvSpPr/>
          <p:nvPr/>
        </p:nvSpPr>
        <p:spPr>
          <a:xfrm>
            <a:off x="8778288" y="5296548"/>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&gt;70%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variables supprimées</a:t>
            </a:r>
            <a:endParaRPr b="0" i="0" sz="1400" u="none" cap="none" strike="noStrike">
              <a:solidFill>
                <a:srgbClr val="000000"/>
              </a:solidFill>
              <a:latin typeface="Arial"/>
              <a:ea typeface="Arial"/>
              <a:cs typeface="Arial"/>
              <a:sym typeface="Arial"/>
            </a:endParaRPr>
          </a:p>
        </p:txBody>
      </p:sp>
      <p:sp>
        <p:nvSpPr>
          <p:cNvPr id="687" name="Google Shape;687;p34"/>
          <p:cNvSpPr/>
          <p:nvPr/>
        </p:nvSpPr>
        <p:spPr>
          <a:xfrm>
            <a:off x="0" y="8001000"/>
            <a:ext cx="14630400" cy="4560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8" name="Google Shape;688;p34"/>
          <p:cNvSpPr/>
          <p:nvPr/>
        </p:nvSpPr>
        <p:spPr>
          <a:xfrm>
            <a:off x="11704188" y="5296548"/>
            <a:ext cx="23775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lang="en-US" sz="2600">
                <a:solidFill>
                  <a:srgbClr val="2F61B8"/>
                </a:solidFill>
                <a:latin typeface="Calibri"/>
                <a:ea typeface="Calibri"/>
                <a:cs typeface="Calibri"/>
                <a:sym typeface="Calibri"/>
              </a:rPr>
              <a:t>4,4 %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lang="en-US" sz="1100">
                <a:solidFill>
                  <a:srgbClr val="5A6673"/>
                </a:solidFill>
                <a:latin typeface="Calibri"/>
                <a:ea typeface="Calibri"/>
                <a:cs typeface="Calibri"/>
                <a:sym typeface="Calibri"/>
              </a:rPr>
              <a:t>MAE / moyenne (pas MAPE)</a:t>
            </a:r>
            <a:endParaRPr b="0" i="0" sz="1400" u="none" cap="none" strike="noStrike">
              <a:solidFill>
                <a:srgbClr val="000000"/>
              </a:solidFill>
              <a:latin typeface="Arial"/>
              <a:ea typeface="Arial"/>
              <a:cs typeface="Arial"/>
              <a:sym typeface="Arial"/>
            </a:endParaRPr>
          </a:p>
        </p:txBody>
      </p:sp>
      <p:sp>
        <p:nvSpPr>
          <p:cNvPr id="689" name="Google Shape;689;p34"/>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3" name="Shape 693"/>
        <p:cNvGrpSpPr/>
        <p:nvPr/>
      </p:nvGrpSpPr>
      <p:grpSpPr>
        <a:xfrm>
          <a:off x="0" y="0"/>
          <a:ext cx="0" cy="0"/>
          <a:chOff x="0" y="0"/>
          <a:chExt cx="0" cy="0"/>
        </a:xfrm>
      </p:grpSpPr>
      <p:sp>
        <p:nvSpPr>
          <p:cNvPr id="694" name="Google Shape;694;p35"/>
          <p:cNvSpPr txBox="1"/>
          <p:nvPr/>
        </p:nvSpPr>
        <p:spPr>
          <a:xfrm>
            <a:off x="731520" y="502920"/>
            <a:ext cx="98754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Sélection initiale — avant météo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12202F"/>
              </a:solidFill>
              <a:latin typeface="Arial"/>
              <a:ea typeface="Arial"/>
              <a:cs typeface="Arial"/>
              <a:sym typeface="Arial"/>
            </a:endParaRPr>
          </a:p>
        </p:txBody>
      </p:sp>
      <p:sp>
        <p:nvSpPr>
          <p:cNvPr id="695" name="Google Shape;695;p35"/>
          <p:cNvSpPr txBox="1"/>
          <p:nvPr/>
        </p:nvSpPr>
        <p:spPr>
          <a:xfrm>
            <a:off x="777240" y="11704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Corrélation puis permutation importance pour réduire le nombre de variables</a:t>
            </a:r>
            <a:endParaRPr b="0" i="0" sz="1400" u="none" cap="none" strike="noStrike">
              <a:solidFill>
                <a:srgbClr val="000000"/>
              </a:solidFill>
              <a:latin typeface="Arial"/>
              <a:ea typeface="Arial"/>
              <a:cs typeface="Arial"/>
              <a:sym typeface="Arial"/>
            </a:endParaRPr>
          </a:p>
        </p:txBody>
      </p:sp>
      <p:pic>
        <p:nvPicPr>
          <p:cNvPr descr="modeling_evaluation_cell13_out0.png" id="696" name="Google Shape;696;p35"/>
          <p:cNvPicPr preferRelativeResize="0"/>
          <p:nvPr/>
        </p:nvPicPr>
        <p:blipFill rotWithShape="1">
          <a:blip r:embed="rId3">
            <a:alphaModFix/>
          </a:blip>
          <a:srcRect b="0" l="0" r="0" t="0"/>
          <a:stretch/>
        </p:blipFill>
        <p:spPr>
          <a:xfrm>
            <a:off x="640080" y="1508760"/>
            <a:ext cx="6035040" cy="4206240"/>
          </a:xfrm>
          <a:prstGeom prst="rect">
            <a:avLst/>
          </a:prstGeom>
          <a:noFill/>
          <a:ln>
            <a:noFill/>
          </a:ln>
        </p:spPr>
      </p:pic>
      <p:pic>
        <p:nvPicPr>
          <p:cNvPr descr="modeling_evaluation_cell23_out0.png" id="697" name="Google Shape;697;p35"/>
          <p:cNvPicPr preferRelativeResize="0"/>
          <p:nvPr/>
        </p:nvPicPr>
        <p:blipFill rotWithShape="1">
          <a:blip r:embed="rId4">
            <a:alphaModFix/>
          </a:blip>
          <a:srcRect b="0" l="0" r="0" t="0"/>
          <a:stretch/>
        </p:blipFill>
        <p:spPr>
          <a:xfrm>
            <a:off x="7498079" y="1508760"/>
            <a:ext cx="6035040" cy="4206240"/>
          </a:xfrm>
          <a:prstGeom prst="rect">
            <a:avLst/>
          </a:prstGeom>
          <a:noFill/>
          <a:ln>
            <a:noFill/>
          </a:ln>
        </p:spPr>
      </p:pic>
      <p:sp>
        <p:nvSpPr>
          <p:cNvPr id="698" name="Google Shape;698;p35"/>
          <p:cNvSpPr txBox="1"/>
          <p:nvPr/>
        </p:nvSpPr>
        <p:spPr>
          <a:xfrm>
            <a:off x="822950" y="6446525"/>
            <a:ext cx="6273300" cy="554100"/>
          </a:xfrm>
          <a:prstGeom prst="rect">
            <a:avLst/>
          </a:prstGeom>
          <a:noFill/>
          <a:ln>
            <a:noFill/>
          </a:ln>
        </p:spPr>
        <p:txBody>
          <a:bodyPr anchorCtr="0" anchor="t" bIns="45700" lIns="91425" spcFirstLastPara="1" rIns="91425" wrap="square" tIns="45700">
            <a:spAutoFit/>
          </a:bodyPr>
          <a:lstStyle/>
          <a:p>
            <a:pPr indent="-323850" lvl="0" marL="457200" marR="0" rtl="0" algn="l">
              <a:lnSpc>
                <a:spcPct val="100000"/>
              </a:lnSpc>
              <a:spcBef>
                <a:spcPts val="700"/>
              </a:spcBef>
              <a:spcAft>
                <a:spcPts val="0"/>
              </a:spcAft>
              <a:buClr>
                <a:srgbClr val="12202F"/>
              </a:buClr>
              <a:buSzPts val="1500"/>
              <a:buFont typeface="Arial"/>
              <a:buChar char="●"/>
            </a:pPr>
            <a:r>
              <a:rPr b="0" i="0" lang="en-US" sz="1500" u="none" cap="none" strike="noStrike">
                <a:solidFill>
                  <a:srgbClr val="12202F"/>
                </a:solidFill>
                <a:latin typeface="Arial"/>
                <a:ea typeface="Arial"/>
                <a:cs typeface="Arial"/>
                <a:sym typeface="Arial"/>
              </a:rPr>
              <a:t>10 variables historiques conservées dans la chaîne météo</a:t>
            </a:r>
            <a:endParaRPr b="0" i="0" sz="1500" u="none" cap="none" strike="noStrike">
              <a:solidFill>
                <a:srgbClr val="12202F"/>
              </a:solidFill>
              <a:latin typeface="Arial"/>
              <a:ea typeface="Arial"/>
              <a:cs typeface="Arial"/>
              <a:sym typeface="Arial"/>
            </a:endParaRPr>
          </a:p>
          <a:p>
            <a:pPr indent="-323850" lvl="0" marL="457200" marR="0" rtl="0" algn="l">
              <a:lnSpc>
                <a:spcPct val="100000"/>
              </a:lnSpc>
              <a:spcBef>
                <a:spcPts val="0"/>
              </a:spcBef>
              <a:spcAft>
                <a:spcPts val="0"/>
              </a:spcAft>
              <a:buClr>
                <a:srgbClr val="12202F"/>
              </a:buClr>
              <a:buSzPts val="1500"/>
              <a:buFont typeface="Arial"/>
              <a:buChar char="●"/>
            </a:pPr>
            <a:r>
              <a:rPr b="0" i="0" lang="en-US" sz="1500" u="none" cap="none" strike="noStrike">
                <a:solidFill>
                  <a:srgbClr val="12202F"/>
                </a:solidFill>
                <a:latin typeface="Arial"/>
                <a:ea typeface="Arial"/>
                <a:cs typeface="Arial"/>
                <a:sym typeface="Arial"/>
              </a:rPr>
              <a:t>Validation initiale sans météo (avant enrichissement) :</a:t>
            </a:r>
            <a:endParaRPr b="0" i="0" sz="1500" u="none" cap="none" strike="noStrike">
              <a:solidFill>
                <a:srgbClr val="12202F"/>
              </a:solidFill>
              <a:latin typeface="Arial"/>
              <a:ea typeface="Arial"/>
              <a:cs typeface="Arial"/>
              <a:sym typeface="Arial"/>
            </a:endParaRPr>
          </a:p>
        </p:txBody>
      </p:sp>
      <p:sp>
        <p:nvSpPr>
          <p:cNvPr id="699" name="Google Shape;699;p35"/>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C5.2.2</a:t>
            </a:r>
            <a:endParaRPr b="0" i="0" sz="1400" u="none" cap="none" strike="noStrike">
              <a:solidFill>
                <a:srgbClr val="000000"/>
              </a:solidFill>
              <a:latin typeface="Arial"/>
              <a:ea typeface="Arial"/>
              <a:cs typeface="Arial"/>
              <a:sym typeface="Arial"/>
            </a:endParaRPr>
          </a:p>
        </p:txBody>
      </p:sp>
      <p:pic>
        <p:nvPicPr>
          <p:cNvPr id="700" name="Google Shape;700;p35"/>
          <p:cNvPicPr preferRelativeResize="0"/>
          <p:nvPr/>
        </p:nvPicPr>
        <p:blipFill rotWithShape="1">
          <a:blip r:embed="rId5">
            <a:alphaModFix/>
          </a:blip>
          <a:srcRect b="0" l="0" r="0" t="0"/>
          <a:stretch/>
        </p:blipFill>
        <p:spPr>
          <a:xfrm>
            <a:off x="4930595" y="6724400"/>
            <a:ext cx="6124575" cy="276225"/>
          </a:xfrm>
          <a:prstGeom prst="rect">
            <a:avLst/>
          </a:prstGeom>
          <a:noFill/>
          <a:ln>
            <a:noFill/>
          </a:ln>
        </p:spPr>
      </p:pic>
      <p:sp>
        <p:nvSpPr>
          <p:cNvPr id="701" name="Google Shape;701;p35"/>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2" name="Google Shape;702;p35"/>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6" name="Shape 706"/>
        <p:cNvGrpSpPr/>
        <p:nvPr/>
      </p:nvGrpSpPr>
      <p:grpSpPr>
        <a:xfrm>
          <a:off x="0" y="0"/>
          <a:ext cx="0" cy="0"/>
          <a:chOff x="0" y="0"/>
          <a:chExt cx="0" cy="0"/>
        </a:xfrm>
      </p:grpSpPr>
      <p:sp>
        <p:nvSpPr>
          <p:cNvPr id="707" name="Google Shape;707;p36"/>
          <p:cNvSpPr txBox="1"/>
          <p:nvPr/>
        </p:nvSpPr>
        <p:spPr>
          <a:xfrm>
            <a:off x="731520" y="502920"/>
            <a:ext cx="98754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Redondance — étude initiale et choix final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12202F"/>
              </a:solidFill>
              <a:latin typeface="Arial"/>
              <a:ea typeface="Arial"/>
              <a:cs typeface="Arial"/>
              <a:sym typeface="Arial"/>
            </a:endParaRPr>
          </a:p>
        </p:txBody>
      </p:sp>
      <p:sp>
        <p:nvSpPr>
          <p:cNvPr id="708" name="Google Shape;708;p36"/>
          <p:cNvSpPr txBox="1"/>
          <p:nvPr/>
        </p:nvSpPr>
        <p:spPr>
          <a:xfrm>
            <a:off x="777240" y="1170432"/>
            <a:ext cx="10972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5A6673"/>
                </a:solidFill>
                <a:latin typeface="Arial"/>
                <a:ea typeface="Arial"/>
                <a:cs typeface="Arial"/>
                <a:sym typeface="Arial"/>
              </a:rPr>
              <a:t>Vérifier les variables trop redondantes et ne garder que les plus pertinentes</a:t>
            </a:r>
            <a:endParaRPr b="0" i="0" sz="1400" u="none" cap="none" strike="noStrike">
              <a:solidFill>
                <a:srgbClr val="000000"/>
              </a:solidFill>
              <a:latin typeface="Arial"/>
              <a:ea typeface="Arial"/>
              <a:cs typeface="Arial"/>
              <a:sym typeface="Arial"/>
            </a:endParaRPr>
          </a:p>
        </p:txBody>
      </p:sp>
      <p:sp>
        <p:nvSpPr>
          <p:cNvPr id="709" name="Google Shape;709;p36"/>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C5.2.2</a:t>
            </a:r>
            <a:endParaRPr b="0" i="0" sz="1400" u="none" cap="none" strike="noStrike">
              <a:solidFill>
                <a:srgbClr val="000000"/>
              </a:solidFill>
              <a:latin typeface="Arial"/>
              <a:ea typeface="Arial"/>
              <a:cs typeface="Arial"/>
              <a:sym typeface="Arial"/>
            </a:endParaRPr>
          </a:p>
        </p:txBody>
      </p:sp>
      <p:pic>
        <p:nvPicPr>
          <p:cNvPr id="710" name="Google Shape;710;p36"/>
          <p:cNvPicPr preferRelativeResize="0"/>
          <p:nvPr/>
        </p:nvPicPr>
        <p:blipFill rotWithShape="1">
          <a:blip r:embed="rId3">
            <a:alphaModFix/>
          </a:blip>
          <a:srcRect b="0" l="0" r="0" t="0"/>
          <a:stretch/>
        </p:blipFill>
        <p:spPr>
          <a:xfrm>
            <a:off x="1068700" y="1757911"/>
            <a:ext cx="3694751" cy="3888501"/>
          </a:xfrm>
          <a:prstGeom prst="rect">
            <a:avLst/>
          </a:prstGeom>
          <a:noFill/>
          <a:ln>
            <a:noFill/>
          </a:ln>
        </p:spPr>
      </p:pic>
      <p:pic>
        <p:nvPicPr>
          <p:cNvPr id="711" name="Google Shape;711;p36"/>
          <p:cNvPicPr preferRelativeResize="0"/>
          <p:nvPr/>
        </p:nvPicPr>
        <p:blipFill rotWithShape="1">
          <a:blip r:embed="rId4">
            <a:alphaModFix/>
          </a:blip>
          <a:srcRect b="0" l="0" r="0" t="0"/>
          <a:stretch/>
        </p:blipFill>
        <p:spPr>
          <a:xfrm>
            <a:off x="5967625" y="1746249"/>
            <a:ext cx="5110819" cy="3911800"/>
          </a:xfrm>
          <a:prstGeom prst="rect">
            <a:avLst/>
          </a:prstGeom>
          <a:noFill/>
          <a:ln>
            <a:noFill/>
          </a:ln>
        </p:spPr>
      </p:pic>
      <p:sp>
        <p:nvSpPr>
          <p:cNvPr id="712" name="Google Shape;712;p36"/>
          <p:cNvSpPr txBox="1"/>
          <p:nvPr/>
        </p:nvSpPr>
        <p:spPr>
          <a:xfrm>
            <a:off x="11402275" y="2378325"/>
            <a:ext cx="2770800" cy="1939500"/>
          </a:xfrm>
          <a:prstGeom prst="rect">
            <a:avLst/>
          </a:prstGeom>
          <a:noFill/>
          <a:ln>
            <a:noFill/>
          </a:ln>
        </p:spPr>
        <p:txBody>
          <a:bodyPr anchorCtr="0" anchor="t" bIns="45700" lIns="91425" spcFirstLastPara="1" rIns="91425" wrap="square" tIns="45700">
            <a:spAutoFit/>
          </a:bodyPr>
          <a:lstStyle/>
          <a:p>
            <a:pPr indent="-323850" lvl="0" marL="457200" marR="0" rtl="0" algn="l">
              <a:lnSpc>
                <a:spcPct val="100000"/>
              </a:lnSpc>
              <a:spcBef>
                <a:spcPts val="700"/>
              </a:spcBef>
              <a:spcAft>
                <a:spcPts val="0"/>
              </a:spcAft>
              <a:buClr>
                <a:srgbClr val="12202F"/>
              </a:buClr>
              <a:buSzPts val="1500"/>
              <a:buFont typeface="Arial"/>
              <a:buChar char="●"/>
            </a:pPr>
            <a:r>
              <a:rPr b="0" i="0" lang="en-US" sz="1500" u="none" cap="none" strike="noStrike">
                <a:solidFill>
                  <a:srgbClr val="12202F"/>
                </a:solidFill>
                <a:latin typeface="Arial"/>
                <a:ea typeface="Arial"/>
                <a:cs typeface="Arial"/>
                <a:sym typeface="Arial"/>
              </a:rPr>
              <a:t>Modèle météo final : 10 + 3 = 13 variables</a:t>
            </a:r>
            <a:endParaRPr b="0" i="0" sz="1500" u="none" cap="none" strike="noStrike">
              <a:solidFill>
                <a:srgbClr val="12202F"/>
              </a:solidFill>
              <a:latin typeface="Arial"/>
              <a:ea typeface="Arial"/>
              <a:cs typeface="Arial"/>
              <a:sym typeface="Arial"/>
            </a:endParaRPr>
          </a:p>
          <a:p>
            <a:pPr indent="-323850" lvl="0" marL="457200" marR="0" rtl="0" algn="l">
              <a:lnSpc>
                <a:spcPct val="100000"/>
              </a:lnSpc>
              <a:spcBef>
                <a:spcPts val="0"/>
              </a:spcBef>
              <a:spcAft>
                <a:spcPts val="0"/>
              </a:spcAft>
              <a:buClr>
                <a:srgbClr val="12202F"/>
              </a:buClr>
              <a:buSzPts val="1500"/>
              <a:buFont typeface="Arial"/>
              <a:buChar char="●"/>
            </a:pPr>
            <a:r>
              <a:rPr b="0" i="0" lang="en-US" sz="1500" u="none" cap="none" strike="noStrike">
                <a:solidFill>
                  <a:srgbClr val="12202F"/>
                </a:solidFill>
                <a:latin typeface="Arial"/>
                <a:ea typeface="Arial"/>
                <a:cs typeface="Arial"/>
                <a:sym typeface="Arial"/>
              </a:rPr>
              <a:t>La réduction à 7 variables appartient à l’étude initiale. La chaîne météo conserve les 10 variables historiques et ajoute 3 variables du jour cible.</a:t>
            </a:r>
            <a:endParaRPr b="0" i="0" sz="1500" u="none" cap="none" strike="noStrike">
              <a:solidFill>
                <a:srgbClr val="12202F"/>
              </a:solidFill>
              <a:latin typeface="Arial"/>
              <a:ea typeface="Arial"/>
              <a:cs typeface="Arial"/>
              <a:sym typeface="Arial"/>
            </a:endParaRPr>
          </a:p>
        </p:txBody>
      </p:sp>
      <p:pic>
        <p:nvPicPr>
          <p:cNvPr id="713" name="Google Shape;713;p36"/>
          <p:cNvPicPr preferRelativeResize="0"/>
          <p:nvPr/>
        </p:nvPicPr>
        <p:blipFill rotWithShape="1">
          <a:blip r:embed="rId5">
            <a:alphaModFix/>
          </a:blip>
          <a:srcRect b="0" l="0" r="0" t="0"/>
          <a:stretch/>
        </p:blipFill>
        <p:spPr>
          <a:xfrm>
            <a:off x="5967613" y="6246874"/>
            <a:ext cx="5476875" cy="1143000"/>
          </a:xfrm>
          <a:prstGeom prst="rect">
            <a:avLst/>
          </a:prstGeom>
          <a:noFill/>
          <a:ln>
            <a:noFill/>
          </a:ln>
        </p:spPr>
      </p:pic>
      <p:sp>
        <p:nvSpPr>
          <p:cNvPr id="714" name="Google Shape;714;p36"/>
          <p:cNvSpPr txBox="1"/>
          <p:nvPr/>
        </p:nvSpPr>
        <p:spPr>
          <a:xfrm>
            <a:off x="957550" y="5793208"/>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COMPARAISONS INITIALES SANS MÉTÉO</a:t>
            </a:r>
            <a:endParaRPr b="0" i="0" sz="1800" u="none" cap="none" strike="noStrike">
              <a:solidFill>
                <a:srgbClr val="000000"/>
              </a:solidFill>
              <a:latin typeface="Arial"/>
              <a:ea typeface="Arial"/>
              <a:cs typeface="Arial"/>
              <a:sym typeface="Arial"/>
            </a:endParaRPr>
          </a:p>
        </p:txBody>
      </p:sp>
      <p:sp>
        <p:nvSpPr>
          <p:cNvPr id="715" name="Google Shape;715;p36"/>
          <p:cNvSpPr txBox="1"/>
          <p:nvPr/>
        </p:nvSpPr>
        <p:spPr>
          <a:xfrm>
            <a:off x="957550" y="1423158"/>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ANALYSE INITIALE DE CORRÉLATION</a:t>
            </a:r>
            <a:endParaRPr b="0" i="0" sz="1800" u="none" cap="none" strike="noStrike">
              <a:solidFill>
                <a:srgbClr val="000000"/>
              </a:solidFill>
              <a:latin typeface="Arial"/>
              <a:ea typeface="Arial"/>
              <a:cs typeface="Arial"/>
              <a:sym typeface="Arial"/>
            </a:endParaRPr>
          </a:p>
        </p:txBody>
      </p:sp>
      <p:pic>
        <p:nvPicPr>
          <p:cNvPr id="716" name="Google Shape;716;p36"/>
          <p:cNvPicPr preferRelativeResize="0"/>
          <p:nvPr/>
        </p:nvPicPr>
        <p:blipFill rotWithShape="1">
          <a:blip r:embed="rId6">
            <a:alphaModFix/>
          </a:blip>
          <a:srcRect b="0" l="0" r="0" t="0"/>
          <a:stretch/>
        </p:blipFill>
        <p:spPr>
          <a:xfrm>
            <a:off x="2319188" y="6108763"/>
            <a:ext cx="2038350" cy="1419225"/>
          </a:xfrm>
          <a:prstGeom prst="rect">
            <a:avLst/>
          </a:prstGeom>
          <a:noFill/>
          <a:ln>
            <a:noFill/>
          </a:ln>
        </p:spPr>
      </p:pic>
      <p:sp>
        <p:nvSpPr>
          <p:cNvPr id="717" name="Google Shape;717;p36"/>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8" name="Google Shape;718;p36"/>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2" name="Shape 722"/>
        <p:cNvGrpSpPr/>
        <p:nvPr/>
      </p:nvGrpSpPr>
      <p:grpSpPr>
        <a:xfrm>
          <a:off x="0" y="0"/>
          <a:ext cx="0" cy="0"/>
          <a:chOff x="0" y="0"/>
          <a:chExt cx="0" cy="0"/>
        </a:xfrm>
      </p:grpSpPr>
      <p:sp>
        <p:nvSpPr>
          <p:cNvPr id="723" name="Google Shape;723;p37"/>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C5.2.3 </a:t>
            </a:r>
            <a:endParaRPr b="0" i="0" sz="1400" u="none" cap="none" strike="noStrike">
              <a:solidFill>
                <a:srgbClr val="000000"/>
              </a:solidFill>
              <a:latin typeface="Arial"/>
              <a:ea typeface="Arial"/>
              <a:cs typeface="Arial"/>
              <a:sym typeface="Arial"/>
            </a:endParaRPr>
          </a:p>
        </p:txBody>
      </p:sp>
      <p:sp>
        <p:nvSpPr>
          <p:cNvPr id="724" name="Google Shape;724;p37"/>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Comparaison initiale des modèles</a:t>
            </a:r>
            <a:endParaRPr b="0" i="0" sz="1400" u="none" cap="none" strike="noStrike">
              <a:solidFill>
                <a:srgbClr val="000000"/>
              </a:solidFill>
              <a:latin typeface="Arial"/>
              <a:ea typeface="Arial"/>
              <a:cs typeface="Arial"/>
              <a:sym typeface="Arial"/>
            </a:endParaRPr>
          </a:p>
        </p:txBody>
      </p:sp>
      <p:sp>
        <p:nvSpPr>
          <p:cNvPr id="725" name="Google Shape;725;p37"/>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ÉTUDE INITIALE SANS MÉTÉO</a:t>
            </a:r>
            <a:endParaRPr b="0" i="0" sz="1800" u="none" cap="none" strike="noStrike">
              <a:solidFill>
                <a:srgbClr val="000000"/>
              </a:solidFill>
              <a:latin typeface="Arial"/>
              <a:ea typeface="Arial"/>
              <a:cs typeface="Arial"/>
              <a:sym typeface="Arial"/>
            </a:endParaRPr>
          </a:p>
        </p:txBody>
      </p:sp>
      <p:sp>
        <p:nvSpPr>
          <p:cNvPr id="726" name="Google Shape;726;p37"/>
          <p:cNvSpPr txBox="1"/>
          <p:nvPr/>
        </p:nvSpPr>
        <p:spPr>
          <a:xfrm>
            <a:off x="822960" y="2011680"/>
            <a:ext cx="5029200" cy="13236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Baseline temporelle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Ridge Regression</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HistGradientBoostingRegressor</a:t>
            </a:r>
            <a:endParaRPr b="0" i="0" sz="2000" u="none" cap="none" strike="noStrike">
              <a:solidFill>
                <a:srgbClr val="12202F"/>
              </a:solidFill>
              <a:latin typeface="Calibri"/>
              <a:ea typeface="Calibri"/>
              <a:cs typeface="Calibri"/>
              <a:sym typeface="Calibri"/>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Random Forest</a:t>
            </a:r>
            <a:endParaRPr b="0" i="0" sz="2000" u="none" cap="none" strike="noStrike">
              <a:solidFill>
                <a:srgbClr val="12202F"/>
              </a:solidFill>
              <a:latin typeface="Calibri"/>
              <a:ea typeface="Calibri"/>
              <a:cs typeface="Calibri"/>
              <a:sym typeface="Calibri"/>
            </a:endParaRPr>
          </a:p>
        </p:txBody>
      </p:sp>
      <p:sp>
        <p:nvSpPr>
          <p:cNvPr id="727" name="Google Shape;727;p37"/>
          <p:cNvSpPr txBox="1"/>
          <p:nvPr/>
        </p:nvSpPr>
        <p:spPr>
          <a:xfrm>
            <a:off x="822950" y="4294233"/>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POURQUOI HGB ?</a:t>
            </a:r>
            <a:endParaRPr b="0" i="0" sz="1800" u="none" cap="none" strike="noStrike">
              <a:solidFill>
                <a:srgbClr val="000000"/>
              </a:solidFill>
              <a:latin typeface="Arial"/>
              <a:ea typeface="Arial"/>
              <a:cs typeface="Arial"/>
              <a:sym typeface="Arial"/>
            </a:endParaRPr>
          </a:p>
        </p:txBody>
      </p:sp>
      <p:sp>
        <p:nvSpPr>
          <p:cNvPr id="728" name="Google Shape;728;p37"/>
          <p:cNvSpPr txBox="1"/>
          <p:nvPr/>
        </p:nvSpPr>
        <p:spPr>
          <a:xfrm>
            <a:off x="822950" y="4659993"/>
            <a:ext cx="58521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Capte des relations non linéaires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Adapté aux données tabulaires volumineuses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Bon compromis performance / simplicité</a:t>
            </a:r>
            <a:endParaRPr b="0" i="0" sz="1400" u="none" cap="none" strike="noStrike">
              <a:solidFill>
                <a:srgbClr val="000000"/>
              </a:solidFill>
              <a:latin typeface="Arial"/>
              <a:ea typeface="Arial"/>
              <a:cs typeface="Arial"/>
              <a:sym typeface="Arial"/>
            </a:endParaRPr>
          </a:p>
        </p:txBody>
      </p:sp>
      <p:sp>
        <p:nvSpPr>
          <p:cNvPr id="729" name="Google Shape;729;p37"/>
          <p:cNvSpPr txBox="1"/>
          <p:nvPr/>
        </p:nvSpPr>
        <p:spPr>
          <a:xfrm>
            <a:off x="7047285" y="4294228"/>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CANDIDAT : HGB + MÉTÉO PRÉVUE</a:t>
            </a:r>
            <a:endParaRPr b="0" i="0" sz="1800" u="none" cap="none" strike="noStrike">
              <a:solidFill>
                <a:srgbClr val="000000"/>
              </a:solidFill>
              <a:latin typeface="Arial"/>
              <a:ea typeface="Arial"/>
              <a:cs typeface="Arial"/>
              <a:sym typeface="Arial"/>
            </a:endParaRPr>
          </a:p>
        </p:txBody>
      </p:sp>
      <p:sp>
        <p:nvSpPr>
          <p:cNvPr id="730" name="Google Shape;730;p37"/>
          <p:cNvSpPr txBox="1"/>
          <p:nvPr/>
        </p:nvSpPr>
        <p:spPr>
          <a:xfrm>
            <a:off x="7047280" y="4659988"/>
            <a:ext cx="57996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Évaluation sur période future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Jeu de test 2025 non utilisé pour les choix</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Métriques : MAE, RMSE, R²</a:t>
            </a:r>
            <a:endParaRPr b="0" i="0" sz="1400" u="none" cap="none" strike="noStrike">
              <a:solidFill>
                <a:srgbClr val="000000"/>
              </a:solidFill>
              <a:latin typeface="Arial"/>
              <a:ea typeface="Arial"/>
              <a:cs typeface="Arial"/>
              <a:sym typeface="Arial"/>
            </a:endParaRPr>
          </a:p>
        </p:txBody>
      </p:sp>
      <p:sp>
        <p:nvSpPr>
          <p:cNvPr id="731" name="Google Shape;731;p37"/>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32" name="Google Shape;732;p37"/>
          <p:cNvPicPr preferRelativeResize="0"/>
          <p:nvPr/>
        </p:nvPicPr>
        <p:blipFill rotWithShape="1">
          <a:blip r:embed="rId3">
            <a:alphaModFix/>
          </a:blip>
          <a:srcRect b="0" l="0" r="0" t="0"/>
          <a:stretch/>
        </p:blipFill>
        <p:spPr>
          <a:xfrm>
            <a:off x="7691025" y="1783268"/>
            <a:ext cx="4305300" cy="1381125"/>
          </a:xfrm>
          <a:prstGeom prst="rect">
            <a:avLst/>
          </a:prstGeom>
          <a:noFill/>
          <a:ln>
            <a:noFill/>
          </a:ln>
        </p:spPr>
      </p:pic>
      <p:sp>
        <p:nvSpPr>
          <p:cNvPr id="733" name="Google Shape;733;p37"/>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7" name="Shape 737"/>
        <p:cNvGrpSpPr/>
        <p:nvPr/>
      </p:nvGrpSpPr>
      <p:grpSpPr>
        <a:xfrm>
          <a:off x="0" y="0"/>
          <a:ext cx="0" cy="0"/>
          <a:chOff x="0" y="0"/>
          <a:chExt cx="0" cy="0"/>
        </a:xfrm>
      </p:grpSpPr>
      <p:sp>
        <p:nvSpPr>
          <p:cNvPr id="738" name="Google Shape;738;p38"/>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C5.2.4</a:t>
            </a:r>
            <a:endParaRPr b="0" i="0" sz="1400" u="none" cap="none" strike="noStrike">
              <a:solidFill>
                <a:srgbClr val="000000"/>
              </a:solidFill>
              <a:latin typeface="Arial"/>
              <a:ea typeface="Arial"/>
              <a:cs typeface="Arial"/>
              <a:sym typeface="Arial"/>
            </a:endParaRPr>
          </a:p>
        </p:txBody>
      </p:sp>
      <p:sp>
        <p:nvSpPr>
          <p:cNvPr id="739" name="Google Shape;739;p38"/>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Optimisation initiale — paramètres conservés</a:t>
            </a:r>
            <a:endParaRPr b="0" i="0" sz="1400" u="none" cap="none" strike="noStrike">
              <a:solidFill>
                <a:srgbClr val="000000"/>
              </a:solidFill>
              <a:latin typeface="Arial"/>
              <a:ea typeface="Arial"/>
              <a:cs typeface="Arial"/>
              <a:sym typeface="Arial"/>
            </a:endParaRPr>
          </a:p>
        </p:txBody>
      </p:sp>
      <p:sp>
        <p:nvSpPr>
          <p:cNvPr id="740" name="Google Shape;740;p38"/>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MÉTHODE</a:t>
            </a:r>
            <a:endParaRPr b="0" i="0" sz="1800" u="none" cap="none" strike="noStrike">
              <a:solidFill>
                <a:srgbClr val="000000"/>
              </a:solidFill>
              <a:latin typeface="Arial"/>
              <a:ea typeface="Arial"/>
              <a:cs typeface="Arial"/>
              <a:sym typeface="Arial"/>
            </a:endParaRPr>
          </a:p>
        </p:txBody>
      </p:sp>
      <p:sp>
        <p:nvSpPr>
          <p:cNvPr id="741" name="Google Shape;741;p38"/>
          <p:cNvSpPr txBox="1"/>
          <p:nvPr/>
        </p:nvSpPr>
        <p:spPr>
          <a:xfrm>
            <a:off x="822960" y="2011680"/>
            <a:ext cx="56694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RandomizedSearchCV</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TimeSeriesSplit avec gap de 48 demi-heures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Optimisation sur la MAE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Recherche limitée pour éviter le sur-ajustement</a:t>
            </a:r>
            <a:endParaRPr b="0" i="0" sz="1400" u="none" cap="none" strike="noStrike">
              <a:solidFill>
                <a:srgbClr val="000000"/>
              </a:solidFill>
              <a:latin typeface="Arial"/>
              <a:ea typeface="Arial"/>
              <a:cs typeface="Arial"/>
              <a:sym typeface="Arial"/>
            </a:endParaRPr>
          </a:p>
        </p:txBody>
      </p:sp>
      <p:sp>
        <p:nvSpPr>
          <p:cNvPr id="742" name="Google Shape;742;p38"/>
          <p:cNvSpPr txBox="1"/>
          <p:nvPr/>
        </p:nvSpPr>
        <p:spPr>
          <a:xfrm>
            <a:off x="731520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HYPERPARAMÈTRES</a:t>
            </a:r>
            <a:endParaRPr b="0" i="0" sz="1800" u="none" cap="none" strike="noStrike">
              <a:solidFill>
                <a:srgbClr val="000000"/>
              </a:solidFill>
              <a:latin typeface="Arial"/>
              <a:ea typeface="Arial"/>
              <a:cs typeface="Arial"/>
              <a:sym typeface="Arial"/>
            </a:endParaRPr>
          </a:p>
        </p:txBody>
      </p:sp>
      <p:sp>
        <p:nvSpPr>
          <p:cNvPr id="743" name="Google Shape;743;p38"/>
          <p:cNvSpPr txBox="1"/>
          <p:nvPr/>
        </p:nvSpPr>
        <p:spPr>
          <a:xfrm>
            <a:off x="7315200" y="2011680"/>
            <a:ext cx="4389000" cy="14775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learning_rate</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max_iter</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max_leaf_nodes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min_samples_leaf</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12202F"/>
              </a:buClr>
              <a:buSzPts val="1800"/>
              <a:buFont typeface="Calibri"/>
              <a:buChar char="●"/>
            </a:pPr>
            <a:r>
              <a:rPr b="0" i="0" lang="en-US" sz="1800" u="none" cap="none" strike="noStrike">
                <a:solidFill>
                  <a:srgbClr val="12202F"/>
                </a:solidFill>
                <a:latin typeface="Calibri"/>
                <a:ea typeface="Calibri"/>
                <a:cs typeface="Calibri"/>
                <a:sym typeface="Calibri"/>
              </a:rPr>
              <a:t>l2_regularization</a:t>
            </a:r>
            <a:endParaRPr b="0" i="0" sz="1400" u="none" cap="none" strike="noStrike">
              <a:solidFill>
                <a:srgbClr val="000000"/>
              </a:solidFill>
              <a:latin typeface="Arial"/>
              <a:ea typeface="Arial"/>
              <a:cs typeface="Arial"/>
              <a:sym typeface="Arial"/>
            </a:endParaRPr>
          </a:p>
        </p:txBody>
      </p:sp>
      <p:sp>
        <p:nvSpPr>
          <p:cNvPr id="744" name="Google Shape;744;p38"/>
          <p:cNvSpPr/>
          <p:nvPr/>
        </p:nvSpPr>
        <p:spPr>
          <a:xfrm>
            <a:off x="1097280" y="5166360"/>
            <a:ext cx="2743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≈1.3%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gain du tuning</a:t>
            </a:r>
            <a:endParaRPr b="0" i="0" sz="1400" u="none" cap="none" strike="noStrike">
              <a:solidFill>
                <a:srgbClr val="000000"/>
              </a:solidFill>
              <a:latin typeface="Arial"/>
              <a:ea typeface="Arial"/>
              <a:cs typeface="Arial"/>
              <a:sym typeface="Arial"/>
            </a:endParaRPr>
          </a:p>
        </p:txBody>
      </p:sp>
      <p:sp>
        <p:nvSpPr>
          <p:cNvPr id="745" name="Google Shape;745;p38"/>
          <p:cNvSpPr txBox="1"/>
          <p:nvPr/>
        </p:nvSpPr>
        <p:spPr>
          <a:xfrm>
            <a:off x="4496085" y="5289520"/>
            <a:ext cx="7863900" cy="74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Chaîne météo : mêmes hyperparamètres, sans nouveau tuning.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Le gain météo est évalué séparément sur 2024 puis 2025.</a:t>
            </a:r>
            <a:endParaRPr b="0" i="0" sz="1400" u="none" cap="none" strike="noStrike">
              <a:solidFill>
                <a:srgbClr val="000000"/>
              </a:solidFill>
              <a:latin typeface="Arial"/>
              <a:ea typeface="Arial"/>
              <a:cs typeface="Arial"/>
              <a:sym typeface="Arial"/>
            </a:endParaRPr>
          </a:p>
        </p:txBody>
      </p:sp>
      <p:sp>
        <p:nvSpPr>
          <p:cNvPr id="746" name="Google Shape;746;p38"/>
          <p:cNvSpPr/>
          <p:nvPr/>
        </p:nvSpPr>
        <p:spPr>
          <a:xfrm>
            <a:off x="0" y="8001000"/>
            <a:ext cx="14630400" cy="45720"/>
          </a:xfrm>
          <a:prstGeom prst="rect">
            <a:avLst/>
          </a:prstGeom>
          <a:solidFill>
            <a:srgbClr val="F5F8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47" name="Google Shape;747;p38"/>
          <p:cNvPicPr preferRelativeResize="0"/>
          <p:nvPr/>
        </p:nvPicPr>
        <p:blipFill rotWithShape="1">
          <a:blip r:embed="rId3">
            <a:alphaModFix/>
          </a:blip>
          <a:srcRect b="0" l="0" r="0" t="0"/>
          <a:stretch/>
        </p:blipFill>
        <p:spPr>
          <a:xfrm>
            <a:off x="10802775" y="1925793"/>
            <a:ext cx="1891012" cy="1372380"/>
          </a:xfrm>
          <a:prstGeom prst="rect">
            <a:avLst/>
          </a:prstGeom>
          <a:noFill/>
          <a:ln>
            <a:noFill/>
          </a:ln>
        </p:spPr>
      </p:pic>
      <p:pic>
        <p:nvPicPr>
          <p:cNvPr id="748" name="Google Shape;748;p38"/>
          <p:cNvPicPr preferRelativeResize="0"/>
          <p:nvPr/>
        </p:nvPicPr>
        <p:blipFill rotWithShape="1">
          <a:blip r:embed="rId4">
            <a:alphaModFix/>
          </a:blip>
          <a:srcRect b="0" l="0" r="0" t="0"/>
          <a:stretch/>
        </p:blipFill>
        <p:spPr>
          <a:xfrm>
            <a:off x="499188" y="3643305"/>
            <a:ext cx="4486275" cy="942975"/>
          </a:xfrm>
          <a:prstGeom prst="rect">
            <a:avLst/>
          </a:prstGeom>
          <a:noFill/>
          <a:ln>
            <a:noFill/>
          </a:ln>
        </p:spPr>
      </p:pic>
      <p:sp>
        <p:nvSpPr>
          <p:cNvPr id="749" name="Google Shape;749;p38"/>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3" name="Shape 753"/>
        <p:cNvGrpSpPr/>
        <p:nvPr/>
      </p:nvGrpSpPr>
      <p:grpSpPr>
        <a:xfrm>
          <a:off x="0" y="0"/>
          <a:ext cx="0" cy="0"/>
          <a:chOff x="0" y="0"/>
          <a:chExt cx="0" cy="0"/>
        </a:xfrm>
      </p:grpSpPr>
      <p:sp>
        <p:nvSpPr>
          <p:cNvPr id="754" name="Google Shape;754;p39"/>
          <p:cNvSpPr txBox="1"/>
          <p:nvPr/>
        </p:nvSpPr>
        <p:spPr>
          <a:xfrm>
            <a:off x="685800" y="475488"/>
            <a:ext cx="10058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12202F"/>
                </a:solidFill>
                <a:latin typeface="Arial"/>
                <a:ea typeface="Arial"/>
                <a:cs typeface="Arial"/>
                <a:sym typeface="Arial"/>
              </a:rPr>
              <a:t>Enrichissement par données météo externes</a:t>
            </a:r>
            <a:endParaRPr/>
          </a:p>
        </p:txBody>
      </p:sp>
      <p:sp>
        <p:nvSpPr>
          <p:cNvPr id="755" name="Google Shape;755;p39"/>
          <p:cNvSpPr txBox="1"/>
          <p:nvPr/>
        </p:nvSpPr>
        <p:spPr>
          <a:xfrm>
            <a:off x="749808" y="1115568"/>
            <a:ext cx="11430000" cy="320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5A6673"/>
                </a:solidFill>
                <a:latin typeface="Arial"/>
                <a:ea typeface="Arial"/>
                <a:cs typeface="Arial"/>
                <a:sym typeface="Arial"/>
              </a:rPr>
              <a:t>Tester si la météo explique une part de la consommation non captée par les historiques</a:t>
            </a:r>
            <a:endParaRPr/>
          </a:p>
        </p:txBody>
      </p:sp>
      <p:sp>
        <p:nvSpPr>
          <p:cNvPr id="756" name="Google Shape;756;p39"/>
          <p:cNvSpPr/>
          <p:nvPr/>
        </p:nvSpPr>
        <p:spPr>
          <a:xfrm>
            <a:off x="777240" y="1691640"/>
            <a:ext cx="4160520" cy="2057400"/>
          </a:xfrm>
          <a:prstGeom prst="roundRect">
            <a:avLst>
              <a:gd fmla="val 16667" name="adj"/>
            </a:avLst>
          </a:prstGeom>
          <a:solidFill>
            <a:srgbClr val="EBF1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2F61B8"/>
                </a:solidFill>
                <a:latin typeface="Arial"/>
                <a:ea typeface="Arial"/>
                <a:cs typeface="Arial"/>
                <a:sym typeface="Arial"/>
              </a:rPr>
              <a:t>SOURCE EXTERNE</a:t>
            </a:r>
            <a:endParaRPr b="1" i="0" sz="1100" u="none" cap="none" strike="noStrike">
              <a:solidFill>
                <a:srgbClr val="2F61B8"/>
              </a:solidFill>
              <a:latin typeface="Arial"/>
              <a:ea typeface="Arial"/>
              <a:cs typeface="Arial"/>
              <a:sym typeface="Arial"/>
            </a:endParaRPr>
          </a:p>
          <a:p>
            <a:pPr indent="0" lvl="0" marL="0" marR="0" rtl="0" algn="ctr">
              <a:lnSpc>
                <a:spcPct val="100000"/>
              </a:lnSpc>
              <a:spcBef>
                <a:spcPts val="0"/>
              </a:spcBef>
              <a:spcAft>
                <a:spcPts val="0"/>
              </a:spcAft>
              <a:buNone/>
            </a:pPr>
            <a:r>
              <a:t/>
            </a:r>
            <a:endParaRPr b="1" sz="1100">
              <a:solidFill>
                <a:srgbClr val="2F61B8"/>
              </a:solidFill>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Open-Meteo Previous Model Runs API</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ICON Global : prévisions horaires archivées</a:t>
            </a:r>
            <a:endParaRPr/>
          </a:p>
          <a:p>
            <a:pPr indent="0" lvl="0" marL="0" rtl="0" algn="l">
              <a:spcBef>
                <a:spcPts val="500"/>
              </a:spcBef>
              <a:spcAft>
                <a:spcPts val="0"/>
              </a:spcAft>
              <a:buClr>
                <a:srgbClr val="000000"/>
              </a:buClr>
              <a:buSzPts val="1500"/>
              <a:buFont typeface="Arial"/>
              <a:buNone/>
            </a:pPr>
            <a:r>
              <a:rPr lang="en-US" sz="1500">
                <a:solidFill>
                  <a:srgbClr val="12202F"/>
                </a:solidFill>
              </a:rPr>
              <a:t>Bordeaux, Limoges, La Rochelle, Bayonne, Pau</a:t>
            </a:r>
            <a:endParaRPr/>
          </a:p>
        </p:txBody>
      </p:sp>
      <p:sp>
        <p:nvSpPr>
          <p:cNvPr id="757" name="Google Shape;757;p39"/>
          <p:cNvSpPr/>
          <p:nvPr/>
        </p:nvSpPr>
        <p:spPr>
          <a:xfrm>
            <a:off x="5257800" y="1691640"/>
            <a:ext cx="4160520" cy="2057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2F61B8"/>
                </a:solidFill>
                <a:latin typeface="Arial"/>
                <a:ea typeface="Arial"/>
                <a:cs typeface="Arial"/>
                <a:sym typeface="Arial"/>
              </a:rPr>
              <a:t>VARIABLES AJOUTÉES</a:t>
            </a:r>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Température prévue à 2 m</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Température ressentie prévue</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Code météo prévu (catégorie WMO)</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Agrégation régionale par moyenne / mode</a:t>
            </a:r>
            <a:endParaRPr/>
          </a:p>
        </p:txBody>
      </p:sp>
      <p:sp>
        <p:nvSpPr>
          <p:cNvPr id="758" name="Google Shape;758;p39"/>
          <p:cNvSpPr/>
          <p:nvPr/>
        </p:nvSpPr>
        <p:spPr>
          <a:xfrm>
            <a:off x="9738360" y="1691640"/>
            <a:ext cx="4114800" cy="2057400"/>
          </a:xfrm>
          <a:prstGeom prst="roundRect">
            <a:avLst>
              <a:gd fmla="val 16667" name="adj"/>
            </a:avLst>
          </a:prstGeom>
          <a:solidFill>
            <a:srgbClr val="FFF5E8"/>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E68D35"/>
                </a:solidFill>
                <a:latin typeface="Arial"/>
                <a:ea typeface="Arial"/>
                <a:cs typeface="Arial"/>
                <a:sym typeface="Arial"/>
              </a:rPr>
              <a:t>CONTRÔLE MÉTHODOLOGIQUE</a:t>
            </a:r>
            <a:endParaRPr b="1" i="0" sz="1100" u="none" cap="none" strike="noStrike">
              <a:solidFill>
                <a:srgbClr val="E68D35"/>
              </a:solidFill>
              <a:latin typeface="Arial"/>
              <a:ea typeface="Arial"/>
              <a:cs typeface="Arial"/>
              <a:sym typeface="Arial"/>
            </a:endParaRPr>
          </a:p>
          <a:p>
            <a:pPr indent="0" lvl="0" marL="0" marR="0" rtl="0" algn="ctr">
              <a:lnSpc>
                <a:spcPct val="100000"/>
              </a:lnSpc>
              <a:spcBef>
                <a:spcPts val="0"/>
              </a:spcBef>
              <a:spcAft>
                <a:spcPts val="0"/>
              </a:spcAft>
              <a:buNone/>
            </a:pPr>
            <a:r>
              <a:t/>
            </a:r>
            <a:endParaRPr b="1" sz="1100">
              <a:solidFill>
                <a:srgbClr val="E68D35"/>
              </a:solidFill>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Échéance météo : 48 h ; cible conso : H+24</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Marge nominale avant t : 24 h</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Publication réelle non horodatée par cette API</a:t>
            </a:r>
            <a:endParaRPr/>
          </a:p>
        </p:txBody>
      </p:sp>
      <p:pic>
        <p:nvPicPr>
          <p:cNvPr descr="image.png" id="759" name="Google Shape;759;p39"/>
          <p:cNvPicPr preferRelativeResize="0"/>
          <p:nvPr/>
        </p:nvPicPr>
        <p:blipFill rotWithShape="1">
          <a:blip r:embed="rId3">
            <a:alphaModFix/>
          </a:blip>
          <a:srcRect b="0" l="0" r="0" t="0"/>
          <a:stretch/>
        </p:blipFill>
        <p:spPr>
          <a:xfrm>
            <a:off x="3611875" y="4438650"/>
            <a:ext cx="7406641" cy="2465944"/>
          </a:xfrm>
          <a:prstGeom prst="rect">
            <a:avLst/>
          </a:prstGeom>
          <a:noFill/>
          <a:ln>
            <a:noFill/>
          </a:ln>
        </p:spPr>
      </p:pic>
      <p:sp>
        <p:nvSpPr>
          <p:cNvPr id="760" name="Google Shape;760;p39"/>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a:t>
            </a:r>
            <a:r>
              <a:rPr b="1" lang="en-US" sz="1200">
                <a:solidFill>
                  <a:srgbClr val="2F61B8"/>
                </a:solidFill>
                <a:latin typeface="Calibri"/>
                <a:ea typeface="Calibri"/>
                <a:cs typeface="Calibri"/>
                <a:sym typeface="Calibri"/>
              </a:rPr>
              <a:t>4</a:t>
            </a:r>
            <a:endParaRPr b="1" sz="1200">
              <a:solidFill>
                <a:srgbClr val="2F61B8"/>
              </a:solidFill>
              <a:latin typeface="Calibri"/>
              <a:ea typeface="Calibri"/>
              <a:cs typeface="Calibri"/>
              <a:sym typeface="Calibri"/>
            </a:endParaRPr>
          </a:p>
        </p:txBody>
      </p:sp>
      <p:sp>
        <p:nvSpPr>
          <p:cNvPr id="761" name="Google Shape;761;p39"/>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2" name="Google Shape;762;p39"/>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6" name="Shape 766"/>
        <p:cNvGrpSpPr/>
        <p:nvPr/>
      </p:nvGrpSpPr>
      <p:grpSpPr>
        <a:xfrm>
          <a:off x="0" y="0"/>
          <a:ext cx="0" cy="0"/>
          <a:chOff x="0" y="0"/>
          <a:chExt cx="0" cy="0"/>
        </a:xfrm>
      </p:grpSpPr>
      <p:sp>
        <p:nvSpPr>
          <p:cNvPr id="767" name="Google Shape;767;p40"/>
          <p:cNvSpPr txBox="1"/>
          <p:nvPr/>
        </p:nvSpPr>
        <p:spPr>
          <a:xfrm>
            <a:off x="685800" y="475488"/>
            <a:ext cx="10058400" cy="6400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12202F"/>
                </a:solidFill>
                <a:latin typeface="Arial"/>
                <a:ea typeface="Arial"/>
                <a:cs typeface="Arial"/>
                <a:sym typeface="Arial"/>
              </a:rPr>
              <a:t>Impact de la météo sur les performances</a:t>
            </a:r>
            <a:endParaRPr/>
          </a:p>
        </p:txBody>
      </p:sp>
      <p:sp>
        <p:nvSpPr>
          <p:cNvPr id="768" name="Google Shape;768;p40"/>
          <p:cNvSpPr txBox="1"/>
          <p:nvPr/>
        </p:nvSpPr>
        <p:spPr>
          <a:xfrm>
            <a:off x="749808" y="1115568"/>
            <a:ext cx="11430000" cy="32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5A6673"/>
                </a:solidFill>
                <a:latin typeface="Arial"/>
                <a:ea typeface="Arial"/>
                <a:cs typeface="Arial"/>
                <a:sym typeface="Arial"/>
              </a:rPr>
              <a:t>Même entraînement 2024 et mêmes 17 511 observations de test 2025</a:t>
            </a:r>
            <a:endParaRPr/>
          </a:p>
        </p:txBody>
      </p:sp>
      <p:sp>
        <p:nvSpPr>
          <p:cNvPr id="769" name="Google Shape;769;p40"/>
          <p:cNvSpPr/>
          <p:nvPr/>
        </p:nvSpPr>
        <p:spPr>
          <a:xfrm>
            <a:off x="1828810" y="1819600"/>
            <a:ext cx="2469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500" u="none" cap="none" strike="noStrike">
                <a:solidFill>
                  <a:srgbClr val="2F61B8"/>
                </a:solidFill>
                <a:latin typeface="Arial"/>
                <a:ea typeface="Arial"/>
                <a:cs typeface="Arial"/>
                <a:sym typeface="Arial"/>
              </a:rPr>
              <a:t>258,9 MW</a:t>
            </a:r>
            <a:endParaRPr/>
          </a:p>
          <a:p>
            <a:pPr indent="0" lvl="0" marL="0" marR="0" rtl="0" algn="ctr">
              <a:lnSpc>
                <a:spcPct val="100000"/>
              </a:lnSpc>
              <a:spcBef>
                <a:spcPts val="0"/>
              </a:spcBef>
              <a:spcAft>
                <a:spcPts val="0"/>
              </a:spcAft>
              <a:buNone/>
            </a:pPr>
            <a:r>
              <a:rPr b="0" i="0" lang="en-US" sz="1100" u="none" cap="none" strike="noStrike">
                <a:solidFill>
                  <a:srgbClr val="5A6673"/>
                </a:solidFill>
                <a:latin typeface="Arial"/>
                <a:ea typeface="Arial"/>
                <a:cs typeface="Arial"/>
                <a:sym typeface="Arial"/>
              </a:rPr>
              <a:t>Baseline J-1</a:t>
            </a:r>
            <a:br>
              <a:rPr b="0" i="0" lang="en-US" sz="1100" u="none" cap="none" strike="noStrike">
                <a:solidFill>
                  <a:srgbClr val="5A6673"/>
                </a:solidFill>
                <a:latin typeface="Arial"/>
                <a:ea typeface="Arial"/>
                <a:cs typeface="Arial"/>
                <a:sym typeface="Arial"/>
              </a:rPr>
            </a:br>
            <a:r>
              <a:rPr b="0" i="0" lang="en-US" sz="1100" u="none" cap="none" strike="noStrike">
                <a:solidFill>
                  <a:srgbClr val="5A6673"/>
                </a:solidFill>
                <a:latin typeface="Arial"/>
                <a:ea typeface="Arial"/>
                <a:cs typeface="Arial"/>
                <a:sym typeface="Arial"/>
              </a:rPr>
              <a:t>MAE test</a:t>
            </a:r>
            <a:endParaRPr/>
          </a:p>
        </p:txBody>
      </p:sp>
      <p:sp>
        <p:nvSpPr>
          <p:cNvPr id="770" name="Google Shape;770;p40"/>
          <p:cNvSpPr/>
          <p:nvPr/>
        </p:nvSpPr>
        <p:spPr>
          <a:xfrm>
            <a:off x="4663450" y="1819600"/>
            <a:ext cx="24690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500" u="none" cap="none" strike="noStrike">
                <a:solidFill>
                  <a:srgbClr val="2F61B8"/>
                </a:solidFill>
                <a:latin typeface="Arial"/>
                <a:ea typeface="Arial"/>
                <a:cs typeface="Arial"/>
                <a:sym typeface="Arial"/>
              </a:rPr>
              <a:t>226,7 MW</a:t>
            </a:r>
            <a:r>
              <a:rPr b="1" lang="en-US" sz="2500">
                <a:solidFill>
                  <a:srgbClr val="2F61B8"/>
                </a:solidFill>
              </a:rPr>
              <a:t/>
            </a:r>
            <a:r>
              <a:rPr b="1" i="0" lang="en-US" sz="2500" u="none" cap="none" strike="noStrike">
                <a:solidFill>
                  <a:srgbClr val="2F61B8"/>
                </a:solidFill>
                <a:latin typeface="Arial"/>
                <a:ea typeface="Arial"/>
                <a:cs typeface="Arial"/>
                <a:sym typeface="Arial"/>
              </a:rPr>
              <a:t/>
            </a:r>
            <a:endParaRPr/>
          </a:p>
          <a:p>
            <a:pPr indent="0" lvl="0" marL="0" marR="0" rtl="0" algn="ctr">
              <a:lnSpc>
                <a:spcPct val="100000"/>
              </a:lnSpc>
              <a:spcBef>
                <a:spcPts val="0"/>
              </a:spcBef>
              <a:spcAft>
                <a:spcPts val="0"/>
              </a:spcAft>
              <a:buNone/>
            </a:pPr>
            <a:r>
              <a:rPr b="0" i="0" lang="en-US" sz="1100" u="none" cap="none" strike="noStrike">
                <a:solidFill>
                  <a:srgbClr val="5A6673"/>
                </a:solidFill>
                <a:latin typeface="Arial"/>
                <a:ea typeface="Arial"/>
                <a:cs typeface="Arial"/>
                <a:sym typeface="Arial"/>
              </a:rPr>
              <a:t>HGB sans météo</a:t>
            </a:r>
            <a:br>
              <a:rPr b="0" i="0" lang="en-US" sz="1100" u="none" cap="none" strike="noStrike">
                <a:solidFill>
                  <a:srgbClr val="5A6673"/>
                </a:solidFill>
                <a:latin typeface="Arial"/>
                <a:ea typeface="Arial"/>
                <a:cs typeface="Arial"/>
                <a:sym typeface="Arial"/>
              </a:rPr>
            </a:br>
            <a:r>
              <a:rPr b="0" i="0" lang="en-US" sz="1100" u="none" cap="none" strike="noStrike">
                <a:solidFill>
                  <a:srgbClr val="5A6673"/>
                </a:solidFill>
                <a:latin typeface="Arial"/>
                <a:ea typeface="Arial"/>
                <a:cs typeface="Arial"/>
                <a:sym typeface="Arial"/>
              </a:rPr>
              <a:t>MAE test</a:t>
            </a:r>
            <a:endParaRPr/>
          </a:p>
        </p:txBody>
      </p:sp>
      <p:sp>
        <p:nvSpPr>
          <p:cNvPr id="771" name="Google Shape;771;p40"/>
          <p:cNvSpPr/>
          <p:nvPr/>
        </p:nvSpPr>
        <p:spPr>
          <a:xfrm>
            <a:off x="7498090" y="1819600"/>
            <a:ext cx="2469000" cy="914400"/>
          </a:xfrm>
          <a:prstGeom prst="roundRect">
            <a:avLst>
              <a:gd fmla="val 16667" name="adj"/>
            </a:avLst>
          </a:prstGeom>
          <a:solidFill>
            <a:srgbClr val="E8F2EE"/>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500" u="none" cap="none" strike="noStrike">
                <a:solidFill>
                  <a:srgbClr val="2F61B8"/>
                </a:solidFill>
                <a:latin typeface="Arial"/>
                <a:ea typeface="Arial"/>
                <a:cs typeface="Arial"/>
                <a:sym typeface="Arial"/>
              </a:rPr>
              <a:t>177,4 MW</a:t>
            </a:r>
            <a:r>
              <a:rPr b="1" lang="en-US" sz="2500">
                <a:solidFill>
                  <a:srgbClr val="2F61B8"/>
                </a:solidFill>
              </a:rPr>
              <a:t/>
            </a:r>
            <a:r>
              <a:rPr b="1" i="0" lang="en-US" sz="2500" u="none" cap="none" strike="noStrike">
                <a:solidFill>
                  <a:srgbClr val="2F61B8"/>
                </a:solidFill>
                <a:latin typeface="Arial"/>
                <a:ea typeface="Arial"/>
                <a:cs typeface="Arial"/>
                <a:sym typeface="Arial"/>
              </a:rPr>
              <a:t/>
            </a:r>
            <a:endParaRPr/>
          </a:p>
          <a:p>
            <a:pPr indent="0" lvl="0" marL="0" marR="0" rtl="0" algn="ctr">
              <a:lnSpc>
                <a:spcPct val="100000"/>
              </a:lnSpc>
              <a:spcBef>
                <a:spcPts val="0"/>
              </a:spcBef>
              <a:spcAft>
                <a:spcPts val="0"/>
              </a:spcAft>
              <a:buNone/>
            </a:pPr>
            <a:r>
              <a:rPr b="0" i="0" lang="en-US" sz="1100" u="none" cap="none" strike="noStrike">
                <a:solidFill>
                  <a:srgbClr val="5A6673"/>
                </a:solidFill>
                <a:latin typeface="Arial"/>
                <a:ea typeface="Arial"/>
                <a:cs typeface="Arial"/>
                <a:sym typeface="Arial"/>
              </a:rPr>
              <a:t>HGB + météo prévueMAE test</a:t>
            </a:r>
            <a:br>
              <a:rPr b="0" i="0" lang="en-US" sz="1100" u="none" cap="none" strike="noStrike">
                <a:solidFill>
                  <a:srgbClr val="5A6673"/>
                </a:solidFill>
                <a:latin typeface="Arial"/>
                <a:ea typeface="Arial"/>
                <a:cs typeface="Arial"/>
                <a:sym typeface="Arial"/>
              </a:rPr>
            </a:br>
            <a:r>
              <a:rPr b="0" i="0" lang="en-US" sz="1100" u="none" cap="none" strike="noStrike">
                <a:solidFill>
                  <a:srgbClr val="5A6673"/>
                </a:solidFill>
                <a:latin typeface="Arial"/>
                <a:ea typeface="Arial"/>
                <a:cs typeface="Arial"/>
                <a:sym typeface="Arial"/>
              </a:rPr>
              <a:t/>
            </a:r>
            <a:endParaRPr/>
          </a:p>
        </p:txBody>
      </p:sp>
      <p:sp>
        <p:nvSpPr>
          <p:cNvPr id="772" name="Google Shape;772;p40"/>
          <p:cNvSpPr/>
          <p:nvPr/>
        </p:nvSpPr>
        <p:spPr>
          <a:xfrm>
            <a:off x="10332730" y="1819600"/>
            <a:ext cx="2469000" cy="914400"/>
          </a:xfrm>
          <a:prstGeom prst="roundRect">
            <a:avLst>
              <a:gd fmla="val 16667" name="adj"/>
            </a:avLst>
          </a:prstGeom>
          <a:solidFill>
            <a:srgbClr val="E8F2EE"/>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2500">
                <a:solidFill>
                  <a:srgbClr val="2F61B8"/>
                </a:solidFill>
              </a:rPr>
              <a:t>21,7 %</a:t>
            </a:r>
            <a:r>
              <a:rPr b="1" i="0" lang="en-US" sz="2500" u="none" cap="none" strike="noStrike">
                <a:solidFill>
                  <a:srgbClr val="2F61B8"/>
                </a:solidFill>
                <a:latin typeface="Arial"/>
                <a:ea typeface="Arial"/>
                <a:cs typeface="Arial"/>
                <a:sym typeface="Arial"/>
              </a:rPr>
              <a:t/>
            </a:r>
            <a:endParaRPr/>
          </a:p>
          <a:p>
            <a:pPr indent="0" lvl="0" marL="0" marR="0" rtl="0" algn="ctr">
              <a:lnSpc>
                <a:spcPct val="100000"/>
              </a:lnSpc>
              <a:spcBef>
                <a:spcPts val="0"/>
              </a:spcBef>
              <a:spcAft>
                <a:spcPts val="0"/>
              </a:spcAft>
              <a:buNone/>
            </a:pPr>
            <a:r>
              <a:rPr b="0" i="0" lang="en-US" sz="1100" u="none" cap="none" strike="noStrike">
                <a:solidFill>
                  <a:srgbClr val="5A6673"/>
                </a:solidFill>
                <a:latin typeface="Arial"/>
                <a:ea typeface="Arial"/>
                <a:cs typeface="Arial"/>
                <a:sym typeface="Arial"/>
              </a:rPr>
              <a:t>Gain météo</a:t>
            </a:r>
            <a:br>
              <a:rPr b="0" i="0" lang="en-US" sz="1100" u="none" cap="none" strike="noStrike">
                <a:solidFill>
                  <a:srgbClr val="5A6673"/>
                </a:solidFill>
                <a:latin typeface="Arial"/>
                <a:ea typeface="Arial"/>
                <a:cs typeface="Arial"/>
                <a:sym typeface="Arial"/>
              </a:rPr>
            </a:br>
            <a:r>
              <a:rPr b="0" i="0" lang="en-US" sz="1100" u="none" cap="none" strike="noStrike">
                <a:solidFill>
                  <a:srgbClr val="5A6673"/>
                </a:solidFill>
                <a:latin typeface="Arial"/>
                <a:ea typeface="Arial"/>
                <a:cs typeface="Arial"/>
                <a:sym typeface="Arial"/>
              </a:rPr>
              <a:t>vs sans météo</a:t>
            </a:r>
            <a:endParaRPr/>
          </a:p>
        </p:txBody>
      </p:sp>
      <p:sp>
        <p:nvSpPr>
          <p:cNvPr id="773" name="Google Shape;773;p40"/>
          <p:cNvSpPr/>
          <p:nvPr/>
        </p:nvSpPr>
        <p:spPr>
          <a:xfrm>
            <a:off x="868680" y="3657600"/>
            <a:ext cx="6217920" cy="201168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2F61B8"/>
                </a:solidFill>
                <a:latin typeface="Arial"/>
                <a:ea typeface="Arial"/>
                <a:cs typeface="Arial"/>
                <a:sym typeface="Arial"/>
              </a:rPr>
              <a:t>INTERPRÉTATION</a:t>
            </a:r>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Les prévisions ICON réduisent la MAE de 21,7 %.</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RMSE : 247,51 MW ; R² : 0,944 sur le test 2025.</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Oracle réentraîné sur les mêmes dates : MAE 178,30 MW (météo quotidienne).</a:t>
            </a:r>
            <a:endParaRPr/>
          </a:p>
        </p:txBody>
      </p:sp>
      <p:sp>
        <p:nvSpPr>
          <p:cNvPr id="774" name="Google Shape;774;p40"/>
          <p:cNvSpPr/>
          <p:nvPr/>
        </p:nvSpPr>
        <p:spPr>
          <a:xfrm>
            <a:off x="7543800" y="3657600"/>
            <a:ext cx="6126480" cy="2011680"/>
          </a:xfrm>
          <a:prstGeom prst="roundRect">
            <a:avLst>
              <a:gd fmla="val 16667" name="adj"/>
            </a:avLst>
          </a:prstGeom>
          <a:solidFill>
            <a:srgbClr val="FFF5E8"/>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164575" spcFirstLastPara="1" rIns="146300"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E68D35"/>
                </a:solidFill>
                <a:latin typeface="Arial"/>
                <a:ea typeface="Arial"/>
                <a:cs typeface="Arial"/>
                <a:sym typeface="Arial"/>
              </a:rPr>
              <a:t>POINT DE VIGILANCE</a:t>
            </a:r>
            <a:endParaRPr/>
          </a:p>
          <a:p>
            <a:pPr indent="0" lvl="0" marL="0" marR="0" rtl="0" algn="l">
              <a:lnSpc>
                <a:spcPct val="100000"/>
              </a:lnSpc>
              <a:spcBef>
                <a:spcPts val="300"/>
              </a:spcBef>
              <a:spcAft>
                <a:spcPts val="0"/>
              </a:spcAft>
              <a:buNone/>
            </a:pPr>
            <a:r>
              <a:rPr b="0" i="0" lang="en-US" sz="1500" u="none" cap="none" strike="noStrike">
                <a:solidFill>
                  <a:srgbClr val="12202F"/>
                </a:solidFill>
                <a:latin typeface="Arial"/>
                <a:ea typeface="Arial"/>
                <a:cs typeface="Arial"/>
                <a:sym typeface="Arial"/>
              </a:rPr>
              <a:t>Prévisions à 48 h utilisées pour une consommation à H+24.</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Marge de publication supposée : 24 h ; à auditer par run.</a:t>
            </a:r>
            <a:endParaRPr/>
          </a:p>
          <a:p>
            <a:pPr indent="0" lvl="0" marL="0" marR="0" rtl="0" algn="l">
              <a:lnSpc>
                <a:spcPct val="100000"/>
              </a:lnSpc>
              <a:spcBef>
                <a:spcPts val="500"/>
              </a:spcBef>
              <a:spcAft>
                <a:spcPts val="0"/>
              </a:spcAft>
              <a:buNone/>
            </a:pPr>
            <a:r>
              <a:rPr b="0" i="0" lang="en-US" sz="1500" u="none" cap="none" strike="noStrike">
                <a:solidFill>
                  <a:srgbClr val="12202F"/>
                </a:solidFill>
                <a:latin typeface="Arial"/>
                <a:ea typeface="Arial"/>
                <a:cs typeface="Arial"/>
                <a:sym typeface="Arial"/>
              </a:rPr>
              <a:t>Test rétrospectif : aucune performance en production réelle mesurée.</a:t>
            </a:r>
            <a:endParaRPr/>
          </a:p>
        </p:txBody>
      </p:sp>
      <p:sp>
        <p:nvSpPr>
          <p:cNvPr id="775" name="Google Shape;775;p40"/>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C5.2.</a:t>
            </a:r>
            <a:r>
              <a:rPr b="1" lang="en-US" sz="1200">
                <a:solidFill>
                  <a:srgbClr val="2F61B8"/>
                </a:solidFill>
                <a:latin typeface="Calibri"/>
                <a:ea typeface="Calibri"/>
                <a:cs typeface="Calibri"/>
                <a:sym typeface="Calibri"/>
              </a:rPr>
              <a:t>4</a:t>
            </a:r>
            <a:endParaRPr b="1" sz="1200">
              <a:solidFill>
                <a:srgbClr val="2F61B8"/>
              </a:solidFill>
              <a:latin typeface="Calibri"/>
              <a:ea typeface="Calibri"/>
              <a:cs typeface="Calibri"/>
              <a:sym typeface="Calibri"/>
            </a:endParaRPr>
          </a:p>
        </p:txBody>
      </p:sp>
      <p:sp>
        <p:nvSpPr>
          <p:cNvPr id="776" name="Google Shape;776;p40"/>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7" name="Google Shape;777;p40"/>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1" name="Shape 781"/>
        <p:cNvGrpSpPr/>
        <p:nvPr/>
      </p:nvGrpSpPr>
      <p:grpSpPr>
        <a:xfrm>
          <a:off x="0" y="0"/>
          <a:ext cx="0" cy="0"/>
          <a:chOff x="0" y="0"/>
          <a:chExt cx="0" cy="0"/>
        </a:xfrm>
      </p:grpSpPr>
      <p:sp>
        <p:nvSpPr>
          <p:cNvPr id="782" name="Google Shape;782;p41"/>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Résultats</a:t>
            </a:r>
            <a:endParaRPr b="0" i="0" sz="1400" u="none" cap="none" strike="noStrike">
              <a:solidFill>
                <a:srgbClr val="000000"/>
              </a:solidFill>
              <a:latin typeface="Arial"/>
              <a:ea typeface="Arial"/>
              <a:cs typeface="Arial"/>
              <a:sym typeface="Arial"/>
            </a:endParaRPr>
          </a:p>
        </p:txBody>
      </p:sp>
      <p:sp>
        <p:nvSpPr>
          <p:cNvPr id="783" name="Google Shape;783;p41"/>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Test 2025 — candidat avec météo prévue</a:t>
            </a:r>
            <a:endParaRPr b="0" i="0" sz="1400" u="none" cap="none" strike="noStrike">
              <a:solidFill>
                <a:srgbClr val="000000"/>
              </a:solidFill>
              <a:latin typeface="Arial"/>
              <a:ea typeface="Arial"/>
              <a:cs typeface="Arial"/>
              <a:sym typeface="Arial"/>
            </a:endParaRPr>
          </a:p>
        </p:txBody>
      </p:sp>
      <p:sp>
        <p:nvSpPr>
          <p:cNvPr id="784" name="Google Shape;784;p41"/>
          <p:cNvSpPr/>
          <p:nvPr/>
        </p:nvSpPr>
        <p:spPr>
          <a:xfrm>
            <a:off x="187050"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258,9 MW</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Baseline MAE</a:t>
            </a:r>
            <a:endParaRPr b="0" i="0" sz="1400" u="none" cap="none" strike="noStrike">
              <a:solidFill>
                <a:srgbClr val="000000"/>
              </a:solidFill>
              <a:latin typeface="Arial"/>
              <a:ea typeface="Arial"/>
              <a:cs typeface="Arial"/>
              <a:sym typeface="Arial"/>
            </a:endParaRPr>
          </a:p>
        </p:txBody>
      </p:sp>
      <p:sp>
        <p:nvSpPr>
          <p:cNvPr id="785" name="Google Shape;785;p41"/>
          <p:cNvSpPr/>
          <p:nvPr/>
        </p:nvSpPr>
        <p:spPr>
          <a:xfrm>
            <a:off x="3113130"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lang="en-US" sz="2600">
                <a:solidFill>
                  <a:srgbClr val="2F61B8"/>
                </a:solidFill>
                <a:latin typeface="Calibri"/>
                <a:ea typeface="Calibri"/>
                <a:cs typeface="Calibri"/>
                <a:sym typeface="Calibri"/>
              </a:rPr>
              <a:t>177,4 MW</a:t>
            </a:r>
            <a:r>
              <a:rPr b="1" i="0" lang="en-US" sz="2600" u="none" cap="none" strike="noStrike">
                <a:solidFill>
                  <a:srgbClr val="2F61B8"/>
                </a:solidFill>
                <a:latin typeface="Calibri"/>
                <a:ea typeface="Calibri"/>
                <a:cs typeface="Calibri"/>
                <a:sym typeface="Calibri"/>
              </a:rP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MAE météo prévue</a:t>
            </a:r>
            <a:endParaRPr b="0" i="0" sz="1400" u="none" cap="none" strike="noStrike">
              <a:solidFill>
                <a:srgbClr val="000000"/>
              </a:solidFill>
              <a:latin typeface="Arial"/>
              <a:ea typeface="Arial"/>
              <a:cs typeface="Arial"/>
              <a:sym typeface="Arial"/>
            </a:endParaRPr>
          </a:p>
        </p:txBody>
      </p:sp>
      <p:sp>
        <p:nvSpPr>
          <p:cNvPr id="786" name="Google Shape;786;p41"/>
          <p:cNvSpPr/>
          <p:nvPr/>
        </p:nvSpPr>
        <p:spPr>
          <a:xfrm>
            <a:off x="6039210"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≈31,5 %</a:t>
            </a:r>
            <a:r>
              <a:rPr b="1" lang="en-US" sz="2600">
                <a:solidFill>
                  <a:srgbClr val="2F61B8"/>
                </a:solidFill>
                <a:latin typeface="Calibri"/>
                <a:ea typeface="Calibri"/>
                <a:cs typeface="Calibri"/>
                <a:sym typeface="Calibri"/>
              </a:rPr>
              <a:t/>
            </a:r>
            <a:r>
              <a:rPr b="1" i="0" lang="en-US" sz="2600" u="none" cap="none" strike="noStrike">
                <a:solidFill>
                  <a:srgbClr val="2F61B8"/>
                </a:solidFill>
                <a:latin typeface="Calibri"/>
                <a:ea typeface="Calibri"/>
                <a:cs typeface="Calibri"/>
                <a:sym typeface="Calibri"/>
              </a:rP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gain vs baseline</a:t>
            </a:r>
            <a:endParaRPr b="0" i="0" sz="1400" u="none" cap="none" strike="noStrike">
              <a:solidFill>
                <a:srgbClr val="000000"/>
              </a:solidFill>
              <a:latin typeface="Arial"/>
              <a:ea typeface="Arial"/>
              <a:cs typeface="Arial"/>
              <a:sym typeface="Arial"/>
            </a:endParaRPr>
          </a:p>
        </p:txBody>
      </p:sp>
      <p:sp>
        <p:nvSpPr>
          <p:cNvPr id="787" name="Google Shape;787;p41"/>
          <p:cNvSpPr/>
          <p:nvPr/>
        </p:nvSpPr>
        <p:spPr>
          <a:xfrm>
            <a:off x="8965290"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0,944</a:t>
            </a:r>
            <a:r>
              <a:rPr b="1" lang="en-US" sz="2600">
                <a:solidFill>
                  <a:srgbClr val="2F61B8"/>
                </a:solidFill>
                <a:latin typeface="Calibri"/>
                <a:ea typeface="Calibri"/>
                <a:cs typeface="Calibri"/>
                <a:sym typeface="Calibri"/>
              </a:rP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R² final</a:t>
            </a:r>
            <a:endParaRPr b="0" i="0" sz="1400" u="none" cap="none" strike="noStrike">
              <a:solidFill>
                <a:srgbClr val="000000"/>
              </a:solidFill>
              <a:latin typeface="Arial"/>
              <a:ea typeface="Arial"/>
              <a:cs typeface="Arial"/>
              <a:sym typeface="Arial"/>
            </a:endParaRPr>
          </a:p>
        </p:txBody>
      </p:sp>
      <p:sp>
        <p:nvSpPr>
          <p:cNvPr id="788" name="Google Shape;788;p41"/>
          <p:cNvSpPr txBox="1"/>
          <p:nvPr/>
        </p:nvSpPr>
        <p:spPr>
          <a:xfrm>
            <a:off x="914388" y="4361283"/>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LECTURE MÉTIER</a:t>
            </a:r>
            <a:endParaRPr b="0" i="0" sz="1800" u="none" cap="none" strike="noStrike">
              <a:solidFill>
                <a:srgbClr val="000000"/>
              </a:solidFill>
              <a:latin typeface="Arial"/>
              <a:ea typeface="Arial"/>
              <a:cs typeface="Arial"/>
              <a:sym typeface="Arial"/>
            </a:endParaRPr>
          </a:p>
        </p:txBody>
      </p:sp>
      <p:sp>
        <p:nvSpPr>
          <p:cNvPr id="789" name="Google Shape;789;p41"/>
          <p:cNvSpPr txBox="1"/>
          <p:nvPr/>
        </p:nvSpPr>
        <p:spPr>
          <a:xfrm>
            <a:off x="914388" y="4727043"/>
            <a:ext cx="109728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Le modèle améliore nettement une règle naïve simple.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Il suit correctement la dynamique générale de consommation.</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Les pics restent plus difficiles : axe d’amélioration identifié.</a:t>
            </a:r>
            <a:endParaRPr b="0" i="0" sz="1400" u="none" cap="none" strike="noStrike">
              <a:solidFill>
                <a:srgbClr val="000000"/>
              </a:solidFill>
              <a:latin typeface="Arial"/>
              <a:ea typeface="Arial"/>
              <a:cs typeface="Arial"/>
              <a:sym typeface="Arial"/>
            </a:endParaRPr>
          </a:p>
        </p:txBody>
      </p:sp>
      <p:sp>
        <p:nvSpPr>
          <p:cNvPr id="790" name="Google Shape;790;p41"/>
          <p:cNvSpPr/>
          <p:nvPr/>
        </p:nvSpPr>
        <p:spPr>
          <a:xfrm>
            <a:off x="11883125" y="2486763"/>
            <a:ext cx="2560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lang="en-US" sz="2600">
                <a:solidFill>
                  <a:srgbClr val="2F61B8"/>
                </a:solidFill>
                <a:latin typeface="Calibri"/>
                <a:ea typeface="Calibri"/>
                <a:cs typeface="Calibri"/>
                <a:sym typeface="Calibri"/>
              </a:rPr>
              <a:t>3,76 %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lang="en-US" sz="1100">
                <a:solidFill>
                  <a:srgbClr val="5A6673"/>
                </a:solidFill>
                <a:latin typeface="Calibri"/>
                <a:ea typeface="Calibri"/>
                <a:cs typeface="Calibri"/>
                <a:sym typeface="Calibri"/>
              </a:rPr>
              <a:t>MAE / moyenne (pas MAPE)</a:t>
            </a:r>
            <a:endParaRPr b="0" i="0" sz="1400" u="none" cap="none" strike="noStrike">
              <a:solidFill>
                <a:srgbClr val="000000"/>
              </a:solidFill>
              <a:latin typeface="Arial"/>
              <a:ea typeface="Arial"/>
              <a:cs typeface="Arial"/>
              <a:sym typeface="Arial"/>
            </a:endParaRPr>
          </a:p>
        </p:txBody>
      </p:sp>
      <p:sp>
        <p:nvSpPr>
          <p:cNvPr id="791" name="Google Shape;791;p41"/>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2" name="Google Shape;792;p41"/>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6" name="Shape 796"/>
        <p:cNvGrpSpPr/>
        <p:nvPr/>
      </p:nvGrpSpPr>
      <p:grpSpPr>
        <a:xfrm>
          <a:off x="0" y="0"/>
          <a:ext cx="0" cy="0"/>
          <a:chOff x="0" y="0"/>
          <a:chExt cx="0" cy="0"/>
        </a:xfrm>
      </p:grpSpPr>
      <p:sp>
        <p:nvSpPr>
          <p:cNvPr id="797" name="Google Shape;797;p42"/>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Résultats</a:t>
            </a:r>
            <a:endParaRPr b="0" i="0" sz="1400" u="none" cap="none" strike="noStrike">
              <a:solidFill>
                <a:srgbClr val="000000"/>
              </a:solidFill>
              <a:latin typeface="Arial"/>
              <a:ea typeface="Arial"/>
              <a:cs typeface="Arial"/>
              <a:sym typeface="Arial"/>
            </a:endParaRPr>
          </a:p>
        </p:txBody>
      </p:sp>
      <p:sp>
        <p:nvSpPr>
          <p:cNvPr id="798" name="Google Shape;798;p42"/>
          <p:cNvSpPr txBox="1"/>
          <p:nvPr/>
        </p:nvSpPr>
        <p:spPr>
          <a:xfrm>
            <a:off x="731520" y="502920"/>
            <a:ext cx="9875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Test 2025 — candidat avec météo prévue</a:t>
            </a:r>
            <a:endParaRPr b="0" i="0" sz="1400" u="none" cap="none" strike="noStrike">
              <a:solidFill>
                <a:srgbClr val="000000"/>
              </a:solidFill>
              <a:latin typeface="Arial"/>
              <a:ea typeface="Arial"/>
              <a:cs typeface="Arial"/>
              <a:sym typeface="Arial"/>
            </a:endParaRPr>
          </a:p>
        </p:txBody>
      </p:sp>
      <p:pic>
        <p:nvPicPr>
          <p:cNvPr id="799" name="Google Shape;799;p42"/>
          <p:cNvPicPr preferRelativeResize="0"/>
          <p:nvPr/>
        </p:nvPicPr>
        <p:blipFill>
          <a:blip r:embed="rId3">
            <a:alphaModFix/>
          </a:blip>
          <a:stretch>
            <a:fillRect/>
          </a:stretch>
        </p:blipFill>
        <p:spPr>
          <a:xfrm>
            <a:off x="2040400" y="1270920"/>
            <a:ext cx="10549601" cy="6330791"/>
          </a:xfrm>
          <a:prstGeom prst="rect">
            <a:avLst/>
          </a:prstGeom>
          <a:noFill/>
          <a:ln>
            <a:noFill/>
          </a:ln>
        </p:spPr>
      </p:pic>
      <p:sp>
        <p:nvSpPr>
          <p:cNvPr id="800" name="Google Shape;800;p42"/>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1" name="Google Shape;801;p42"/>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5" name="Shape 805"/>
        <p:cNvGrpSpPr/>
        <p:nvPr/>
      </p:nvGrpSpPr>
      <p:grpSpPr>
        <a:xfrm>
          <a:off x="0" y="0"/>
          <a:ext cx="0" cy="0"/>
          <a:chOff x="0" y="0"/>
          <a:chExt cx="0" cy="0"/>
        </a:xfrm>
      </p:grpSpPr>
      <p:sp>
        <p:nvSpPr>
          <p:cNvPr id="806" name="Google Shape;806;p43"/>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C5.3.1</a:t>
            </a:r>
            <a:endParaRPr b="0" i="0" sz="1400" u="none" cap="none" strike="noStrike">
              <a:solidFill>
                <a:srgbClr val="000000"/>
              </a:solidFill>
              <a:latin typeface="Arial"/>
              <a:ea typeface="Arial"/>
              <a:cs typeface="Arial"/>
              <a:sym typeface="Arial"/>
            </a:endParaRPr>
          </a:p>
        </p:txBody>
      </p:sp>
      <p:sp>
        <p:nvSpPr>
          <p:cNvPr id="807" name="Google Shape;807;p43"/>
          <p:cNvSpPr txBox="1"/>
          <p:nvPr/>
        </p:nvSpPr>
        <p:spPr>
          <a:xfrm>
            <a:off x="731520" y="502920"/>
            <a:ext cx="9875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Sauvegarder et réutiliser le modèle</a:t>
            </a:r>
            <a:endParaRPr b="0" i="0" sz="1400" u="none" cap="none" strike="noStrike">
              <a:solidFill>
                <a:srgbClr val="000000"/>
              </a:solidFill>
              <a:latin typeface="Arial"/>
              <a:ea typeface="Arial"/>
              <a:cs typeface="Arial"/>
              <a:sym typeface="Arial"/>
            </a:endParaRPr>
          </a:p>
        </p:txBody>
      </p:sp>
      <p:sp>
        <p:nvSpPr>
          <p:cNvPr id="808" name="Google Shape;808;p43"/>
          <p:cNvSpPr txBox="1"/>
          <p:nvPr/>
        </p:nvSpPr>
        <p:spPr>
          <a:xfrm>
            <a:off x="822960" y="173736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ARTEFACTS</a:t>
            </a:r>
            <a:endParaRPr b="0" i="0" sz="1800" u="none" cap="none" strike="noStrike">
              <a:solidFill>
                <a:srgbClr val="000000"/>
              </a:solidFill>
              <a:latin typeface="Arial"/>
              <a:ea typeface="Arial"/>
              <a:cs typeface="Arial"/>
              <a:sym typeface="Arial"/>
            </a:endParaRPr>
          </a:p>
        </p:txBody>
      </p:sp>
      <p:sp>
        <p:nvSpPr>
          <p:cNvPr id="809" name="Google Shape;809;p43"/>
          <p:cNvSpPr txBox="1"/>
          <p:nvPr/>
        </p:nvSpPr>
        <p:spPr>
          <a:xfrm>
            <a:off x="822960" y="2103120"/>
            <a:ext cx="56694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artifacts/forecast_trial/meteo_prevue.joblib</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artifacts/forecast_trial/metadata.json</a:t>
            </a:r>
            <a:endParaRPr b="0" i="0" sz="1400" u="none" cap="none" strike="noStrike">
              <a:solidFill>
                <a:srgbClr val="000000"/>
              </a:solidFill>
              <a:latin typeface="Arial"/>
              <a:ea typeface="Arial"/>
              <a:cs typeface="Arial"/>
              <a:sym typeface="Arial"/>
            </a:endParaRPr>
          </a:p>
        </p:txBody>
      </p:sp>
      <p:sp>
        <p:nvSpPr>
          <p:cNvPr id="810" name="Google Shape;810;p43"/>
          <p:cNvSpPr txBox="1"/>
          <p:nvPr/>
        </p:nvSpPr>
        <p:spPr>
          <a:xfrm>
            <a:off x="7594700" y="438913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MÉTADONNÉES</a:t>
            </a:r>
            <a:endParaRPr b="0" i="0" sz="1800" u="none" cap="none" strike="noStrike">
              <a:solidFill>
                <a:srgbClr val="000000"/>
              </a:solidFill>
              <a:latin typeface="Arial"/>
              <a:ea typeface="Arial"/>
              <a:cs typeface="Arial"/>
              <a:sym typeface="Arial"/>
            </a:endParaRPr>
          </a:p>
        </p:txBody>
      </p:sp>
      <p:sp>
        <p:nvSpPr>
          <p:cNvPr id="811" name="Google Shape;811;p43"/>
          <p:cNvSpPr txBox="1"/>
          <p:nvPr/>
        </p:nvSpPr>
        <p:spPr>
          <a:xfrm>
            <a:off x="7594700" y="4754903"/>
            <a:ext cx="4114800" cy="19395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weather_model : icon_global</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13 variables (10 + 3 météo)</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hyperparamètres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metrics : test 2025 (3 configurations)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offset : previous_day2</a:t>
            </a:r>
            <a:endParaRPr b="0" i="0" sz="1400" u="none" cap="none" strike="noStrike">
              <a:solidFill>
                <a:srgbClr val="000000"/>
              </a:solidFill>
              <a:latin typeface="Arial"/>
              <a:ea typeface="Arial"/>
              <a:cs typeface="Arial"/>
              <a:sym typeface="Arial"/>
            </a:endParaRPr>
          </a:p>
        </p:txBody>
      </p:sp>
      <p:sp>
        <p:nvSpPr>
          <p:cNvPr id="812" name="Google Shape;812;p43"/>
          <p:cNvSpPr txBox="1"/>
          <p:nvPr/>
        </p:nvSpPr>
        <p:spPr>
          <a:xfrm>
            <a:off x="822960" y="43891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RÉUTILISATION</a:t>
            </a:r>
            <a:endParaRPr b="0" i="0" sz="1800" u="none" cap="none" strike="noStrike">
              <a:solidFill>
                <a:srgbClr val="000000"/>
              </a:solidFill>
              <a:latin typeface="Arial"/>
              <a:ea typeface="Arial"/>
              <a:cs typeface="Arial"/>
              <a:sym typeface="Arial"/>
            </a:endParaRPr>
          </a:p>
        </p:txBody>
      </p:sp>
      <p:sp>
        <p:nvSpPr>
          <p:cNvPr id="813" name="Google Shape;813;p43"/>
          <p:cNvSpPr txBox="1"/>
          <p:nvPr/>
        </p:nvSpPr>
        <p:spPr>
          <a:xfrm>
            <a:off x="822960" y="4754880"/>
            <a:ext cx="100584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forecast_trial.py : jointure des prévisions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Modèle candidat sauvegardé avec joblib</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Prédictions exportées dans predictions.csv</a:t>
            </a:r>
            <a:endParaRPr b="0" i="0" sz="1400" u="none" cap="none" strike="noStrike">
              <a:solidFill>
                <a:srgbClr val="000000"/>
              </a:solidFill>
              <a:latin typeface="Arial"/>
              <a:ea typeface="Arial"/>
              <a:cs typeface="Arial"/>
              <a:sym typeface="Arial"/>
            </a:endParaRPr>
          </a:p>
        </p:txBody>
      </p:sp>
      <p:pic>
        <p:nvPicPr>
          <p:cNvPr id="814" name="Google Shape;814;p43"/>
          <p:cNvPicPr preferRelativeResize="0"/>
          <p:nvPr/>
        </p:nvPicPr>
        <p:blipFill rotWithShape="1">
          <a:blip r:embed="rId3">
            <a:alphaModFix/>
          </a:blip>
          <a:srcRect b="0" l="0" r="0" t="0"/>
          <a:stretch/>
        </p:blipFill>
        <p:spPr>
          <a:xfrm>
            <a:off x="8368215" y="1000470"/>
            <a:ext cx="3718560" cy="3197350"/>
          </a:xfrm>
          <a:prstGeom prst="rect">
            <a:avLst/>
          </a:prstGeom>
          <a:noFill/>
          <a:ln>
            <a:noFill/>
          </a:ln>
        </p:spPr>
      </p:pic>
      <p:sp>
        <p:nvSpPr>
          <p:cNvPr id="815" name="Google Shape;815;p43"/>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6" name="Google Shape;816;p43"/>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0" name="Shape 820"/>
        <p:cNvGrpSpPr/>
        <p:nvPr/>
      </p:nvGrpSpPr>
      <p:grpSpPr>
        <a:xfrm>
          <a:off x="0" y="0"/>
          <a:ext cx="0" cy="0"/>
          <a:chOff x="0" y="0"/>
          <a:chExt cx="0" cy="0"/>
        </a:xfrm>
      </p:grpSpPr>
      <p:sp>
        <p:nvSpPr>
          <p:cNvPr id="821" name="Google Shape;821;p44"/>
          <p:cNvSpPr txBox="1"/>
          <p:nvPr/>
        </p:nvSpPr>
        <p:spPr>
          <a:xfrm>
            <a:off x="731520" y="411480"/>
            <a:ext cx="10241400" cy="9876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lang="en-US" sz="3000">
                <a:solidFill>
                  <a:srgbClr val="12202F"/>
                </a:solidFill>
                <a:latin typeface="Calibri"/>
                <a:ea typeface="Calibri"/>
                <a:cs typeface="Calibri"/>
                <a:sym typeface="Calibri"/>
              </a:rPr>
              <a:t>U</a:t>
            </a:r>
            <a:r>
              <a:rPr b="1" i="0" lang="en-US" sz="3000" u="none" cap="none" strike="noStrike">
                <a:solidFill>
                  <a:srgbClr val="12202F"/>
                </a:solidFill>
                <a:latin typeface="Calibri"/>
                <a:ea typeface="Calibri"/>
                <a:cs typeface="Calibri"/>
                <a:sym typeface="Calibri"/>
              </a:rPr>
              <a:t>n modèle sauvegardé et identifiable</a:t>
            </a:r>
            <a:endParaRPr/>
          </a:p>
        </p:txBody>
      </p:sp>
      <p:sp>
        <p:nvSpPr>
          <p:cNvPr id="822" name="Google Shape;822;p44"/>
          <p:cNvSpPr txBox="1"/>
          <p:nvPr/>
        </p:nvSpPr>
        <p:spPr>
          <a:xfrm>
            <a:off x="804672" y="1975104"/>
            <a:ext cx="6291000" cy="7407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1800" u="none" cap="none" strike="noStrike">
                <a:solidFill>
                  <a:srgbClr val="2F61B8"/>
                </a:solidFill>
                <a:latin typeface="Calibri"/>
                <a:ea typeface="Calibri"/>
                <a:cs typeface="Calibri"/>
                <a:sym typeface="Calibri"/>
              </a:rPr>
              <a:t>ARTEFACTS PRODUITS</a:t>
            </a:r>
            <a:endParaRPr/>
          </a:p>
        </p:txBody>
      </p:sp>
      <p:sp>
        <p:nvSpPr>
          <p:cNvPr id="823" name="Google Shape;823;p44"/>
          <p:cNvSpPr txBox="1"/>
          <p:nvPr/>
        </p:nvSpPr>
        <p:spPr>
          <a:xfrm>
            <a:off x="804672" y="2798064"/>
            <a:ext cx="6291000" cy="3538800"/>
          </a:xfrm>
          <a:prstGeom prst="rect">
            <a:avLst/>
          </a:prstGeom>
          <a:solidFill>
            <a:srgbClr val="F5F8FC"/>
          </a:solid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2100" u="none" cap="none" strike="noStrike">
                <a:solidFill>
                  <a:srgbClr val="12202F"/>
                </a:solidFill>
                <a:latin typeface="Calibri"/>
                <a:ea typeface="Calibri"/>
                <a:cs typeface="Calibri"/>
                <a:sym typeface="Calibri"/>
              </a:rPr>
              <a:t>meteo_prevue.joblib : candidat entraîné</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metadata.json : ICON, périodes et paramètres</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13 variables : 10 historiques + 3 météo</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Dossier : artifacts/forecast_trial/</a:t>
            </a:r>
            <a:endParaRPr/>
          </a:p>
        </p:txBody>
      </p:sp>
      <p:sp>
        <p:nvSpPr>
          <p:cNvPr id="824" name="Google Shape;824;p44"/>
          <p:cNvSpPr txBox="1"/>
          <p:nvPr/>
        </p:nvSpPr>
        <p:spPr>
          <a:xfrm>
            <a:off x="7534656" y="1975104"/>
            <a:ext cx="6291000" cy="7407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1800" u="none" cap="none" strike="noStrike">
                <a:solidFill>
                  <a:srgbClr val="2F61B8"/>
                </a:solidFill>
                <a:latin typeface="Calibri"/>
                <a:ea typeface="Calibri"/>
                <a:cs typeface="Calibri"/>
                <a:sym typeface="Calibri"/>
              </a:rPr>
              <a:t>CONTRAT DE RÉUTILISATION</a:t>
            </a:r>
            <a:endParaRPr/>
          </a:p>
        </p:txBody>
      </p:sp>
      <p:sp>
        <p:nvSpPr>
          <p:cNvPr id="825" name="Google Shape;825;p44"/>
          <p:cNvSpPr txBox="1"/>
          <p:nvPr/>
        </p:nvSpPr>
        <p:spPr>
          <a:xfrm>
            <a:off x="7534656" y="2798064"/>
            <a:ext cx="6291000" cy="3538800"/>
          </a:xfrm>
          <a:prstGeom prst="rect">
            <a:avLst/>
          </a:prstGeom>
          <a:solidFill>
            <a:srgbClr val="F5F8FC"/>
          </a:solid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2100" u="none" cap="none" strike="noStrike">
                <a:solidFill>
                  <a:srgbClr val="12202F"/>
                </a:solidFill>
                <a:latin typeface="Calibri"/>
                <a:ea typeface="Calibri"/>
                <a:cs typeface="Calibri"/>
                <a:sym typeface="Calibri"/>
              </a:rPr>
              <a:t>Horizon : t + 24 h ; région : Nouvelle-Aquitaine</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Ordre des variables fourni par le JSON</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offset : previous_day2</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Trois prévisions horaires ICON requises</a:t>
            </a:r>
            <a:endParaRPr/>
          </a:p>
        </p:txBody>
      </p:sp>
      <p:sp>
        <p:nvSpPr>
          <p:cNvPr id="826" name="Google Shape;826;p44"/>
          <p:cNvSpPr txBox="1"/>
          <p:nvPr/>
        </p:nvSpPr>
        <p:spPr>
          <a:xfrm>
            <a:off x="804672" y="6583680"/>
            <a:ext cx="13167300" cy="8229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1500" u="none" cap="none" strike="noStrike">
                <a:solidFill>
                  <a:srgbClr val="2F61B8"/>
                </a:solidFill>
                <a:latin typeface="Calibri"/>
                <a:ea typeface="Calibri"/>
                <a:cs typeface="Calibri"/>
                <a:sym typeface="Calibri"/>
              </a:rPr>
              <a:t>Artefact : meteo_prevue.joblib (candidat météo prévue)</a:t>
            </a:r>
            <a:endParaRPr/>
          </a:p>
        </p:txBody>
      </p:sp>
      <p:sp>
        <p:nvSpPr>
          <p:cNvPr id="827" name="Google Shape;827;p44"/>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C5.3.1</a:t>
            </a:r>
            <a:endParaRPr b="0" i="0" sz="1400" u="none" cap="none" strike="noStrike">
              <a:solidFill>
                <a:srgbClr val="000000"/>
              </a:solidFill>
              <a:latin typeface="Arial"/>
              <a:ea typeface="Arial"/>
              <a:cs typeface="Arial"/>
              <a:sym typeface="Arial"/>
            </a:endParaRPr>
          </a:p>
        </p:txBody>
      </p:sp>
      <p:sp>
        <p:nvSpPr>
          <p:cNvPr id="828" name="Google Shape;828;p44"/>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9" name="Google Shape;829;p44"/>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3" name="Shape 833"/>
        <p:cNvGrpSpPr/>
        <p:nvPr/>
      </p:nvGrpSpPr>
      <p:grpSpPr>
        <a:xfrm>
          <a:off x="0" y="0"/>
          <a:ext cx="0" cy="0"/>
          <a:chOff x="0" y="0"/>
          <a:chExt cx="0" cy="0"/>
        </a:xfrm>
      </p:grpSpPr>
      <p:sp>
        <p:nvSpPr>
          <p:cNvPr id="834" name="Google Shape;834;p45"/>
          <p:cNvSpPr txBox="1"/>
          <p:nvPr/>
        </p:nvSpPr>
        <p:spPr>
          <a:xfrm>
            <a:off x="731520" y="411480"/>
            <a:ext cx="10241400" cy="9876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lang="en-US" sz="3000">
                <a:solidFill>
                  <a:srgbClr val="12202F"/>
                </a:solidFill>
                <a:latin typeface="Calibri"/>
                <a:ea typeface="Calibri"/>
                <a:cs typeface="Calibri"/>
                <a:sym typeface="Calibri"/>
              </a:rPr>
              <a:t>Prédictions exportées du candidat</a:t>
            </a:r>
            <a:r>
              <a:rPr b="1" i="0" lang="en-US" sz="3000" u="none" cap="none" strike="noStrike">
                <a:solidFill>
                  <a:srgbClr val="12202F"/>
                </a:solidFill>
                <a:latin typeface="Calibri"/>
                <a:ea typeface="Calibri"/>
                <a:cs typeface="Calibri"/>
                <a:sym typeface="Calibri"/>
              </a:rPr>
              <a:t/>
            </a:r>
            <a:endParaRPr/>
          </a:p>
        </p:txBody>
      </p:sp>
      <p:sp>
        <p:nvSpPr>
          <p:cNvPr id="835" name="Google Shape;835;p45"/>
          <p:cNvSpPr txBox="1"/>
          <p:nvPr/>
        </p:nvSpPr>
        <p:spPr>
          <a:xfrm>
            <a:off x="804672" y="1975104"/>
            <a:ext cx="6291000" cy="7407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1800" u="none" cap="none" strike="noStrike">
                <a:solidFill>
                  <a:srgbClr val="2F61B8"/>
                </a:solidFill>
                <a:latin typeface="Calibri"/>
                <a:ea typeface="Calibri"/>
                <a:cs typeface="Calibri"/>
                <a:sym typeface="Calibri"/>
              </a:rPr>
              <a:t>CHAÎNE EXÉCUTÉE</a:t>
            </a:r>
            <a:endParaRPr/>
          </a:p>
        </p:txBody>
      </p:sp>
      <p:sp>
        <p:nvSpPr>
          <p:cNvPr id="836" name="Google Shape;836;p45"/>
          <p:cNvSpPr txBox="1"/>
          <p:nvPr/>
        </p:nvSpPr>
        <p:spPr>
          <a:xfrm>
            <a:off x="804672" y="2798064"/>
            <a:ext cx="6291000" cy="3538800"/>
          </a:xfrm>
          <a:prstGeom prst="rect">
            <a:avLst/>
          </a:prstGeom>
          <a:solidFill>
            <a:srgbClr val="F5F8FC"/>
          </a:solid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2100" u="none" cap="none" strike="noStrike">
                <a:solidFill>
                  <a:srgbClr val="12202F"/>
                </a:solidFill>
                <a:latin typeface="Calibri"/>
                <a:ea typeface="Calibri"/>
                <a:cs typeface="Calibri"/>
                <a:sym typeface="Calibri"/>
              </a:rPr>
              <a:t>1. Sauvegarder avec joblib.dump</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2. Conserver les variables dans metadata.json</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3. Joindre les prévisions ICON à H+24</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4. Exporter les prédictions et valeurs réelles</a:t>
            </a:r>
            <a:endParaRPr/>
          </a:p>
        </p:txBody>
      </p:sp>
      <p:sp>
        <p:nvSpPr>
          <p:cNvPr id="837" name="Google Shape;837;p45"/>
          <p:cNvSpPr txBox="1"/>
          <p:nvPr/>
        </p:nvSpPr>
        <p:spPr>
          <a:xfrm>
            <a:off x="7534656" y="1975104"/>
            <a:ext cx="6291000" cy="7407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1800" u="none" cap="none" strike="noStrike">
                <a:solidFill>
                  <a:srgbClr val="2F61B8"/>
                </a:solidFill>
                <a:latin typeface="Calibri"/>
                <a:ea typeface="Calibri"/>
                <a:cs typeface="Calibri"/>
                <a:sym typeface="Calibri"/>
              </a:rPr>
              <a:t>EXEMPLE EXPORTÉ — TEST 2025</a:t>
            </a:r>
            <a:endParaRPr/>
          </a:p>
        </p:txBody>
      </p:sp>
      <p:sp>
        <p:nvSpPr>
          <p:cNvPr id="838" name="Google Shape;838;p45"/>
          <p:cNvSpPr txBox="1"/>
          <p:nvPr/>
        </p:nvSpPr>
        <p:spPr>
          <a:xfrm>
            <a:off x="7534656" y="2798064"/>
            <a:ext cx="6291000" cy="3538800"/>
          </a:xfrm>
          <a:prstGeom prst="rect">
            <a:avLst/>
          </a:prstGeom>
          <a:solidFill>
            <a:srgbClr val="F5F8FC"/>
          </a:solid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2100" u="none" cap="none" strike="noStrike">
                <a:solidFill>
                  <a:srgbClr val="12202F"/>
                </a:solidFill>
                <a:latin typeface="Calibri"/>
                <a:ea typeface="Calibri"/>
                <a:cs typeface="Calibri"/>
                <a:sym typeface="Calibri"/>
              </a:rPr>
              <a:t>Source : 30/12/2025 à 22:30 UTC</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Cible : 31/12/2025 à 22:30 UTC</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Prédiction : 6826.50 MW</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Réel : 7196.00 MW ; écart : 369.50 MW</a:t>
            </a:r>
            <a:endParaRPr/>
          </a:p>
        </p:txBody>
      </p:sp>
      <p:sp>
        <p:nvSpPr>
          <p:cNvPr id="839" name="Google Shape;839;p45"/>
          <p:cNvSpPr txBox="1"/>
          <p:nvPr/>
        </p:nvSpPr>
        <p:spPr>
          <a:xfrm>
            <a:off x="804672" y="6583680"/>
            <a:ext cx="13167300" cy="8229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1500" u="none" cap="none" strike="noStrike">
                <a:solidFill>
                  <a:srgbClr val="2F61B8"/>
                </a:solidFill>
                <a:latin typeface="Calibri"/>
                <a:ea typeface="Calibri"/>
                <a:cs typeface="Calibri"/>
                <a:sym typeface="Calibri"/>
              </a:rPr>
              <a:t>Source : forecast_trial/predictions.csv ; MAE globale : 177,41 MW.</a:t>
            </a:r>
            <a:endParaRPr/>
          </a:p>
        </p:txBody>
      </p:sp>
      <p:sp>
        <p:nvSpPr>
          <p:cNvPr id="840" name="Google Shape;840;p45"/>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C5.3.1</a:t>
            </a:r>
            <a:endParaRPr b="0" i="0" sz="1400" u="none" cap="none" strike="noStrike">
              <a:solidFill>
                <a:srgbClr val="000000"/>
              </a:solidFill>
              <a:latin typeface="Arial"/>
              <a:ea typeface="Arial"/>
              <a:cs typeface="Arial"/>
              <a:sym typeface="Arial"/>
            </a:endParaRPr>
          </a:p>
        </p:txBody>
      </p:sp>
      <p:sp>
        <p:nvSpPr>
          <p:cNvPr id="841" name="Google Shape;841;p45"/>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2" name="Google Shape;842;p45"/>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6" name="Shape 846"/>
        <p:cNvGrpSpPr/>
        <p:nvPr/>
      </p:nvGrpSpPr>
      <p:grpSpPr>
        <a:xfrm>
          <a:off x="0" y="0"/>
          <a:ext cx="0" cy="0"/>
          <a:chOff x="0" y="0"/>
          <a:chExt cx="0" cy="0"/>
        </a:xfrm>
      </p:grpSpPr>
      <p:sp>
        <p:nvSpPr>
          <p:cNvPr id="847" name="Google Shape;847;p46"/>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C5.3.2</a:t>
            </a:r>
            <a:endParaRPr b="0" i="0" sz="1400" u="none" cap="none" strike="noStrike">
              <a:solidFill>
                <a:srgbClr val="000000"/>
              </a:solidFill>
              <a:latin typeface="Arial"/>
              <a:ea typeface="Arial"/>
              <a:cs typeface="Arial"/>
              <a:sym typeface="Arial"/>
            </a:endParaRPr>
          </a:p>
        </p:txBody>
      </p:sp>
      <p:sp>
        <p:nvSpPr>
          <p:cNvPr id="848" name="Google Shape;848;p46"/>
          <p:cNvSpPr txBox="1"/>
          <p:nvPr/>
        </p:nvSpPr>
        <p:spPr>
          <a:xfrm>
            <a:off x="731520" y="502920"/>
            <a:ext cx="9875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Automatiser les tests et la traçabilité</a:t>
            </a:r>
            <a:endParaRPr b="0" i="0" sz="1400" u="none" cap="none" strike="noStrike">
              <a:solidFill>
                <a:srgbClr val="000000"/>
              </a:solidFill>
              <a:latin typeface="Arial"/>
              <a:ea typeface="Arial"/>
              <a:cs typeface="Arial"/>
              <a:sym typeface="Arial"/>
            </a:endParaRPr>
          </a:p>
        </p:txBody>
      </p:sp>
      <p:sp>
        <p:nvSpPr>
          <p:cNvPr id="849" name="Google Shape;849;p46"/>
          <p:cNvSpPr txBox="1"/>
          <p:nvPr/>
        </p:nvSpPr>
        <p:spPr>
          <a:xfrm>
            <a:off x="822972" y="1405245"/>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CI/CD LÉGER</a:t>
            </a:r>
            <a:endParaRPr b="0" i="0" sz="1800" u="none" cap="none" strike="noStrike">
              <a:solidFill>
                <a:srgbClr val="000000"/>
              </a:solidFill>
              <a:latin typeface="Arial"/>
              <a:ea typeface="Arial"/>
              <a:cs typeface="Arial"/>
              <a:sym typeface="Arial"/>
            </a:endParaRPr>
          </a:p>
        </p:txBody>
      </p:sp>
      <p:pic>
        <p:nvPicPr>
          <p:cNvPr id="850" name="Google Shape;850;p46"/>
          <p:cNvPicPr preferRelativeResize="0"/>
          <p:nvPr/>
        </p:nvPicPr>
        <p:blipFill rotWithShape="1">
          <a:blip r:embed="rId3">
            <a:alphaModFix/>
          </a:blip>
          <a:srcRect b="0" l="0" r="0" t="0"/>
          <a:stretch/>
        </p:blipFill>
        <p:spPr>
          <a:xfrm>
            <a:off x="774290" y="3227399"/>
            <a:ext cx="5766725" cy="4388875"/>
          </a:xfrm>
          <a:prstGeom prst="rect">
            <a:avLst/>
          </a:prstGeom>
          <a:noFill/>
          <a:ln>
            <a:noFill/>
          </a:ln>
        </p:spPr>
      </p:pic>
      <p:pic>
        <p:nvPicPr>
          <p:cNvPr id="851" name="Google Shape;851;p46"/>
          <p:cNvPicPr preferRelativeResize="0"/>
          <p:nvPr/>
        </p:nvPicPr>
        <p:blipFill rotWithShape="1">
          <a:blip r:embed="rId4">
            <a:alphaModFix/>
          </a:blip>
          <a:srcRect b="0" l="0" r="0" t="0"/>
          <a:stretch/>
        </p:blipFill>
        <p:spPr>
          <a:xfrm>
            <a:off x="6949615" y="4993858"/>
            <a:ext cx="7353300" cy="1619250"/>
          </a:xfrm>
          <a:prstGeom prst="rect">
            <a:avLst/>
          </a:prstGeom>
          <a:noFill/>
          <a:ln>
            <a:noFill/>
          </a:ln>
        </p:spPr>
      </p:pic>
      <p:sp>
        <p:nvSpPr>
          <p:cNvPr id="852" name="Google Shape;852;p46"/>
          <p:cNvSpPr txBox="1"/>
          <p:nvPr/>
        </p:nvSpPr>
        <p:spPr>
          <a:xfrm>
            <a:off x="7057260" y="140524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OBJECTIF</a:t>
            </a:r>
            <a:endParaRPr b="0" i="0" sz="1800" u="none" cap="none" strike="noStrike">
              <a:solidFill>
                <a:srgbClr val="000000"/>
              </a:solidFill>
              <a:latin typeface="Arial"/>
              <a:ea typeface="Arial"/>
              <a:cs typeface="Arial"/>
              <a:sym typeface="Arial"/>
            </a:endParaRPr>
          </a:p>
        </p:txBody>
      </p:sp>
      <p:sp>
        <p:nvSpPr>
          <p:cNvPr id="853" name="Google Shape;853;p46"/>
          <p:cNvSpPr txBox="1"/>
          <p:nvPr/>
        </p:nvSpPr>
        <p:spPr>
          <a:xfrm>
            <a:off x="7057250" y="1771000"/>
            <a:ext cx="6133500" cy="12315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Détecter les régressions du code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Faciliter le déploiement d’une nouvelle version</a:t>
            </a:r>
            <a:endParaRPr b="0" i="0" sz="2000" u="none" cap="none" strike="noStrike">
              <a:solidFill>
                <a:srgbClr val="12202F"/>
              </a:solidFill>
              <a:latin typeface="Calibri"/>
              <a:ea typeface="Calibri"/>
              <a:cs typeface="Calibri"/>
              <a:sym typeface="Calibri"/>
            </a:endParaRPr>
          </a:p>
          <a:p>
            <a:pPr indent="-355600" lvl="0" marL="457200" rtl="0" algn="l">
              <a:spcBef>
                <a:spcPts val="0"/>
              </a:spcBef>
              <a:spcAft>
                <a:spcPts val="0"/>
              </a:spcAft>
              <a:buClr>
                <a:srgbClr val="12202F"/>
              </a:buClr>
              <a:buSzPts val="2000"/>
              <a:buFont typeface="Calibri"/>
              <a:buChar char="●"/>
            </a:pPr>
            <a:r>
              <a:rPr lang="en-US" sz="2000">
                <a:solidFill>
                  <a:srgbClr val="12202F"/>
                </a:solidFill>
                <a:latin typeface="Calibri"/>
                <a:ea typeface="Calibri"/>
                <a:cs typeface="Calibri"/>
                <a:sym typeface="Calibri"/>
              </a:rPr>
              <a:t>Détecter les régressions du code</a:t>
            </a:r>
            <a:endParaRPr sz="2000">
              <a:solidFill>
                <a:srgbClr val="12202F"/>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46"/>
          <p:cNvSpPr txBox="1"/>
          <p:nvPr/>
        </p:nvSpPr>
        <p:spPr>
          <a:xfrm>
            <a:off x="822972" y="1771005"/>
            <a:ext cx="5669400" cy="9696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Test de jointure météo prévue : réussi</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GitHub Actions : exécution automatique des tests</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H+24 en UTC, demi-heures et données manquantes</a:t>
            </a:r>
            <a:endParaRPr b="0" i="0" sz="1400" u="none" cap="none" strike="noStrike">
              <a:solidFill>
                <a:srgbClr val="000000"/>
              </a:solidFill>
              <a:latin typeface="Arial"/>
              <a:ea typeface="Arial"/>
              <a:cs typeface="Arial"/>
              <a:sym typeface="Arial"/>
            </a:endParaRPr>
          </a:p>
        </p:txBody>
      </p:sp>
      <p:pic>
        <p:nvPicPr>
          <p:cNvPr id="855" name="Google Shape;855;p46"/>
          <p:cNvPicPr preferRelativeResize="0"/>
          <p:nvPr/>
        </p:nvPicPr>
        <p:blipFill>
          <a:blip r:embed="rId5">
            <a:alphaModFix/>
          </a:blip>
          <a:stretch>
            <a:fillRect/>
          </a:stretch>
        </p:blipFill>
        <p:spPr>
          <a:xfrm>
            <a:off x="6949615" y="3227400"/>
            <a:ext cx="2417145" cy="1304908"/>
          </a:xfrm>
          <a:prstGeom prst="rect">
            <a:avLst/>
          </a:prstGeom>
          <a:noFill/>
          <a:ln>
            <a:noFill/>
          </a:ln>
        </p:spPr>
      </p:pic>
      <p:sp>
        <p:nvSpPr>
          <p:cNvPr id="856" name="Google Shape;856;p46"/>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7" name="Google Shape;857;p46"/>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1" name="Shape 861"/>
        <p:cNvGrpSpPr/>
        <p:nvPr/>
      </p:nvGrpSpPr>
      <p:grpSpPr>
        <a:xfrm>
          <a:off x="0" y="0"/>
          <a:ext cx="0" cy="0"/>
          <a:chOff x="0" y="0"/>
          <a:chExt cx="0" cy="0"/>
        </a:xfrm>
      </p:grpSpPr>
      <p:sp>
        <p:nvSpPr>
          <p:cNvPr id="862" name="Google Shape;862;p47"/>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C5.3.2</a:t>
            </a:r>
            <a:endParaRPr b="0" i="0" sz="1400" u="none" cap="none" strike="noStrike">
              <a:solidFill>
                <a:srgbClr val="000000"/>
              </a:solidFill>
              <a:latin typeface="Arial"/>
              <a:ea typeface="Arial"/>
              <a:cs typeface="Arial"/>
              <a:sym typeface="Arial"/>
            </a:endParaRPr>
          </a:p>
        </p:txBody>
      </p:sp>
      <p:sp>
        <p:nvSpPr>
          <p:cNvPr id="863" name="Google Shape;863;p47"/>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Automatiser les tests et la traçabilité</a:t>
            </a:r>
            <a:endParaRPr b="0" i="0" sz="1400" u="none" cap="none" strike="noStrike">
              <a:solidFill>
                <a:srgbClr val="000000"/>
              </a:solidFill>
              <a:latin typeface="Arial"/>
              <a:ea typeface="Arial"/>
              <a:cs typeface="Arial"/>
              <a:sym typeface="Arial"/>
            </a:endParaRPr>
          </a:p>
        </p:txBody>
      </p:sp>
      <p:sp>
        <p:nvSpPr>
          <p:cNvPr id="864" name="Google Shape;864;p47"/>
          <p:cNvSpPr txBox="1"/>
          <p:nvPr/>
        </p:nvSpPr>
        <p:spPr>
          <a:xfrm>
            <a:off x="731525" y="116457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MLFLOW</a:t>
            </a:r>
            <a:endParaRPr b="0" i="0" sz="1800" u="none" cap="none" strike="noStrike">
              <a:solidFill>
                <a:srgbClr val="000000"/>
              </a:solidFill>
              <a:latin typeface="Arial"/>
              <a:ea typeface="Arial"/>
              <a:cs typeface="Arial"/>
              <a:sym typeface="Arial"/>
            </a:endParaRPr>
          </a:p>
        </p:txBody>
      </p:sp>
      <p:sp>
        <p:nvSpPr>
          <p:cNvPr id="865" name="Google Shape;865;p47"/>
          <p:cNvSpPr txBox="1"/>
          <p:nvPr/>
        </p:nvSpPr>
        <p:spPr>
          <a:xfrm>
            <a:off x="731525" y="1530330"/>
            <a:ext cx="5212200" cy="12621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Oracle : expérience MLflow existante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Candidat prévu : métriques et JSON locaux</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Artefacts dans artifacts/forecast_trial/</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Candidat prévu : non enregistré au Registry</a:t>
            </a:r>
            <a:endParaRPr b="0" i="0" sz="1400" u="none" cap="none" strike="noStrike">
              <a:solidFill>
                <a:srgbClr val="000000"/>
              </a:solidFill>
              <a:latin typeface="Arial"/>
              <a:ea typeface="Arial"/>
              <a:cs typeface="Arial"/>
              <a:sym typeface="Arial"/>
            </a:endParaRPr>
          </a:p>
        </p:txBody>
      </p:sp>
      <p:sp>
        <p:nvSpPr>
          <p:cNvPr id="866" name="Google Shape;866;p47"/>
          <p:cNvSpPr txBox="1"/>
          <p:nvPr/>
        </p:nvSpPr>
        <p:spPr>
          <a:xfrm>
            <a:off x="822960" y="466344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OBJECTIF</a:t>
            </a:r>
            <a:endParaRPr b="0" i="0" sz="1800" u="none" cap="none" strike="noStrike">
              <a:solidFill>
                <a:srgbClr val="000000"/>
              </a:solidFill>
              <a:latin typeface="Arial"/>
              <a:ea typeface="Arial"/>
              <a:cs typeface="Arial"/>
              <a:sym typeface="Arial"/>
            </a:endParaRPr>
          </a:p>
        </p:txBody>
      </p:sp>
      <p:sp>
        <p:nvSpPr>
          <p:cNvPr id="867" name="Google Shape;867;p47"/>
          <p:cNvSpPr txBox="1"/>
          <p:nvPr/>
        </p:nvSpPr>
        <p:spPr>
          <a:xfrm>
            <a:off x="822955" y="5029200"/>
            <a:ext cx="5669400" cy="10158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Assurer la reproductibilité</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Limiter les régressions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Tracer les versions du modèle</a:t>
            </a:r>
            <a:endParaRPr b="0" i="0" sz="1400" u="none" cap="none" strike="noStrike">
              <a:solidFill>
                <a:srgbClr val="000000"/>
              </a:solidFill>
              <a:latin typeface="Arial"/>
              <a:ea typeface="Arial"/>
              <a:cs typeface="Arial"/>
              <a:sym typeface="Arial"/>
            </a:endParaRPr>
          </a:p>
        </p:txBody>
      </p:sp>
      <p:pic>
        <p:nvPicPr>
          <p:cNvPr id="868" name="Google Shape;868;p47"/>
          <p:cNvPicPr preferRelativeResize="0"/>
          <p:nvPr/>
        </p:nvPicPr>
        <p:blipFill>
          <a:blip r:embed="rId3">
            <a:alphaModFix/>
          </a:blip>
          <a:stretch>
            <a:fillRect/>
          </a:stretch>
        </p:blipFill>
        <p:spPr>
          <a:xfrm>
            <a:off x="6644755" y="1329453"/>
            <a:ext cx="7833246" cy="5570689"/>
          </a:xfrm>
          <a:prstGeom prst="rect">
            <a:avLst/>
          </a:prstGeom>
          <a:noFill/>
          <a:ln>
            <a:noFill/>
          </a:ln>
        </p:spPr>
      </p:pic>
      <p:sp>
        <p:nvSpPr>
          <p:cNvPr id="869" name="Google Shape;869;p47"/>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0" name="Google Shape;870;p47"/>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4" name="Shape 874"/>
        <p:cNvGrpSpPr/>
        <p:nvPr/>
      </p:nvGrpSpPr>
      <p:grpSpPr>
        <a:xfrm>
          <a:off x="0" y="0"/>
          <a:ext cx="0" cy="0"/>
          <a:chOff x="0" y="0"/>
          <a:chExt cx="0" cy="0"/>
        </a:xfrm>
      </p:grpSpPr>
      <p:sp>
        <p:nvSpPr>
          <p:cNvPr id="875" name="Google Shape;875;p48"/>
          <p:cNvSpPr txBox="1"/>
          <p:nvPr/>
        </p:nvSpPr>
        <p:spPr>
          <a:xfrm>
            <a:off x="731520" y="411480"/>
            <a:ext cx="10241400" cy="9876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lang="en-US" sz="3000">
                <a:solidFill>
                  <a:srgbClr val="12202F"/>
                </a:solidFill>
                <a:latin typeface="Calibri"/>
                <a:ea typeface="Calibri"/>
                <a:cs typeface="Calibri"/>
                <a:sym typeface="Calibri"/>
              </a:rPr>
              <a:t>Traçabilité — oracle enregistré, candidat local</a:t>
            </a:r>
            <a:r>
              <a:rPr b="1" i="0" lang="en-US" sz="3000" u="none" cap="none" strike="noStrike">
                <a:solidFill>
                  <a:srgbClr val="12202F"/>
                </a:solidFill>
                <a:latin typeface="Calibri"/>
                <a:ea typeface="Calibri"/>
                <a:cs typeface="Calibri"/>
                <a:sym typeface="Calibri"/>
              </a:rPr>
              <a:t/>
            </a:r>
            <a:endParaRPr/>
          </a:p>
        </p:txBody>
      </p:sp>
      <p:sp>
        <p:nvSpPr>
          <p:cNvPr id="876" name="Google Shape;876;p48"/>
          <p:cNvSpPr txBox="1"/>
          <p:nvPr/>
        </p:nvSpPr>
        <p:spPr>
          <a:xfrm>
            <a:off x="804672" y="1975104"/>
            <a:ext cx="6291000" cy="7407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1800" u="none" cap="none" strike="noStrike">
                <a:solidFill>
                  <a:srgbClr val="2F61B8"/>
                </a:solidFill>
                <a:latin typeface="Calibri"/>
                <a:ea typeface="Calibri"/>
                <a:cs typeface="Calibri"/>
                <a:sym typeface="Calibri"/>
              </a:rPr>
              <a:t>MLFLOW : ORACLE HISTORIQUE</a:t>
            </a:r>
            <a:endParaRPr/>
          </a:p>
        </p:txBody>
      </p:sp>
      <p:sp>
        <p:nvSpPr>
          <p:cNvPr id="877" name="Google Shape;877;p48"/>
          <p:cNvSpPr txBox="1"/>
          <p:nvPr/>
        </p:nvSpPr>
        <p:spPr>
          <a:xfrm>
            <a:off x="804672" y="2798064"/>
            <a:ext cx="6291000" cy="3538800"/>
          </a:xfrm>
          <a:prstGeom prst="rect">
            <a:avLst/>
          </a:prstGeom>
          <a:solidFill>
            <a:srgbClr val="F5F8FC"/>
          </a:solid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2100" u="none" cap="none" strike="noStrike">
                <a:solidFill>
                  <a:srgbClr val="12202F"/>
                </a:solidFill>
                <a:latin typeface="Calibri"/>
                <a:ea typeface="Calibri"/>
                <a:cs typeface="Calibri"/>
                <a:sym typeface="Calibri"/>
              </a:rPr>
              <a:t>Oracle : expérience MLflow existante</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Run : complete_oracle_pipeline</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Registry : electricity-consumption-j1-oracle</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Version enregistrée : 1</a:t>
            </a:r>
            <a:endParaRPr/>
          </a:p>
        </p:txBody>
      </p:sp>
      <p:sp>
        <p:nvSpPr>
          <p:cNvPr id="878" name="Google Shape;878;p48"/>
          <p:cNvSpPr txBox="1"/>
          <p:nvPr/>
        </p:nvSpPr>
        <p:spPr>
          <a:xfrm>
            <a:off x="7534656" y="1975104"/>
            <a:ext cx="6291000" cy="7407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1800" u="none" cap="none" strike="noStrike">
                <a:solidFill>
                  <a:srgbClr val="2F61B8"/>
                </a:solidFill>
                <a:latin typeface="Calibri"/>
                <a:ea typeface="Calibri"/>
                <a:cs typeface="Calibri"/>
                <a:sym typeface="Calibri"/>
              </a:rPr>
              <a:t>ÉLÉMENTS TRAÇABLES</a:t>
            </a:r>
            <a:endParaRPr/>
          </a:p>
        </p:txBody>
      </p:sp>
      <p:sp>
        <p:nvSpPr>
          <p:cNvPr id="879" name="Google Shape;879;p48"/>
          <p:cNvSpPr txBox="1"/>
          <p:nvPr/>
        </p:nvSpPr>
        <p:spPr>
          <a:xfrm>
            <a:off x="7534656" y="2798064"/>
            <a:ext cx="6291000" cy="3538800"/>
          </a:xfrm>
          <a:prstGeom prst="rect">
            <a:avLst/>
          </a:prstGeom>
          <a:solidFill>
            <a:srgbClr val="F5F8FC"/>
          </a:solid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2100" u="none" cap="none" strike="noStrike">
                <a:solidFill>
                  <a:srgbClr val="12202F"/>
                </a:solidFill>
                <a:latin typeface="Calibri"/>
                <a:ea typeface="Calibri"/>
                <a:cs typeface="Calibri"/>
                <a:sym typeface="Calibri"/>
              </a:rPr>
              <a:t>Candidat prévu : paramètres et métriques 2025 locaux</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Modèle + métadonnées JSON</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Prédictions, valeurs réelles et exemple exportés</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Aucun alias champion défini à ce jour</a:t>
            </a:r>
            <a:endParaRPr/>
          </a:p>
        </p:txBody>
      </p:sp>
      <p:sp>
        <p:nvSpPr>
          <p:cNvPr id="880" name="Google Shape;880;p48"/>
          <p:cNvSpPr txBox="1"/>
          <p:nvPr/>
        </p:nvSpPr>
        <p:spPr>
          <a:xfrm>
            <a:off x="804672" y="6583680"/>
            <a:ext cx="13167300" cy="8229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1500" u="none" cap="none" strike="noStrike">
                <a:solidFill>
                  <a:srgbClr val="2F61B8"/>
                </a:solidFill>
                <a:latin typeface="Calibri"/>
                <a:ea typeface="Calibri"/>
                <a:cs typeface="Calibri"/>
                <a:sym typeface="Calibri"/>
              </a:rPr>
              <a:t>Run ID : 3208773ee42e47768dfcf49917834e59</a:t>
            </a:r>
            <a:endParaRPr/>
          </a:p>
        </p:txBody>
      </p:sp>
      <p:sp>
        <p:nvSpPr>
          <p:cNvPr id="881" name="Google Shape;881;p48"/>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C5.3.2</a:t>
            </a:r>
            <a:endParaRPr b="0" i="0" sz="1400" u="none" cap="none" strike="noStrike">
              <a:solidFill>
                <a:srgbClr val="000000"/>
              </a:solidFill>
              <a:latin typeface="Arial"/>
              <a:ea typeface="Arial"/>
              <a:cs typeface="Arial"/>
              <a:sym typeface="Arial"/>
            </a:endParaRPr>
          </a:p>
        </p:txBody>
      </p:sp>
      <p:sp>
        <p:nvSpPr>
          <p:cNvPr id="882" name="Google Shape;882;p48"/>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3" name="Google Shape;883;p48"/>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7" name="Shape 887"/>
        <p:cNvGrpSpPr/>
        <p:nvPr/>
      </p:nvGrpSpPr>
      <p:grpSpPr>
        <a:xfrm>
          <a:off x="0" y="0"/>
          <a:ext cx="0" cy="0"/>
          <a:chOff x="0" y="0"/>
          <a:chExt cx="0" cy="0"/>
        </a:xfrm>
      </p:grpSpPr>
      <p:sp>
        <p:nvSpPr>
          <p:cNvPr id="888" name="Google Shape;888;p49"/>
          <p:cNvSpPr txBox="1"/>
          <p:nvPr/>
        </p:nvSpPr>
        <p:spPr>
          <a:xfrm>
            <a:off x="731520" y="411480"/>
            <a:ext cx="10241400" cy="9876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3000" u="none" cap="none" strike="noStrike">
                <a:solidFill>
                  <a:srgbClr val="12202F"/>
                </a:solidFill>
                <a:latin typeface="Calibri"/>
                <a:ea typeface="Calibri"/>
                <a:cs typeface="Calibri"/>
                <a:sym typeface="Calibri"/>
              </a:rPr>
              <a:t>Sélection</a:t>
            </a:r>
            <a:r>
              <a:rPr b="1" lang="en-US" sz="3000">
                <a:solidFill>
                  <a:srgbClr val="12202F"/>
                </a:solidFill>
                <a:latin typeface="Calibri"/>
                <a:ea typeface="Calibri"/>
                <a:cs typeface="Calibri"/>
                <a:sym typeface="Calibri"/>
              </a:rPr>
              <a:t> du</a:t>
            </a:r>
            <a:r>
              <a:rPr b="1" i="0" lang="en-US" sz="3000" u="none" cap="none" strike="noStrike">
                <a:solidFill>
                  <a:srgbClr val="12202F"/>
                </a:solidFill>
                <a:latin typeface="Calibri"/>
                <a:ea typeface="Calibri"/>
                <a:cs typeface="Calibri"/>
                <a:sym typeface="Calibri"/>
              </a:rPr>
              <a:t> meilleur modèle expérimental</a:t>
            </a:r>
            <a:endParaRPr/>
          </a:p>
        </p:txBody>
      </p:sp>
      <p:sp>
        <p:nvSpPr>
          <p:cNvPr id="889" name="Google Shape;889;p49"/>
          <p:cNvSpPr txBox="1"/>
          <p:nvPr/>
        </p:nvSpPr>
        <p:spPr>
          <a:xfrm>
            <a:off x="804672" y="1975104"/>
            <a:ext cx="6291000" cy="7407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1800" u="none" cap="none" strike="noStrike">
                <a:solidFill>
                  <a:srgbClr val="2F61B8"/>
                </a:solidFill>
                <a:latin typeface="Calibri"/>
                <a:ea typeface="Calibri"/>
                <a:cs typeface="Calibri"/>
                <a:sym typeface="Calibri"/>
              </a:rPr>
              <a:t>PROTOCOLE DU NOUVEAU CANDIDAT</a:t>
            </a:r>
            <a:endParaRPr/>
          </a:p>
        </p:txBody>
      </p:sp>
      <p:sp>
        <p:nvSpPr>
          <p:cNvPr id="890" name="Google Shape;890;p49"/>
          <p:cNvSpPr txBox="1"/>
          <p:nvPr/>
        </p:nvSpPr>
        <p:spPr>
          <a:xfrm>
            <a:off x="804672" y="2798064"/>
            <a:ext cx="6291000" cy="3538800"/>
          </a:xfrm>
          <a:prstGeom prst="rect">
            <a:avLst/>
          </a:prstGeom>
          <a:solidFill>
            <a:srgbClr val="F5F8FC"/>
          </a:solid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2100" u="none" cap="none" strike="noStrike">
                <a:solidFill>
                  <a:srgbClr val="12202F"/>
                </a:solidFill>
                <a:latin typeface="Calibri"/>
                <a:ea typeface="Calibri"/>
                <a:cs typeface="Calibri"/>
                <a:sym typeface="Calibri"/>
              </a:rPr>
              <a:t>Même jeu de lignes et mêmes hyperparamètres</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Train : 16 577 observations de 2024</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Test : 17 511 observations de 2025</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Paramètres conservés ; pas de tuning sur 2025</a:t>
            </a:r>
            <a:endParaRPr/>
          </a:p>
        </p:txBody>
      </p:sp>
      <p:sp>
        <p:nvSpPr>
          <p:cNvPr id="891" name="Google Shape;891;p49"/>
          <p:cNvSpPr txBox="1"/>
          <p:nvPr/>
        </p:nvSpPr>
        <p:spPr>
          <a:xfrm>
            <a:off x="7534656" y="1975104"/>
            <a:ext cx="6291000" cy="7407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1800" u="none" cap="none" strike="noStrike">
                <a:solidFill>
                  <a:srgbClr val="2F61B8"/>
                </a:solidFill>
                <a:latin typeface="Calibri"/>
                <a:ea typeface="Calibri"/>
                <a:cs typeface="Calibri"/>
                <a:sym typeface="Calibri"/>
              </a:rPr>
              <a:t>CONFIRMATION SUR LE TEST 2025</a:t>
            </a:r>
            <a:endParaRPr/>
          </a:p>
        </p:txBody>
      </p:sp>
      <p:sp>
        <p:nvSpPr>
          <p:cNvPr id="892" name="Google Shape;892;p49"/>
          <p:cNvSpPr txBox="1"/>
          <p:nvPr/>
        </p:nvSpPr>
        <p:spPr>
          <a:xfrm>
            <a:off x="7534656" y="2798064"/>
            <a:ext cx="6291000" cy="3538800"/>
          </a:xfrm>
          <a:prstGeom prst="rect">
            <a:avLst/>
          </a:prstGeom>
          <a:solidFill>
            <a:srgbClr val="F5F8FC"/>
          </a:solid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2100" u="none" cap="none" strike="noStrike">
                <a:solidFill>
                  <a:srgbClr val="12202F"/>
                </a:solidFill>
                <a:latin typeface="Calibri"/>
                <a:ea typeface="Calibri"/>
                <a:cs typeface="Calibri"/>
                <a:sym typeface="Calibri"/>
              </a:rPr>
              <a:t>HGB sans météo : MAE 226,67 MW</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HGB météo prévue : MAE 177,41 MW</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Gain : 21,7 % de MAE ; R² : 0,944</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Candidat principal : HGB météo prévue</a:t>
            </a:r>
            <a:endParaRPr/>
          </a:p>
        </p:txBody>
      </p:sp>
      <p:sp>
        <p:nvSpPr>
          <p:cNvPr id="893" name="Google Shape;893;p49"/>
          <p:cNvSpPr txBox="1"/>
          <p:nvPr/>
        </p:nvSpPr>
        <p:spPr>
          <a:xfrm>
            <a:off x="804672" y="6583680"/>
            <a:ext cx="13167300" cy="8229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1500" u="none" cap="none" strike="noStrike">
                <a:solidFill>
                  <a:srgbClr val="2F61B8"/>
                </a:solidFill>
                <a:latin typeface="Calibri"/>
                <a:ea typeface="Calibri"/>
                <a:cs typeface="Calibri"/>
                <a:sym typeface="Calibri"/>
              </a:rPr>
              <a:t>Comparaison exploratoire sur 2025 ; confirmation sur une période future nécessaire avant promotion.</a:t>
            </a:r>
            <a:endParaRPr/>
          </a:p>
        </p:txBody>
      </p:sp>
      <p:sp>
        <p:nvSpPr>
          <p:cNvPr id="894" name="Google Shape;894;p49"/>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C5.3.2</a:t>
            </a:r>
            <a:endParaRPr b="0" i="0" sz="1400" u="none" cap="none" strike="noStrike">
              <a:solidFill>
                <a:srgbClr val="000000"/>
              </a:solidFill>
              <a:latin typeface="Arial"/>
              <a:ea typeface="Arial"/>
              <a:cs typeface="Arial"/>
              <a:sym typeface="Arial"/>
            </a:endParaRPr>
          </a:p>
        </p:txBody>
      </p:sp>
      <p:sp>
        <p:nvSpPr>
          <p:cNvPr id="895" name="Google Shape;895;p49"/>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6" name="Google Shape;896;p49"/>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0" name="Shape 900"/>
        <p:cNvGrpSpPr/>
        <p:nvPr/>
      </p:nvGrpSpPr>
      <p:grpSpPr>
        <a:xfrm>
          <a:off x="0" y="0"/>
          <a:ext cx="0" cy="0"/>
          <a:chOff x="0" y="0"/>
          <a:chExt cx="0" cy="0"/>
        </a:xfrm>
      </p:grpSpPr>
      <p:sp>
        <p:nvSpPr>
          <p:cNvPr id="901" name="Google Shape;901;p50"/>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C5.3.3</a:t>
            </a:r>
            <a:endParaRPr b="0" i="0" sz="1400" u="none" cap="none" strike="noStrike">
              <a:solidFill>
                <a:srgbClr val="000000"/>
              </a:solidFill>
              <a:latin typeface="Arial"/>
              <a:ea typeface="Arial"/>
              <a:cs typeface="Arial"/>
              <a:sym typeface="Arial"/>
            </a:endParaRPr>
          </a:p>
        </p:txBody>
      </p:sp>
      <p:sp>
        <p:nvSpPr>
          <p:cNvPr id="902" name="Google Shape;902;p50"/>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Suivi des erreurs — candidat météo prévue</a:t>
            </a:r>
            <a:endParaRPr b="0" i="0" sz="1400" u="none" cap="none" strike="noStrike">
              <a:solidFill>
                <a:srgbClr val="000000"/>
              </a:solidFill>
              <a:latin typeface="Arial"/>
              <a:ea typeface="Arial"/>
              <a:cs typeface="Arial"/>
              <a:sym typeface="Arial"/>
            </a:endParaRPr>
          </a:p>
        </p:txBody>
      </p:sp>
      <p:sp>
        <p:nvSpPr>
          <p:cNvPr id="903" name="Google Shape;903;p50"/>
          <p:cNvSpPr txBox="1"/>
          <p:nvPr/>
        </p:nvSpPr>
        <p:spPr>
          <a:xfrm>
            <a:off x="82296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PROTOTYPE DE MONITORING</a:t>
            </a:r>
            <a:endParaRPr b="0" i="0" sz="1800" u="none" cap="none" strike="noStrike">
              <a:solidFill>
                <a:srgbClr val="000000"/>
              </a:solidFill>
              <a:latin typeface="Arial"/>
              <a:ea typeface="Arial"/>
              <a:cs typeface="Arial"/>
              <a:sym typeface="Arial"/>
            </a:endParaRPr>
          </a:p>
        </p:txBody>
      </p:sp>
      <p:sp>
        <p:nvSpPr>
          <p:cNvPr id="904" name="Google Shape;904;p50"/>
          <p:cNvSpPr txBox="1"/>
          <p:nvPr/>
        </p:nvSpPr>
        <p:spPr>
          <a:xfrm>
            <a:off x="822950" y="2011673"/>
            <a:ext cx="4755000" cy="15546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timestamp source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timestamp prédit</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prédiction MW</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valeur réelle quand disponible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version du modèle</a:t>
            </a:r>
            <a:endParaRPr b="0" i="0" sz="1400" u="none" cap="none" strike="noStrike">
              <a:solidFill>
                <a:srgbClr val="000000"/>
              </a:solidFill>
              <a:latin typeface="Arial"/>
              <a:ea typeface="Arial"/>
              <a:cs typeface="Arial"/>
              <a:sym typeface="Arial"/>
            </a:endParaRPr>
          </a:p>
        </p:txBody>
      </p:sp>
      <p:sp>
        <p:nvSpPr>
          <p:cNvPr id="905" name="Google Shape;905;p50"/>
          <p:cNvSpPr txBox="1"/>
          <p:nvPr/>
        </p:nvSpPr>
        <p:spPr>
          <a:xfrm>
            <a:off x="6858000" y="164592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MÉTRIQUES RECALCULÉES</a:t>
            </a:r>
            <a:endParaRPr b="0" i="0" sz="1800" u="none" cap="none" strike="noStrike">
              <a:solidFill>
                <a:srgbClr val="000000"/>
              </a:solidFill>
              <a:latin typeface="Arial"/>
              <a:ea typeface="Arial"/>
              <a:cs typeface="Arial"/>
              <a:sym typeface="Arial"/>
            </a:endParaRPr>
          </a:p>
        </p:txBody>
      </p:sp>
      <p:sp>
        <p:nvSpPr>
          <p:cNvPr id="906" name="Google Shape;906;p50"/>
          <p:cNvSpPr txBox="1"/>
          <p:nvPr/>
        </p:nvSpPr>
        <p:spPr>
          <a:xfrm>
            <a:off x="6858000" y="2011672"/>
            <a:ext cx="4755000" cy="1262100"/>
          </a:xfrm>
          <a:prstGeom prst="rect">
            <a:avLst/>
          </a:prstGeom>
          <a:noFill/>
          <a:ln>
            <a:noFill/>
          </a:ln>
        </p:spPr>
        <p:txBody>
          <a:bodyPr anchorCtr="0" anchor="t" bIns="45700" lIns="91425" spcFirstLastPara="1" rIns="91425" wrap="square" tIns="45700">
            <a:spAutoFit/>
          </a:bodyPr>
          <a:lstStyle/>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MAE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RMSE</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R²</a:t>
            </a:r>
            <a:endParaRPr b="0" i="0" sz="1400" u="none" cap="none" strike="noStrike">
              <a:solidFill>
                <a:srgbClr val="000000"/>
              </a:solidFill>
              <a:latin typeface="Arial"/>
              <a:ea typeface="Arial"/>
              <a:cs typeface="Arial"/>
              <a:sym typeface="Arial"/>
            </a:endParaRPr>
          </a:p>
          <a:p>
            <a:pPr indent="-349250" lvl="0" marL="457200" marR="0" rtl="0" algn="l">
              <a:lnSpc>
                <a:spcPct val="100000"/>
              </a:lnSpc>
              <a:spcBef>
                <a:spcPts val="0"/>
              </a:spcBef>
              <a:spcAft>
                <a:spcPts val="0"/>
              </a:spcAft>
              <a:buClr>
                <a:srgbClr val="12202F"/>
              </a:buClr>
              <a:buSzPts val="1900"/>
              <a:buFont typeface="Calibri"/>
              <a:buChar char="●"/>
            </a:pPr>
            <a:r>
              <a:rPr b="0" i="0" lang="en-US" sz="1900" u="none" cap="none" strike="noStrike">
                <a:solidFill>
                  <a:srgbClr val="12202F"/>
                </a:solidFill>
                <a:latin typeface="Calibri"/>
                <a:ea typeface="Calibri"/>
                <a:cs typeface="Calibri"/>
                <a:sym typeface="Calibri"/>
              </a:rPr>
              <a:t>fenêtre récente de prédictions</a:t>
            </a:r>
            <a:endParaRPr b="0" i="0" sz="1400" u="none" cap="none" strike="noStrike">
              <a:solidFill>
                <a:srgbClr val="000000"/>
              </a:solidFill>
              <a:latin typeface="Arial"/>
              <a:ea typeface="Arial"/>
              <a:cs typeface="Arial"/>
              <a:sym typeface="Arial"/>
            </a:endParaRPr>
          </a:p>
        </p:txBody>
      </p:sp>
      <p:sp>
        <p:nvSpPr>
          <p:cNvPr id="907" name="Google Shape;907;p50"/>
          <p:cNvSpPr/>
          <p:nvPr/>
        </p:nvSpPr>
        <p:spPr>
          <a:xfrm>
            <a:off x="929925" y="5202978"/>
            <a:ext cx="2743200" cy="914400"/>
          </a:xfrm>
          <a:prstGeom prst="roundRect">
            <a:avLst>
              <a:gd fmla="val 16667" name="adj"/>
            </a:avLst>
          </a:prstGeom>
          <a:solidFill>
            <a:srgbClr val="F5F8FC"/>
          </a:solidFill>
          <a:ln cap="flat" cmpd="sng" w="9525">
            <a:solidFill>
              <a:srgbClr val="DCE4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US" sz="2600" u="none" cap="none" strike="noStrike">
                <a:solidFill>
                  <a:srgbClr val="2F61B8"/>
                </a:solidFill>
                <a:latin typeface="Calibri"/>
                <a:ea typeface="Calibri"/>
                <a:cs typeface="Calibri"/>
                <a:sym typeface="Calibri"/>
              </a:rPr>
              <a:t>&gt; +20%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5A6673"/>
                </a:solidFill>
                <a:latin typeface="Calibri"/>
                <a:ea typeface="Calibri"/>
                <a:cs typeface="Calibri"/>
                <a:sym typeface="Calibri"/>
              </a:rPr>
              <a:t>alerte si MAE</a:t>
            </a:r>
            <a:endParaRPr b="0" i="0" sz="1400" u="none" cap="none" strike="noStrike">
              <a:solidFill>
                <a:srgbClr val="000000"/>
              </a:solidFill>
              <a:latin typeface="Arial"/>
              <a:ea typeface="Arial"/>
              <a:cs typeface="Arial"/>
              <a:sym typeface="Arial"/>
            </a:endParaRPr>
          </a:p>
        </p:txBody>
      </p:sp>
      <p:sp>
        <p:nvSpPr>
          <p:cNvPr id="908" name="Google Shape;908;p50"/>
          <p:cNvSpPr txBox="1"/>
          <p:nvPr/>
        </p:nvSpPr>
        <p:spPr>
          <a:xfrm>
            <a:off x="4297650" y="5147200"/>
            <a:ext cx="8229600" cy="140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monitoring.py compare la MAE récente à la référence ; MLflow conserve les runs.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US" sz="1800" u="none" cap="none" strike="noStrike">
                <a:solidFill>
                  <a:srgbClr val="12202F"/>
                </a:solidFill>
                <a:latin typeface="Calibri"/>
                <a:ea typeface="Calibri"/>
                <a:cs typeface="Calibri"/>
                <a:sym typeface="Calibri"/>
              </a:rPr>
              <a:t>Candidat : predictions.csv ; monitoring continu non activé.</a:t>
            </a:r>
            <a:endParaRPr b="0" i="0" sz="1800" u="none" cap="none" strike="noStrike">
              <a:solidFill>
                <a:srgbClr val="12202F"/>
              </a:solidFill>
              <a:latin typeface="Calibri"/>
              <a:ea typeface="Calibri"/>
              <a:cs typeface="Calibri"/>
              <a:sym typeface="Calibri"/>
            </a:endParaRPr>
          </a:p>
          <a:p>
            <a:pPr indent="0" lvl="0" marL="0" marR="0" rtl="0" algn="l">
              <a:lnSpc>
                <a:spcPct val="100000"/>
              </a:lnSpc>
              <a:spcBef>
                <a:spcPts val="800"/>
              </a:spcBef>
              <a:spcAft>
                <a:spcPts val="0"/>
              </a:spcAft>
              <a:buClr>
                <a:srgbClr val="000000"/>
              </a:buClr>
              <a:buSzPts val="1800"/>
              <a:buFont typeface="Arial"/>
              <a:buNone/>
            </a:pPr>
            <a:r>
              <a:rPr lang="en-US" sz="1800">
                <a:solidFill>
                  <a:srgbClr val="12202F"/>
                </a:solidFill>
                <a:latin typeface="Calibri"/>
                <a:ea typeface="Calibri"/>
                <a:cs typeface="Calibri"/>
                <a:sym typeface="Calibri"/>
              </a:rPr>
              <a:t>Erreurs exportées dans forecast_trial/predictions.csv</a:t>
            </a:r>
            <a:endParaRPr sz="1800">
              <a:solidFill>
                <a:srgbClr val="12202F"/>
              </a:solidFill>
              <a:latin typeface="Calibri"/>
              <a:ea typeface="Calibri"/>
              <a:cs typeface="Calibri"/>
              <a:sym typeface="Calibri"/>
            </a:endParaRPr>
          </a:p>
        </p:txBody>
      </p:sp>
      <p:sp>
        <p:nvSpPr>
          <p:cNvPr id="909" name="Google Shape;909;p50"/>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0" name="Google Shape;910;p50"/>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4" name="Shape 914"/>
        <p:cNvGrpSpPr/>
        <p:nvPr/>
      </p:nvGrpSpPr>
      <p:grpSpPr>
        <a:xfrm>
          <a:off x="0" y="0"/>
          <a:ext cx="0" cy="0"/>
          <a:chOff x="0" y="0"/>
          <a:chExt cx="0" cy="0"/>
        </a:xfrm>
      </p:grpSpPr>
      <p:sp>
        <p:nvSpPr>
          <p:cNvPr id="915" name="Google Shape;915;p51"/>
          <p:cNvSpPr txBox="1"/>
          <p:nvPr/>
        </p:nvSpPr>
        <p:spPr>
          <a:xfrm>
            <a:off x="731520" y="411480"/>
            <a:ext cx="10241400" cy="9876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lang="en-US" sz="3000">
                <a:solidFill>
                  <a:srgbClr val="12202F"/>
                </a:solidFill>
                <a:latin typeface="Calibri"/>
                <a:ea typeface="Calibri"/>
                <a:cs typeface="Calibri"/>
                <a:sym typeface="Calibri"/>
              </a:rPr>
              <a:t>M</a:t>
            </a:r>
            <a:r>
              <a:rPr b="1" i="0" lang="en-US" sz="3000" u="none" cap="none" strike="noStrike">
                <a:solidFill>
                  <a:srgbClr val="12202F"/>
                </a:solidFill>
                <a:latin typeface="Calibri"/>
                <a:ea typeface="Calibri"/>
                <a:cs typeface="Calibri"/>
                <a:sym typeface="Calibri"/>
              </a:rPr>
              <a:t>esurer les erreurs et fixer une alerte</a:t>
            </a:r>
            <a:endParaRPr/>
          </a:p>
        </p:txBody>
      </p:sp>
      <p:sp>
        <p:nvSpPr>
          <p:cNvPr id="916" name="Google Shape;916;p51"/>
          <p:cNvSpPr txBox="1"/>
          <p:nvPr/>
        </p:nvSpPr>
        <p:spPr>
          <a:xfrm>
            <a:off x="804672" y="1975104"/>
            <a:ext cx="6291000" cy="7407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1800" u="none" cap="none" strike="noStrike">
                <a:solidFill>
                  <a:srgbClr val="2F61B8"/>
                </a:solidFill>
                <a:latin typeface="Calibri"/>
                <a:ea typeface="Calibri"/>
                <a:cs typeface="Calibri"/>
                <a:sym typeface="Calibri"/>
              </a:rPr>
              <a:t>RÉSULTATS SUR 17 511 OBSERVATIONS</a:t>
            </a:r>
            <a:endParaRPr/>
          </a:p>
        </p:txBody>
      </p:sp>
      <p:sp>
        <p:nvSpPr>
          <p:cNvPr id="917" name="Google Shape;917;p51"/>
          <p:cNvSpPr txBox="1"/>
          <p:nvPr/>
        </p:nvSpPr>
        <p:spPr>
          <a:xfrm>
            <a:off x="804672" y="2798064"/>
            <a:ext cx="6291000" cy="3538800"/>
          </a:xfrm>
          <a:prstGeom prst="rect">
            <a:avLst/>
          </a:prstGeom>
          <a:solidFill>
            <a:srgbClr val="F5F8FC"/>
          </a:solid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2100" u="none" cap="none" strike="noStrike">
                <a:solidFill>
                  <a:srgbClr val="12202F"/>
                </a:solidFill>
                <a:latin typeface="Calibri"/>
                <a:ea typeface="Calibri"/>
                <a:cs typeface="Calibri"/>
                <a:sym typeface="Calibri"/>
              </a:rPr>
              <a:t>Consommation moyenne : 4 717,35 MW</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MAE : 177,41 MW ; RMSE : 247,51 MW</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MAE / moyenne : 3,76 % (pas la MAPE)</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Source : forecast_trial/predictions.csv et metrics.csv</a:t>
            </a:r>
            <a:endParaRPr/>
          </a:p>
        </p:txBody>
      </p:sp>
      <p:sp>
        <p:nvSpPr>
          <p:cNvPr id="918" name="Google Shape;918;p51"/>
          <p:cNvSpPr txBox="1"/>
          <p:nvPr/>
        </p:nvSpPr>
        <p:spPr>
          <a:xfrm>
            <a:off x="7534656" y="1975104"/>
            <a:ext cx="6291000" cy="7407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1800" u="none" cap="none" strike="noStrike">
                <a:solidFill>
                  <a:srgbClr val="2F61B8"/>
                </a:solidFill>
                <a:latin typeface="Calibri"/>
                <a:ea typeface="Calibri"/>
                <a:cs typeface="Calibri"/>
                <a:sym typeface="Calibri"/>
              </a:rPr>
              <a:t>RÈGLE DU PROTOTYPE DE MONITORING</a:t>
            </a:r>
            <a:endParaRPr/>
          </a:p>
        </p:txBody>
      </p:sp>
      <p:sp>
        <p:nvSpPr>
          <p:cNvPr id="919" name="Google Shape;919;p51"/>
          <p:cNvSpPr txBox="1"/>
          <p:nvPr/>
        </p:nvSpPr>
        <p:spPr>
          <a:xfrm>
            <a:off x="7534656" y="2798064"/>
            <a:ext cx="6291000" cy="3538800"/>
          </a:xfrm>
          <a:prstGeom prst="rect">
            <a:avLst/>
          </a:prstGeom>
          <a:solidFill>
            <a:srgbClr val="F5F8FC"/>
          </a:solid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2100" u="none" cap="none" strike="noStrike">
                <a:solidFill>
                  <a:srgbClr val="12202F"/>
                </a:solidFill>
                <a:latin typeface="Calibri"/>
                <a:ea typeface="Calibri"/>
                <a:cs typeface="Calibri"/>
                <a:sym typeface="Calibri"/>
              </a:rPr>
              <a:t>Comparer la MAE récente à la référence</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Fenêtre par défaut : 500 prédictions évaluées</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Seuil proposé : référence × 1,20</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Avec 177,41 MW : seuil proposé de 212,89 MW</a:t>
            </a:r>
            <a:endParaRPr/>
          </a:p>
        </p:txBody>
      </p:sp>
      <p:sp>
        <p:nvSpPr>
          <p:cNvPr id="920" name="Google Shape;920;p51"/>
          <p:cNvSpPr txBox="1"/>
          <p:nvPr/>
        </p:nvSpPr>
        <p:spPr>
          <a:xfrm>
            <a:off x="804672" y="6583680"/>
            <a:ext cx="13167300" cy="8229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1500" u="none" cap="none" strike="noStrike">
                <a:solidFill>
                  <a:srgbClr val="2F61B8"/>
                </a:solidFill>
                <a:latin typeface="Calibri"/>
                <a:ea typeface="Calibri"/>
                <a:cs typeface="Calibri"/>
                <a:sym typeface="Calibri"/>
              </a:rPr>
              <a:t>monitoring.py implémente la règle ; le candidat prévu n’est pas surveillé en continu.</a:t>
            </a:r>
            <a:endParaRPr/>
          </a:p>
        </p:txBody>
      </p:sp>
      <p:sp>
        <p:nvSpPr>
          <p:cNvPr id="921" name="Google Shape;921;p51"/>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2" name="Google Shape;922;p51"/>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
        <p:nvSpPr>
          <p:cNvPr id="923" name="Google Shape;923;p51"/>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7" name="Shape 927"/>
        <p:cNvGrpSpPr/>
        <p:nvPr/>
      </p:nvGrpSpPr>
      <p:grpSpPr>
        <a:xfrm>
          <a:off x="0" y="0"/>
          <a:ext cx="0" cy="0"/>
          <a:chOff x="0" y="0"/>
          <a:chExt cx="0" cy="0"/>
        </a:xfrm>
      </p:grpSpPr>
      <p:sp>
        <p:nvSpPr>
          <p:cNvPr id="928" name="Google Shape;928;p52"/>
          <p:cNvSpPr/>
          <p:nvPr/>
        </p:nvSpPr>
        <p:spPr>
          <a:xfrm>
            <a:off x="11155680" y="320040"/>
            <a:ext cx="3017520" cy="41148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C5.3.4</a:t>
            </a:r>
            <a:endParaRPr b="0" i="0" sz="1400" u="none" cap="none" strike="noStrike">
              <a:solidFill>
                <a:srgbClr val="000000"/>
              </a:solidFill>
              <a:latin typeface="Arial"/>
              <a:ea typeface="Arial"/>
              <a:cs typeface="Arial"/>
              <a:sym typeface="Arial"/>
            </a:endParaRPr>
          </a:p>
        </p:txBody>
      </p:sp>
      <p:sp>
        <p:nvSpPr>
          <p:cNvPr id="929" name="Google Shape;929;p52"/>
          <p:cNvSpPr txBox="1"/>
          <p:nvPr/>
        </p:nvSpPr>
        <p:spPr>
          <a:xfrm>
            <a:off x="731520" y="502920"/>
            <a:ext cx="987552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Réentraîner — candidat météo prévue</a:t>
            </a:r>
            <a:endParaRPr b="0" i="0" sz="1400" u="none" cap="none" strike="noStrike">
              <a:solidFill>
                <a:srgbClr val="000000"/>
              </a:solidFill>
              <a:latin typeface="Arial"/>
              <a:ea typeface="Arial"/>
              <a:cs typeface="Arial"/>
              <a:sym typeface="Arial"/>
            </a:endParaRPr>
          </a:p>
        </p:txBody>
      </p:sp>
      <p:sp>
        <p:nvSpPr>
          <p:cNvPr id="930" name="Google Shape;930;p52"/>
          <p:cNvSpPr/>
          <p:nvPr/>
        </p:nvSpPr>
        <p:spPr>
          <a:xfrm>
            <a:off x="845817"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Nouvelles</a:t>
            </a:r>
            <a:br>
              <a:rPr b="1" i="0" lang="en-US" sz="1400" u="none" cap="none" strike="noStrike">
                <a:solidFill>
                  <a:srgbClr val="12202F"/>
                </a:solidFill>
                <a:latin typeface="Calibri"/>
                <a:ea typeface="Calibri"/>
                <a:cs typeface="Calibri"/>
                <a:sym typeface="Calibri"/>
              </a:rPr>
            </a:br>
            <a:r>
              <a:rPr b="1" i="0" lang="en-US" sz="1400" u="none" cap="none" strike="noStrike">
                <a:solidFill>
                  <a:srgbClr val="12202F"/>
                </a:solidFill>
                <a:latin typeface="Calibri"/>
                <a:ea typeface="Calibri"/>
                <a:cs typeface="Calibri"/>
                <a:sym typeface="Calibri"/>
              </a:rPr>
              <a:t>données</a:t>
            </a:r>
            <a:endParaRPr b="0" i="0" sz="1400" u="none" cap="none" strike="noStrike">
              <a:solidFill>
                <a:srgbClr val="000000"/>
              </a:solidFill>
              <a:latin typeface="Arial"/>
              <a:ea typeface="Arial"/>
              <a:cs typeface="Arial"/>
              <a:sym typeface="Arial"/>
            </a:endParaRPr>
          </a:p>
        </p:txBody>
      </p:sp>
      <p:cxnSp>
        <p:nvCxnSpPr>
          <p:cNvPr id="931" name="Google Shape;931;p52"/>
          <p:cNvCxnSpPr/>
          <p:nvPr/>
        </p:nvCxnSpPr>
        <p:spPr>
          <a:xfrm>
            <a:off x="261061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932" name="Google Shape;932;p52"/>
          <p:cNvSpPr/>
          <p:nvPr/>
        </p:nvSpPr>
        <p:spPr>
          <a:xfrm>
            <a:off x="308609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Monitoring</a:t>
            </a:r>
            <a:endParaRPr b="0" i="0" sz="1400" u="none" cap="none" strike="noStrike">
              <a:solidFill>
                <a:srgbClr val="000000"/>
              </a:solidFill>
              <a:latin typeface="Arial"/>
              <a:ea typeface="Arial"/>
              <a:cs typeface="Arial"/>
              <a:sym typeface="Arial"/>
            </a:endParaRPr>
          </a:p>
        </p:txBody>
      </p:sp>
      <p:cxnSp>
        <p:nvCxnSpPr>
          <p:cNvPr id="933" name="Google Shape;933;p52"/>
          <p:cNvCxnSpPr/>
          <p:nvPr/>
        </p:nvCxnSpPr>
        <p:spPr>
          <a:xfrm>
            <a:off x="485089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934" name="Google Shape;934;p52"/>
          <p:cNvSpPr/>
          <p:nvPr/>
        </p:nvSpPr>
        <p:spPr>
          <a:xfrm>
            <a:off x="532637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Réentraînement</a:t>
            </a:r>
            <a:endParaRPr b="0" i="0" sz="1400" u="none" cap="none" strike="noStrike">
              <a:solidFill>
                <a:srgbClr val="000000"/>
              </a:solidFill>
              <a:latin typeface="Arial"/>
              <a:ea typeface="Arial"/>
              <a:cs typeface="Arial"/>
              <a:sym typeface="Arial"/>
            </a:endParaRPr>
          </a:p>
        </p:txBody>
      </p:sp>
      <p:cxnSp>
        <p:nvCxnSpPr>
          <p:cNvPr id="935" name="Google Shape;935;p52"/>
          <p:cNvCxnSpPr/>
          <p:nvPr/>
        </p:nvCxnSpPr>
        <p:spPr>
          <a:xfrm>
            <a:off x="709117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936" name="Google Shape;936;p52"/>
          <p:cNvSpPr/>
          <p:nvPr/>
        </p:nvSpPr>
        <p:spPr>
          <a:xfrm>
            <a:off x="756665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Modèle</a:t>
            </a:r>
            <a:br>
              <a:rPr b="1" i="0" lang="en-US" sz="1400" u="none" cap="none" strike="noStrike">
                <a:solidFill>
                  <a:srgbClr val="12202F"/>
                </a:solidFill>
                <a:latin typeface="Calibri"/>
                <a:ea typeface="Calibri"/>
                <a:cs typeface="Calibri"/>
                <a:sym typeface="Calibri"/>
              </a:rPr>
            </a:br>
            <a:r>
              <a:rPr b="1" i="0" lang="en-US" sz="1400" u="none" cap="none" strike="noStrike">
                <a:solidFill>
                  <a:srgbClr val="12202F"/>
                </a:solidFill>
                <a:latin typeface="Calibri"/>
                <a:ea typeface="Calibri"/>
                <a:cs typeface="Calibri"/>
                <a:sym typeface="Calibri"/>
              </a:rPr>
              <a:t>candidat</a:t>
            </a:r>
            <a:endParaRPr b="0" i="0" sz="1400" u="none" cap="none" strike="noStrike">
              <a:solidFill>
                <a:srgbClr val="000000"/>
              </a:solidFill>
              <a:latin typeface="Arial"/>
              <a:ea typeface="Arial"/>
              <a:cs typeface="Arial"/>
              <a:sym typeface="Arial"/>
            </a:endParaRPr>
          </a:p>
        </p:txBody>
      </p:sp>
      <p:cxnSp>
        <p:nvCxnSpPr>
          <p:cNvPr id="937" name="Google Shape;937;p52"/>
          <p:cNvCxnSpPr/>
          <p:nvPr/>
        </p:nvCxnSpPr>
        <p:spPr>
          <a:xfrm>
            <a:off x="933145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938" name="Google Shape;938;p52"/>
          <p:cNvSpPr/>
          <p:nvPr/>
        </p:nvSpPr>
        <p:spPr>
          <a:xfrm>
            <a:off x="980693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MLflow</a:t>
            </a:r>
            <a:br>
              <a:rPr b="1" i="0" lang="en-US" sz="1400" u="none" cap="none" strike="noStrike">
                <a:solidFill>
                  <a:srgbClr val="12202F"/>
                </a:solidFill>
                <a:latin typeface="Calibri"/>
                <a:ea typeface="Calibri"/>
                <a:cs typeface="Calibri"/>
                <a:sym typeface="Calibri"/>
              </a:rPr>
            </a:br>
            <a:r>
              <a:rPr b="1" i="0" lang="en-US" sz="1400" u="none" cap="none" strike="noStrike">
                <a:solidFill>
                  <a:srgbClr val="12202F"/>
                </a:solidFill>
                <a:latin typeface="Calibri"/>
                <a:ea typeface="Calibri"/>
                <a:cs typeface="Calibri"/>
                <a:sym typeface="Calibri"/>
              </a:rPr>
              <a:t>Registry</a:t>
            </a:r>
            <a:endParaRPr b="0" i="0" sz="1400" u="none" cap="none" strike="noStrike">
              <a:solidFill>
                <a:srgbClr val="000000"/>
              </a:solidFill>
              <a:latin typeface="Arial"/>
              <a:ea typeface="Arial"/>
              <a:cs typeface="Arial"/>
              <a:sym typeface="Arial"/>
            </a:endParaRPr>
          </a:p>
        </p:txBody>
      </p:sp>
      <p:cxnSp>
        <p:nvCxnSpPr>
          <p:cNvPr id="939" name="Google Shape;939;p52"/>
          <p:cNvCxnSpPr/>
          <p:nvPr/>
        </p:nvCxnSpPr>
        <p:spPr>
          <a:xfrm>
            <a:off x="11571730" y="3337560"/>
            <a:ext cx="448200" cy="0"/>
          </a:xfrm>
          <a:prstGeom prst="straightConnector1">
            <a:avLst/>
          </a:prstGeom>
          <a:noFill/>
          <a:ln cap="flat" cmpd="sng" w="25400">
            <a:solidFill>
              <a:srgbClr val="2F61B8"/>
            </a:solidFill>
            <a:prstDash val="solid"/>
            <a:round/>
            <a:headEnd len="sm" w="sm" type="none"/>
            <a:tailEnd len="sm" w="sm" type="none"/>
          </a:ln>
          <a:effectLst>
            <a:outerShdw blurRad="40000" rotWithShape="0" dir="5400000" dist="20000">
              <a:srgbClr val="000000">
                <a:alpha val="38039"/>
              </a:srgbClr>
            </a:outerShdw>
          </a:effectLst>
        </p:spPr>
      </p:cxnSp>
      <p:sp>
        <p:nvSpPr>
          <p:cNvPr id="940" name="Google Shape;940;p52"/>
          <p:cNvSpPr/>
          <p:nvPr/>
        </p:nvSpPr>
        <p:spPr>
          <a:xfrm>
            <a:off x="12047218" y="2926080"/>
            <a:ext cx="1737300" cy="8229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2202F"/>
                </a:solidFill>
                <a:latin typeface="Calibri"/>
                <a:ea typeface="Calibri"/>
                <a:cs typeface="Calibri"/>
                <a:sym typeface="Calibri"/>
              </a:rPr>
              <a:t>Promotion</a:t>
            </a:r>
            <a:br>
              <a:rPr b="1" i="0" lang="en-US" sz="1400" u="none" cap="none" strike="noStrike">
                <a:solidFill>
                  <a:srgbClr val="12202F"/>
                </a:solidFill>
                <a:latin typeface="Calibri"/>
                <a:ea typeface="Calibri"/>
                <a:cs typeface="Calibri"/>
                <a:sym typeface="Calibri"/>
              </a:rPr>
            </a:br>
            <a:r>
              <a:rPr b="1" i="0" lang="en-US" sz="1400" u="none" cap="none" strike="noStrike">
                <a:solidFill>
                  <a:srgbClr val="12202F"/>
                </a:solidFill>
                <a:latin typeface="Calibri"/>
                <a:ea typeface="Calibri"/>
                <a:cs typeface="Calibri"/>
                <a:sym typeface="Calibri"/>
              </a:rPr>
              <a:t>possible</a:t>
            </a:r>
            <a:endParaRPr b="0" i="0" sz="1400" u="none" cap="none" strike="noStrike">
              <a:solidFill>
                <a:srgbClr val="000000"/>
              </a:solidFill>
              <a:latin typeface="Arial"/>
              <a:ea typeface="Arial"/>
              <a:cs typeface="Arial"/>
              <a:sym typeface="Arial"/>
            </a:endParaRPr>
          </a:p>
        </p:txBody>
      </p:sp>
      <p:sp>
        <p:nvSpPr>
          <p:cNvPr id="941" name="Google Shape;941;p52"/>
          <p:cNvSpPr txBox="1"/>
          <p:nvPr/>
        </p:nvSpPr>
        <p:spPr>
          <a:xfrm>
            <a:off x="822960" y="466344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PRINCIPE</a:t>
            </a:r>
            <a:endParaRPr b="0" i="0" sz="1800" u="none" cap="none" strike="noStrike">
              <a:solidFill>
                <a:srgbClr val="000000"/>
              </a:solidFill>
              <a:latin typeface="Arial"/>
              <a:ea typeface="Arial"/>
              <a:cs typeface="Arial"/>
              <a:sym typeface="Arial"/>
            </a:endParaRPr>
          </a:p>
        </p:txBody>
      </p:sp>
      <p:sp>
        <p:nvSpPr>
          <p:cNvPr id="942" name="Google Shape;942;p52"/>
          <p:cNvSpPr txBox="1"/>
          <p:nvPr/>
        </p:nvSpPr>
        <p:spPr>
          <a:xfrm>
            <a:off x="822960" y="5029200"/>
            <a:ext cx="12070200" cy="13236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forecast_trial.py : archives, jointure, entraînement, test.</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Entraînement sur 2024 ; test sur 2025, purge de 24 h.</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Candidat prévu sauvegardé ; promotion non effectuée.</a:t>
            </a:r>
            <a:endParaRPr b="0" i="0" sz="2000" u="none" cap="none" strike="noStrike">
              <a:solidFill>
                <a:srgbClr val="12202F"/>
              </a:solidFill>
              <a:latin typeface="Calibri"/>
              <a:ea typeface="Calibri"/>
              <a:cs typeface="Calibri"/>
              <a:sym typeface="Calibri"/>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Rafraîchissement et contrôle du drift : automatisations envisagées, non planifiées dans cette chaîne.</a:t>
            </a:r>
            <a:endParaRPr b="0" i="0" sz="2000" u="none" cap="none" strike="noStrike">
              <a:solidFill>
                <a:srgbClr val="12202F"/>
              </a:solidFill>
              <a:latin typeface="Calibri"/>
              <a:ea typeface="Calibri"/>
              <a:cs typeface="Calibri"/>
              <a:sym typeface="Calibri"/>
            </a:endParaRPr>
          </a:p>
        </p:txBody>
      </p:sp>
      <p:sp>
        <p:nvSpPr>
          <p:cNvPr id="943" name="Google Shape;943;p52"/>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4" name="Google Shape;944;p52"/>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8" name="Shape 948"/>
        <p:cNvGrpSpPr/>
        <p:nvPr/>
      </p:nvGrpSpPr>
      <p:grpSpPr>
        <a:xfrm>
          <a:off x="0" y="0"/>
          <a:ext cx="0" cy="0"/>
          <a:chOff x="0" y="0"/>
          <a:chExt cx="0" cy="0"/>
        </a:xfrm>
      </p:grpSpPr>
      <p:sp>
        <p:nvSpPr>
          <p:cNvPr id="949" name="Google Shape;949;p53"/>
          <p:cNvSpPr txBox="1"/>
          <p:nvPr/>
        </p:nvSpPr>
        <p:spPr>
          <a:xfrm>
            <a:off x="731520" y="411480"/>
            <a:ext cx="10241400" cy="9876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3000" u="none" cap="none" strike="noStrike">
                <a:solidFill>
                  <a:srgbClr val="12202F"/>
                </a:solidFill>
                <a:latin typeface="Calibri"/>
                <a:ea typeface="Calibri"/>
                <a:cs typeface="Calibri"/>
                <a:sym typeface="Calibri"/>
              </a:rPr>
              <a:t>Champion / challenger — décision de promotion</a:t>
            </a:r>
            <a:endParaRPr/>
          </a:p>
        </p:txBody>
      </p:sp>
      <p:sp>
        <p:nvSpPr>
          <p:cNvPr id="950" name="Google Shape;950;p53"/>
          <p:cNvSpPr txBox="1"/>
          <p:nvPr/>
        </p:nvSpPr>
        <p:spPr>
          <a:xfrm>
            <a:off x="804672" y="1975104"/>
            <a:ext cx="6291000" cy="7407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1800" u="none" cap="none" strike="noStrike">
                <a:solidFill>
                  <a:srgbClr val="2F61B8"/>
                </a:solidFill>
                <a:latin typeface="Calibri"/>
                <a:ea typeface="Calibri"/>
                <a:cs typeface="Calibri"/>
                <a:sym typeface="Calibri"/>
              </a:rPr>
              <a:t>CRITÈRES À SATISFAIRE</a:t>
            </a:r>
            <a:endParaRPr/>
          </a:p>
        </p:txBody>
      </p:sp>
      <p:sp>
        <p:nvSpPr>
          <p:cNvPr id="951" name="Google Shape;951;p53"/>
          <p:cNvSpPr txBox="1"/>
          <p:nvPr/>
        </p:nvSpPr>
        <p:spPr>
          <a:xfrm>
            <a:off x="804672" y="2798064"/>
            <a:ext cx="6291000" cy="3538800"/>
          </a:xfrm>
          <a:prstGeom prst="rect">
            <a:avLst/>
          </a:prstGeom>
          <a:solidFill>
            <a:srgbClr val="F5F8FC"/>
          </a:solid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2100" u="none" cap="none" strike="noStrike">
                <a:solidFill>
                  <a:srgbClr val="12202F"/>
                </a:solidFill>
                <a:latin typeface="Calibri"/>
                <a:ea typeface="Calibri"/>
                <a:cs typeface="Calibri"/>
                <a:sym typeface="Calibri"/>
              </a:rPr>
              <a:t>Comparer candidat et référence sur les mêmes dates</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Réduire la MAE et contrôler RMSE / pics</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Vérifier schéma, tests et rechargement</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Vérifier la disponibilité des entrées à l’instant t</a:t>
            </a:r>
            <a:endParaRPr/>
          </a:p>
        </p:txBody>
      </p:sp>
      <p:sp>
        <p:nvSpPr>
          <p:cNvPr id="952" name="Google Shape;952;p53"/>
          <p:cNvSpPr txBox="1"/>
          <p:nvPr/>
        </p:nvSpPr>
        <p:spPr>
          <a:xfrm>
            <a:off x="7534656" y="1975104"/>
            <a:ext cx="6291000" cy="7407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1" i="0" lang="en-US" sz="1800" u="none" cap="none" strike="noStrike">
                <a:solidFill>
                  <a:srgbClr val="2F61B8"/>
                </a:solidFill>
                <a:latin typeface="Calibri"/>
                <a:ea typeface="Calibri"/>
                <a:cs typeface="Calibri"/>
                <a:sym typeface="Calibri"/>
              </a:rPr>
              <a:t>DÉCISION ET TRAÇABILITÉ</a:t>
            </a:r>
            <a:endParaRPr/>
          </a:p>
        </p:txBody>
      </p:sp>
      <p:sp>
        <p:nvSpPr>
          <p:cNvPr id="953" name="Google Shape;953;p53"/>
          <p:cNvSpPr txBox="1"/>
          <p:nvPr/>
        </p:nvSpPr>
        <p:spPr>
          <a:xfrm>
            <a:off x="7534656" y="2798064"/>
            <a:ext cx="6291000" cy="3538800"/>
          </a:xfrm>
          <a:prstGeom prst="rect">
            <a:avLst/>
          </a:prstGeom>
          <a:solidFill>
            <a:srgbClr val="F5F8FC"/>
          </a:solid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2100" u="none" cap="none" strike="noStrike">
                <a:solidFill>
                  <a:srgbClr val="12202F"/>
                </a:solidFill>
                <a:latin typeface="Calibri"/>
                <a:ea typeface="Calibri"/>
                <a:cs typeface="Calibri"/>
                <a:sym typeface="Calibri"/>
              </a:rPr>
              <a:t>Météo prévue : candidat principal</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Délai de publication : hypothèse à auditer</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Pas de promotion comme champion opérationnel</a:t>
            </a:r>
            <a:endParaRPr/>
          </a:p>
          <a:p>
            <a:pPr indent="0" lvl="0" marL="0" marR="0" rtl="0" algn="l">
              <a:lnSpc>
                <a:spcPct val="100000"/>
              </a:lnSpc>
              <a:spcBef>
                <a:spcPts val="1600"/>
              </a:spcBef>
              <a:spcAft>
                <a:spcPts val="0"/>
              </a:spcAft>
              <a:buNone/>
            </a:pPr>
            <a:r>
              <a:rPr b="0" i="0" lang="en-US" sz="2100" u="none" cap="none" strike="noStrike">
                <a:solidFill>
                  <a:srgbClr val="12202F"/>
                </a:solidFill>
                <a:latin typeface="Calibri"/>
                <a:ea typeface="Calibri"/>
                <a:cs typeface="Calibri"/>
                <a:sym typeface="Calibri"/>
              </a:rPr>
              <a:t>Après validation : alias champion + retour arrière</a:t>
            </a:r>
            <a:endParaRPr/>
          </a:p>
        </p:txBody>
      </p:sp>
      <p:sp>
        <p:nvSpPr>
          <p:cNvPr id="954" name="Google Shape;954;p53"/>
          <p:cNvSpPr txBox="1"/>
          <p:nvPr/>
        </p:nvSpPr>
        <p:spPr>
          <a:xfrm>
            <a:off x="804672" y="6583680"/>
            <a:ext cx="13167300" cy="822900"/>
          </a:xfrm>
          <a:prstGeom prst="rect">
            <a:avLst/>
          </a:prstGeom>
          <a:noFill/>
          <a:ln>
            <a:noFill/>
          </a:ln>
        </p:spPr>
        <p:txBody>
          <a:bodyPr anchorCtr="0" anchor="t" bIns="100000" lIns="150000" spcFirstLastPara="1" rIns="150000" wrap="square" tIns="100000">
            <a:normAutofit/>
          </a:bodyPr>
          <a:lstStyle/>
          <a:p>
            <a:pPr indent="0" lvl="0" marL="0" marR="0" rtl="0" algn="l">
              <a:lnSpc>
                <a:spcPct val="100000"/>
              </a:lnSpc>
              <a:spcBef>
                <a:spcPts val="0"/>
              </a:spcBef>
              <a:spcAft>
                <a:spcPts val="0"/>
              </a:spcAft>
              <a:buNone/>
            </a:pPr>
            <a:r>
              <a:rPr b="0" i="0" lang="en-US" sz="1500" u="none" cap="none" strike="noStrike">
                <a:solidFill>
                  <a:srgbClr val="2F61B8"/>
                </a:solidFill>
                <a:latin typeface="Calibri"/>
                <a:ea typeface="Calibri"/>
                <a:cs typeface="Calibri"/>
                <a:sym typeface="Calibri"/>
              </a:rPr>
              <a:t>Processus proposé : conserver la version précédente et tracer le motif de promotion. Aucun alias n’a été modifié.</a:t>
            </a:r>
            <a:endParaRPr/>
          </a:p>
        </p:txBody>
      </p:sp>
      <p:sp>
        <p:nvSpPr>
          <p:cNvPr id="955" name="Google Shape;955;p53"/>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6" name="Google Shape;956;p53"/>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
        <p:nvSpPr>
          <p:cNvPr id="957" name="Google Shape;957;p53"/>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C5.3.4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1" name="Shape 961"/>
        <p:cNvGrpSpPr/>
        <p:nvPr/>
      </p:nvGrpSpPr>
      <p:grpSpPr>
        <a:xfrm>
          <a:off x="0" y="0"/>
          <a:ext cx="0" cy="0"/>
          <a:chOff x="0" y="0"/>
          <a:chExt cx="0" cy="0"/>
        </a:xfrm>
      </p:grpSpPr>
      <p:sp>
        <p:nvSpPr>
          <p:cNvPr id="962" name="Google Shape;962;p54"/>
          <p:cNvSpPr/>
          <p:nvPr/>
        </p:nvSpPr>
        <p:spPr>
          <a:xfrm>
            <a:off x="11155680" y="320040"/>
            <a:ext cx="3017400" cy="411600"/>
          </a:xfrm>
          <a:prstGeom prst="roundRect">
            <a:avLst>
              <a:gd fmla="val 16667" name="adj"/>
            </a:avLst>
          </a:prstGeom>
          <a:solidFill>
            <a:srgbClr val="F5F8FC"/>
          </a:solidFill>
          <a:ln cap="flat" cmpd="sng" w="9525">
            <a:solidFill>
              <a:srgbClr val="2F61B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2F61B8"/>
                </a:solidFill>
                <a:latin typeface="Calibri"/>
                <a:ea typeface="Calibri"/>
                <a:cs typeface="Calibri"/>
                <a:sym typeface="Calibri"/>
              </a:rPr>
              <a:t>Bloc 5 — Conclusion</a:t>
            </a:r>
            <a:endParaRPr b="0" i="0" sz="1400" u="none" cap="none" strike="noStrike">
              <a:solidFill>
                <a:srgbClr val="000000"/>
              </a:solidFill>
              <a:latin typeface="Arial"/>
              <a:ea typeface="Arial"/>
              <a:cs typeface="Arial"/>
              <a:sym typeface="Arial"/>
            </a:endParaRPr>
          </a:p>
        </p:txBody>
      </p:sp>
      <p:sp>
        <p:nvSpPr>
          <p:cNvPr id="963" name="Google Shape;963;p54"/>
          <p:cNvSpPr txBox="1"/>
          <p:nvPr/>
        </p:nvSpPr>
        <p:spPr>
          <a:xfrm>
            <a:off x="731520" y="502920"/>
            <a:ext cx="98754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12202F"/>
                </a:solidFill>
                <a:latin typeface="Calibri"/>
                <a:ea typeface="Calibri"/>
                <a:cs typeface="Calibri"/>
                <a:sym typeface="Calibri"/>
              </a:rPr>
              <a:t>Bilan et perspectives</a:t>
            </a:r>
            <a:endParaRPr b="0" i="0" sz="1400" u="none" cap="none" strike="noStrike">
              <a:solidFill>
                <a:srgbClr val="000000"/>
              </a:solidFill>
              <a:latin typeface="Arial"/>
              <a:ea typeface="Arial"/>
              <a:cs typeface="Arial"/>
              <a:sym typeface="Arial"/>
            </a:endParaRPr>
          </a:p>
        </p:txBody>
      </p:sp>
      <p:sp>
        <p:nvSpPr>
          <p:cNvPr id="964" name="Google Shape;964;p54"/>
          <p:cNvSpPr txBox="1"/>
          <p:nvPr/>
        </p:nvSpPr>
        <p:spPr>
          <a:xfrm>
            <a:off x="822960" y="173736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BILAN</a:t>
            </a:r>
            <a:endParaRPr b="0" i="0" sz="1800" u="none" cap="none" strike="noStrike">
              <a:solidFill>
                <a:srgbClr val="000000"/>
              </a:solidFill>
              <a:latin typeface="Arial"/>
              <a:ea typeface="Arial"/>
              <a:cs typeface="Arial"/>
              <a:sym typeface="Arial"/>
            </a:endParaRPr>
          </a:p>
        </p:txBody>
      </p:sp>
      <p:sp>
        <p:nvSpPr>
          <p:cNvPr id="965" name="Google Shape;965;p54"/>
          <p:cNvSpPr txBox="1"/>
          <p:nvPr/>
        </p:nvSpPr>
        <p:spPr>
          <a:xfrm>
            <a:off x="822950" y="2103127"/>
            <a:ext cx="5943600" cy="16317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Candidat H+24 avec météo prévue ICON</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MAE : −31,5 % vs baseline ; −21,7 % vs HGB</a:t>
            </a:r>
            <a:r>
              <a:rPr lang="en-US" sz="2000">
                <a:solidFill>
                  <a:srgbClr val="12202F"/>
                </a:solidFill>
                <a:latin typeface="Calibri"/>
                <a:ea typeface="Calibri"/>
                <a:cs typeface="Calibri"/>
                <a:sym typeface="Calibri"/>
              </a:rPr>
              <a:t/>
            </a:r>
            <a:r>
              <a:rPr b="0" i="0" lang="en-US" sz="2000" u="none" cap="none" strike="noStrike">
                <a:solidFill>
                  <a:srgbClr val="12202F"/>
                </a:solidFill>
                <a:latin typeface="Calibri"/>
                <a:ea typeface="Calibri"/>
                <a:cs typeface="Calibri"/>
                <a:sym typeface="Calibri"/>
              </a:rPr>
              <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MAE 177,4 MW ; 3,76 % de la conso moyenne</a:t>
            </a:r>
            <a:endParaRPr b="0" i="0" sz="2000" u="none" cap="none" strike="noStrike">
              <a:solidFill>
                <a:srgbClr val="12202F"/>
              </a:solidFill>
              <a:latin typeface="Calibri"/>
              <a:ea typeface="Calibri"/>
              <a:cs typeface="Calibri"/>
              <a:sym typeface="Calibri"/>
            </a:endParaRPr>
          </a:p>
          <a:p>
            <a:pPr indent="-355600" lvl="0" marL="457200" rtl="0" algn="l">
              <a:spcBef>
                <a:spcPts val="0"/>
              </a:spcBef>
              <a:spcAft>
                <a:spcPts val="0"/>
              </a:spcAft>
              <a:buClr>
                <a:srgbClr val="12202F"/>
              </a:buClr>
              <a:buSzPts val="2000"/>
              <a:buFont typeface="Calibri"/>
              <a:buChar char="●"/>
            </a:pPr>
            <a:r>
              <a:rPr lang="en-US" sz="2000">
                <a:solidFill>
                  <a:srgbClr val="12202F"/>
                </a:solidFill>
                <a:latin typeface="Calibri"/>
                <a:ea typeface="Calibri"/>
                <a:cs typeface="Calibri"/>
                <a:sym typeface="Calibri"/>
              </a:rPr>
              <a:t>Chaîne ML traçable : modèle, métriques, tests, monitoring</a:t>
            </a:r>
            <a:endParaRPr sz="2000">
              <a:solidFill>
                <a:srgbClr val="12202F"/>
              </a:solidFill>
              <a:latin typeface="Calibri"/>
              <a:ea typeface="Calibri"/>
              <a:cs typeface="Calibri"/>
              <a:sym typeface="Calibri"/>
            </a:endParaRPr>
          </a:p>
        </p:txBody>
      </p:sp>
      <p:sp>
        <p:nvSpPr>
          <p:cNvPr id="966" name="Google Shape;966;p54"/>
          <p:cNvSpPr txBox="1"/>
          <p:nvPr/>
        </p:nvSpPr>
        <p:spPr>
          <a:xfrm>
            <a:off x="7315200" y="173736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LIMITES</a:t>
            </a:r>
            <a:endParaRPr b="0" i="0" sz="1800" u="none" cap="none" strike="noStrike">
              <a:solidFill>
                <a:srgbClr val="000000"/>
              </a:solidFill>
              <a:latin typeface="Arial"/>
              <a:ea typeface="Arial"/>
              <a:cs typeface="Arial"/>
              <a:sym typeface="Arial"/>
            </a:endParaRPr>
          </a:p>
        </p:txBody>
      </p:sp>
      <p:sp>
        <p:nvSpPr>
          <p:cNvPr id="967" name="Google Shape;967;p54"/>
          <p:cNvSpPr txBox="1"/>
          <p:nvPr/>
        </p:nvSpPr>
        <p:spPr>
          <a:xfrm>
            <a:off x="7315200" y="2103127"/>
            <a:ext cx="5669400" cy="13236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Performance plus faible pendant les pics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Test rétrospectif ; disponibilité à auditer par run</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Entraînement météo limité à 2024</a:t>
            </a:r>
            <a:endParaRPr b="0" i="0" sz="1400" u="none" cap="none" strike="noStrike">
              <a:solidFill>
                <a:srgbClr val="000000"/>
              </a:solidFill>
              <a:latin typeface="Arial"/>
              <a:ea typeface="Arial"/>
              <a:cs typeface="Arial"/>
              <a:sym typeface="Arial"/>
            </a:endParaRPr>
          </a:p>
        </p:txBody>
      </p:sp>
      <p:sp>
        <p:nvSpPr>
          <p:cNvPr id="968" name="Google Shape;968;p54"/>
          <p:cNvSpPr txBox="1"/>
          <p:nvPr/>
        </p:nvSpPr>
        <p:spPr>
          <a:xfrm>
            <a:off x="822960" y="4572000"/>
            <a:ext cx="31089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2F61B8"/>
                </a:solidFill>
                <a:latin typeface="Calibri"/>
                <a:ea typeface="Calibri"/>
                <a:cs typeface="Calibri"/>
                <a:sym typeface="Calibri"/>
              </a:rPr>
              <a:t>PERSPECTIVES</a:t>
            </a:r>
            <a:endParaRPr b="0" i="0" sz="1800" u="none" cap="none" strike="noStrike">
              <a:solidFill>
                <a:srgbClr val="000000"/>
              </a:solidFill>
              <a:latin typeface="Arial"/>
              <a:ea typeface="Arial"/>
              <a:cs typeface="Arial"/>
              <a:sym typeface="Arial"/>
            </a:endParaRPr>
          </a:p>
        </p:txBody>
      </p:sp>
      <p:sp>
        <p:nvSpPr>
          <p:cNvPr id="969" name="Google Shape;969;p54"/>
          <p:cNvSpPr txBox="1"/>
          <p:nvPr/>
        </p:nvSpPr>
        <p:spPr>
          <a:xfrm>
            <a:off x="822950" y="4937746"/>
            <a:ext cx="11887200" cy="16317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Valider les publications et tester une période future</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Déployer une API de prédiction</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Automatiser davantage la promotion des modèles</a:t>
            </a:r>
            <a:endParaRPr b="0" i="0" sz="1400" u="none" cap="none" strike="noStrike">
              <a:solidFill>
                <a:srgbClr val="000000"/>
              </a:solidFill>
              <a:latin typeface="Arial"/>
              <a:ea typeface="Arial"/>
              <a:cs typeface="Arial"/>
              <a:sym typeface="Arial"/>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Surveiller le data drift</a:t>
            </a:r>
            <a:endParaRPr b="0" i="0" sz="2000" u="none" cap="none" strike="noStrike">
              <a:solidFill>
                <a:srgbClr val="12202F"/>
              </a:solidFill>
              <a:latin typeface="Calibri"/>
              <a:ea typeface="Calibri"/>
              <a:cs typeface="Calibri"/>
              <a:sym typeface="Calibri"/>
            </a:endParaRPr>
          </a:p>
          <a:p>
            <a:pPr indent="-355600" lvl="0" marL="457200" marR="0" rtl="0" algn="l">
              <a:lnSpc>
                <a:spcPct val="100000"/>
              </a:lnSpc>
              <a:spcBef>
                <a:spcPts val="0"/>
              </a:spcBef>
              <a:spcAft>
                <a:spcPts val="0"/>
              </a:spcAft>
              <a:buClr>
                <a:srgbClr val="12202F"/>
              </a:buClr>
              <a:buSzPts val="2000"/>
              <a:buFont typeface="Calibri"/>
              <a:buChar char="●"/>
            </a:pPr>
            <a:r>
              <a:rPr b="0" i="0" lang="en-US" sz="2000" u="none" cap="none" strike="noStrike">
                <a:solidFill>
                  <a:srgbClr val="12202F"/>
                </a:solidFill>
                <a:latin typeface="Calibri"/>
                <a:ea typeface="Calibri"/>
                <a:cs typeface="Calibri"/>
                <a:sym typeface="Calibri"/>
              </a:rPr>
              <a:t>Découper la prédiction en prédisant un tableau de types d’énergies consommées à J+1 dans chaque région</a:t>
            </a:r>
            <a:endParaRPr b="0" i="0" sz="2000" u="none" cap="none" strike="noStrike">
              <a:solidFill>
                <a:srgbClr val="12202F"/>
              </a:solidFill>
              <a:latin typeface="Calibri"/>
              <a:ea typeface="Calibri"/>
              <a:cs typeface="Calibri"/>
              <a:sym typeface="Calibri"/>
            </a:endParaRPr>
          </a:p>
        </p:txBody>
      </p:sp>
      <p:sp>
        <p:nvSpPr>
          <p:cNvPr id="970" name="Google Shape;970;p54"/>
          <p:cNvSpPr/>
          <p:nvPr/>
        </p:nvSpPr>
        <p:spPr>
          <a:xfrm>
            <a:off x="0" y="8001000"/>
            <a:ext cx="14630400" cy="45600"/>
          </a:xfrm>
          <a:prstGeom prst="rect">
            <a:avLst/>
          </a:prstGeom>
          <a:solidFill>
            <a:srgbClr val="F5F8F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1" name="Google Shape;971;p54"/>
          <p:cNvSpPr txBox="1"/>
          <p:nvPr/>
        </p:nvSpPr>
        <p:spPr>
          <a:xfrm>
            <a:off x="731520" y="7754112"/>
            <a:ext cx="73152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5A6673"/>
                </a:solidFill>
                <a:latin typeface="Arial"/>
                <a:ea typeface="Arial"/>
                <a:cs typeface="Arial"/>
                <a:sym typeface="Arial"/>
              </a:rPr>
              <a:t>RNCP39586 — Bloc 5 — Apprentissage automatique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