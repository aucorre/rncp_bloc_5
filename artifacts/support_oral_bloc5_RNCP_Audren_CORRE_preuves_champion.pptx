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1025" r:id="rIdEvidence25"/>
    <p:sldId id="1026" r:id="rIdEvidence26"/>
    <p:sldId id="275" r:id="rId26"/>
    <p:sldId id="276" r:id="rId27"/>
    <p:sldId id="1027" r:id="rIdEvidence27"/>
    <p:sldId id="1028" r:id="rIdEvidence28"/>
    <p:sldId id="277" r:id="rId28"/>
    <p:sldId id="1029" r:id="rIdEvidence29"/>
    <p:sldId id="278" r:id="rId29"/>
    <p:sldId id="1030" r:id="rIdEvidence30"/>
    <p:sldId id="279" r:id="rId30"/>
  </p:sldIdLst>
  <p:sldSz cy="8229600" cx="14630400"/>
  <p:notesSz cx="6858000" cy="9144000"/>
  <p:embeddedFontLst>
    <p:embeddedFont>
      <p:font typeface="Nunito"/>
      <p:regular r:id="rId31"/>
      <p:bold r:id="rId32"/>
      <p:italic r:id="rId33"/>
      <p:boldItalic r:id="rId34"/>
    </p:embeddedFont>
    <p:embeddedFont>
      <p:font typeface="Maven Pro"/>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Nunito-italic.fntdata"/><Relationship Id="rId10" Type="http://schemas.openxmlformats.org/officeDocument/2006/relationships/slide" Target="slides/slide4.xml"/><Relationship Id="rId32" Type="http://schemas.openxmlformats.org/officeDocument/2006/relationships/font" Target="fonts/Nunito-bold.fntdata"/><Relationship Id="rId13" Type="http://schemas.openxmlformats.org/officeDocument/2006/relationships/slide" Target="slides/slide7.xml"/><Relationship Id="rId35" Type="http://schemas.openxmlformats.org/officeDocument/2006/relationships/font" Target="fonts/MavenPro-regular.fntdata"/><Relationship Id="rId12" Type="http://schemas.openxmlformats.org/officeDocument/2006/relationships/slide" Target="slides/slide6.xml"/><Relationship Id="rId34" Type="http://schemas.openxmlformats.org/officeDocument/2006/relationships/font" Target="fonts/Nunito-boldItalic.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MavenPr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Evidence25" Type="http://schemas.openxmlformats.org/officeDocument/2006/relationships/slide" Target="slides/slide25.xml"/><Relationship Id="rIdEvidence26" Type="http://schemas.openxmlformats.org/officeDocument/2006/relationships/slide" Target="slides/slide26.xml"/><Relationship Id="rIdEvidence27" Type="http://schemas.openxmlformats.org/officeDocument/2006/relationships/slide" Target="slides/slide27.xml"/><Relationship Id="rIdEvidence28" Type="http://schemas.openxmlformats.org/officeDocument/2006/relationships/slide" Target="slides/slide28.xml"/><Relationship Id="rIdEvidence29" Type="http://schemas.openxmlformats.org/officeDocument/2006/relationships/slide" Target="slides/slide29.xml"/><Relationship Id="rIdEvidence30"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3" name="Google Shape;54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SAS Viya / SAS Enterprise Miner</a:t>
            </a:r>
            <a:r>
              <a:rPr lang="en-US">
                <a:solidFill>
                  <a:schemeClr val="dk1"/>
                </a:solidFill>
              </a:rPr>
              <a:t> : propriétaire, licence payante, environnement spécifique.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IBM SPSS Modeler</a:t>
            </a:r>
            <a:r>
              <a:rPr lang="en-US">
                <a:solidFill>
                  <a:schemeClr val="dk1"/>
                </a:solidFill>
              </a:rPr>
              <a:t> : propriétaire, orienté plateforme graphique, licence commerciale.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MATLAB + Statistics and Machine Learning Toolbox</a:t>
            </a:r>
            <a:r>
              <a:rPr lang="en-US">
                <a:solidFill>
                  <a:schemeClr val="dk1"/>
                </a:solidFill>
              </a:rPr>
              <a:t> : propriétaire, licence requise, environnement MATLAB dédié.</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Altair RapidMiner / AI Studio</a:t>
            </a:r>
            <a:r>
              <a:rPr lang="en-US">
                <a:solidFill>
                  <a:schemeClr val="dk1"/>
                </a:solidFill>
              </a:rPr>
              <a:t> : solution propriétaire, plateforme distincte de ton environnement Python local.</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Dataiku DSS</a:t>
            </a:r>
            <a:r>
              <a:rPr lang="en-US">
                <a:solidFill>
                  <a:schemeClr val="dk1"/>
                </a:solidFill>
              </a:rPr>
              <a:t> : plateforme propriétaire, même si elle permet d’exécuter du Python.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Azure Machine Learning</a:t>
            </a:r>
            <a:r>
              <a:rPr lang="en-US">
                <a:solidFill>
                  <a:schemeClr val="dk1"/>
                </a:solidFill>
              </a:rPr>
              <a:t> : service cloud propriétaire, coûts d’infrastructure et dépendance Azure.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AWS SageMaker</a:t>
            </a:r>
            <a:r>
              <a:rPr lang="en-US">
                <a:solidFill>
                  <a:schemeClr val="dk1"/>
                </a:solidFill>
              </a:rPr>
              <a:t> : service cloud propriétaire, dépendance AWS et facturation associée.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Google Vertex AI</a:t>
            </a:r>
            <a:r>
              <a:rPr lang="en-US">
                <a:solidFill>
                  <a:schemeClr val="dk1"/>
                </a:solidFill>
              </a:rPr>
              <a:t> : plateforme cloud propriétaire, dépendance GCP.</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551" name="Google Shape;551;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7" name="Google Shape;567;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1" name="Google Shape;581;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2" name="Google Shape;59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J’ai choisi les outils selon cinq critères : compatibilité avec le problème, coût, simplicité, performance et maintenabilité. Pandas était suffisant pour environ 3 millions de lignes brutes, donc Spark aurait ajouté une complexité inutile. Scikit-learn couvre toute la chaîne dont j’avais besoin : modèles, métriques, validation temporelle et optimisation. J’ai choisi HistGradientBoosting plutôt qu’un framework de deep learning parce que le problème est tabulaire, le volume reste raisonnable et les performances étaient déjà bonnes. Joblib est natif et simple pour sérialiser un modèle sklearn. MLflow apporte la traçabilité et le versioning sans nécessiter une plateforme MLOps complète. Enfin Pytest et GitHub Actions sont légers et suffisants pour automatiser les contrôles. </a:t>
            </a:r>
            <a:endParaRPr/>
          </a:p>
        </p:txBody>
      </p:sp>
      <p:sp>
        <p:nvSpPr>
          <p:cNvPr id="610" name="Google Shape;6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8" name="Google Shape;628;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3" name="Google Shape;6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0" name="Google Shape;670;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1" name="Google Shape;701;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6" name="Google Shape;71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1" name="Google Shape;73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7" name="Google Shape;747;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5" name="Google Shape;77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fb3f2ec7f4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0" name="Google Shape;790;g3fb3f2ec7f4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fb3f2ec7f4_1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9" name="Google Shape;799;g3fb3f2ec7f4_1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4" name="Google Shape;814;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9" name="Google Shape;82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2" name="Google Shape;84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6" name="Google Shape;85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fb3f2ec7f4_10_5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7" name="Google Shape;877;g3fb3f2ec7f4_10_5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 name="Shape 11"/>
        <p:cNvGrpSpPr/>
        <p:nvPr/>
      </p:nvGrpSpPr>
      <p:grpSpPr>
        <a:xfrm>
          <a:off x="0" y="0"/>
          <a:ext cx="0" cy="0"/>
          <a:chOff x="0" y="0"/>
          <a:chExt cx="0" cy="0"/>
        </a:xfrm>
      </p:grpSpPr>
      <p:grpSp>
        <p:nvGrpSpPr>
          <p:cNvPr id="12" name="Google Shape;12;p3"/>
          <p:cNvGrpSpPr/>
          <p:nvPr/>
        </p:nvGrpSpPr>
        <p:grpSpPr>
          <a:xfrm>
            <a:off x="10986742" y="2010"/>
            <a:ext cx="3627806" cy="4162785"/>
            <a:chOff x="6790514" y="1255"/>
            <a:chExt cx="2267380" cy="2601741"/>
          </a:xfrm>
        </p:grpSpPr>
        <p:grpSp>
          <p:nvGrpSpPr>
            <p:cNvPr id="13" name="Google Shape;13;p3"/>
            <p:cNvGrpSpPr/>
            <p:nvPr/>
          </p:nvGrpSpPr>
          <p:grpSpPr>
            <a:xfrm>
              <a:off x="7067536" y="1255"/>
              <a:ext cx="1990358" cy="1990303"/>
              <a:chOff x="7067536" y="1255"/>
              <a:chExt cx="1990358" cy="1990303"/>
            </a:xfrm>
          </p:grpSpPr>
          <p:sp>
            <p:nvSpPr>
              <p:cNvPr id="14" name="Google Shape;14;p3"/>
              <p:cNvSpPr/>
              <p:nvPr/>
            </p:nvSpPr>
            <p:spPr>
              <a:xfrm rot="-8648551">
                <a:off x="7594313" y="527721"/>
                <a:ext cx="937226" cy="937226"/>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p:nvPr/>
            </p:nvSpPr>
            <p:spPr>
              <a:xfrm rot="-8649154">
                <a:off x="7349891" y="283705"/>
                <a:ext cx="1425647" cy="14254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 name="Google Shape;17;p3"/>
            <p:cNvGrpSpPr/>
            <p:nvPr/>
          </p:nvGrpSpPr>
          <p:grpSpPr>
            <a:xfrm>
              <a:off x="8207126" y="1807997"/>
              <a:ext cx="795000" cy="795000"/>
              <a:chOff x="8207126" y="1807997"/>
              <a:chExt cx="795000" cy="795000"/>
            </a:xfrm>
          </p:grpSpPr>
          <p:sp>
            <p:nvSpPr>
              <p:cNvPr id="18" name="Google Shape;18;p3"/>
              <p:cNvSpPr/>
              <p:nvPr/>
            </p:nvSpPr>
            <p:spPr>
              <a:xfrm rot="2152054">
                <a:off x="8319942" y="1920813"/>
                <a:ext cx="569367" cy="569367"/>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p:nvPr/>
            </p:nvSpPr>
            <p:spPr>
              <a:xfrm rot="2150259">
                <a:off x="8408218" y="2008610"/>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3"/>
            <p:cNvGrpSpPr/>
            <p:nvPr/>
          </p:nvGrpSpPr>
          <p:grpSpPr>
            <a:xfrm>
              <a:off x="6790514" y="118857"/>
              <a:ext cx="548700" cy="548700"/>
              <a:chOff x="6790514" y="118857"/>
              <a:chExt cx="548700" cy="548700"/>
            </a:xfrm>
          </p:grpSpPr>
          <p:sp>
            <p:nvSpPr>
              <p:cNvPr id="22" name="Google Shape;22;p3"/>
              <p:cNvSpPr/>
              <p:nvPr/>
            </p:nvSpPr>
            <p:spPr>
              <a:xfrm rot="2150259">
                <a:off x="6868362" y="196705"/>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 name="Google Shape;24;p3"/>
          <p:cNvSpPr txBox="1"/>
          <p:nvPr>
            <p:ph type="title"/>
          </p:nvPr>
        </p:nvSpPr>
        <p:spPr>
          <a:xfrm>
            <a:off x="1318400" y="1221760"/>
            <a:ext cx="9372600" cy="5717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25" name="Google Shape;25;p3"/>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grpSp>
        <p:nvGrpSpPr>
          <p:cNvPr id="27" name="Google Shape;27;p4"/>
          <p:cNvGrpSpPr/>
          <p:nvPr/>
        </p:nvGrpSpPr>
        <p:grpSpPr>
          <a:xfrm>
            <a:off x="1001538" y="478999"/>
            <a:ext cx="1598876" cy="1598876"/>
            <a:chOff x="348199" y="179450"/>
            <a:chExt cx="1116300" cy="1116300"/>
          </a:xfrm>
        </p:grpSpPr>
        <p:sp>
          <p:nvSpPr>
            <p:cNvPr id="28" name="Google Shape;28;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4"/>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1" name="Google Shape;31;p4"/>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32" name="Shape 32"/>
        <p:cNvGrpSpPr/>
        <p:nvPr/>
      </p:nvGrpSpPr>
      <p:grpSpPr>
        <a:xfrm>
          <a:off x="0" y="0"/>
          <a:ext cx="0" cy="0"/>
          <a:chOff x="0" y="0"/>
          <a:chExt cx="0" cy="0"/>
        </a:xfrm>
      </p:grpSpPr>
      <p:grpSp>
        <p:nvGrpSpPr>
          <p:cNvPr id="33" name="Google Shape;33;p5"/>
          <p:cNvGrpSpPr/>
          <p:nvPr/>
        </p:nvGrpSpPr>
        <p:grpSpPr>
          <a:xfrm>
            <a:off x="11748805" y="5455481"/>
            <a:ext cx="2706275" cy="2772077"/>
            <a:chOff x="7343003" y="3409675"/>
            <a:chExt cx="1691422" cy="1732548"/>
          </a:xfrm>
        </p:grpSpPr>
        <p:grpSp>
          <p:nvGrpSpPr>
            <p:cNvPr id="34" name="Google Shape;34;p5"/>
            <p:cNvGrpSpPr/>
            <p:nvPr/>
          </p:nvGrpSpPr>
          <p:grpSpPr>
            <a:xfrm>
              <a:off x="7343003" y="4453711"/>
              <a:ext cx="316800" cy="688512"/>
              <a:chOff x="7343003" y="4453711"/>
              <a:chExt cx="316800" cy="688512"/>
            </a:xfrm>
          </p:grpSpPr>
          <p:sp>
            <p:nvSpPr>
              <p:cNvPr id="35" name="Google Shape;35;p5"/>
              <p:cNvSpPr/>
              <p:nvPr/>
            </p:nvSpPr>
            <p:spPr>
              <a:xfrm>
                <a:off x="7343003"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
              <p:cNvSpPr/>
              <p:nvPr/>
            </p:nvSpPr>
            <p:spPr>
              <a:xfrm>
                <a:off x="7343003"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 name="Google Shape;37;p5"/>
            <p:cNvGrpSpPr/>
            <p:nvPr/>
          </p:nvGrpSpPr>
          <p:grpSpPr>
            <a:xfrm>
              <a:off x="7801210" y="4105700"/>
              <a:ext cx="316800" cy="1036523"/>
              <a:chOff x="7801210" y="4105700"/>
              <a:chExt cx="316800" cy="1036523"/>
            </a:xfrm>
          </p:grpSpPr>
          <p:sp>
            <p:nvSpPr>
              <p:cNvPr id="38" name="Google Shape;38;p5"/>
              <p:cNvSpPr/>
              <p:nvPr/>
            </p:nvSpPr>
            <p:spPr>
              <a:xfrm>
                <a:off x="7801210"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5"/>
              <p:cNvSpPr/>
              <p:nvPr/>
            </p:nvSpPr>
            <p:spPr>
              <a:xfrm>
                <a:off x="7801210"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5"/>
              <p:cNvSpPr/>
              <p:nvPr/>
            </p:nvSpPr>
            <p:spPr>
              <a:xfrm>
                <a:off x="7801210"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 name="Google Shape;41;p5"/>
            <p:cNvGrpSpPr/>
            <p:nvPr/>
          </p:nvGrpSpPr>
          <p:grpSpPr>
            <a:xfrm>
              <a:off x="8259418" y="3757688"/>
              <a:ext cx="316800" cy="1384535"/>
              <a:chOff x="8259418" y="3757688"/>
              <a:chExt cx="316800" cy="1384535"/>
            </a:xfrm>
          </p:grpSpPr>
          <p:sp>
            <p:nvSpPr>
              <p:cNvPr id="42" name="Google Shape;42;p5"/>
              <p:cNvSpPr/>
              <p:nvPr/>
            </p:nvSpPr>
            <p:spPr>
              <a:xfrm>
                <a:off x="8259418"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5"/>
              <p:cNvSpPr/>
              <p:nvPr/>
            </p:nvSpPr>
            <p:spPr>
              <a:xfrm>
                <a:off x="8259418" y="3757688"/>
                <a:ext cx="316800" cy="1384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
              <p:cNvSpPr/>
              <p:nvPr/>
            </p:nvSpPr>
            <p:spPr>
              <a:xfrm>
                <a:off x="8259418"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p:nvPr/>
            </p:nvSpPr>
            <p:spPr>
              <a:xfrm>
                <a:off x="8259418"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 name="Google Shape;46;p5"/>
            <p:cNvGrpSpPr/>
            <p:nvPr/>
          </p:nvGrpSpPr>
          <p:grpSpPr>
            <a:xfrm>
              <a:off x="8717625" y="3409675"/>
              <a:ext cx="316800" cy="1732548"/>
              <a:chOff x="8717625" y="3409675"/>
              <a:chExt cx="316800" cy="1732548"/>
            </a:xfrm>
          </p:grpSpPr>
          <p:sp>
            <p:nvSpPr>
              <p:cNvPr id="47" name="Google Shape;47;p5"/>
              <p:cNvSpPr/>
              <p:nvPr/>
            </p:nvSpPr>
            <p:spPr>
              <a:xfrm>
                <a:off x="8717625"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5"/>
              <p:cNvSpPr/>
              <p:nvPr/>
            </p:nvSpPr>
            <p:spPr>
              <a:xfrm>
                <a:off x="8717625" y="3757688"/>
                <a:ext cx="316800" cy="1384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5"/>
              <p:cNvSpPr/>
              <p:nvPr/>
            </p:nvSpPr>
            <p:spPr>
              <a:xfrm>
                <a:off x="8717625"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
              <p:cNvSpPr/>
              <p:nvPr/>
            </p:nvSpPr>
            <p:spPr>
              <a:xfrm>
                <a:off x="8717625" y="3409675"/>
                <a:ext cx="316800" cy="1732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
              <p:cNvSpPr/>
              <p:nvPr/>
            </p:nvSpPr>
            <p:spPr>
              <a:xfrm>
                <a:off x="8717625"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2" name="Google Shape;52;p5"/>
          <p:cNvGrpSpPr/>
          <p:nvPr/>
        </p:nvGrpSpPr>
        <p:grpSpPr>
          <a:xfrm>
            <a:off x="8069604" y="0"/>
            <a:ext cx="6102516" cy="6142561"/>
            <a:chOff x="5043503" y="0"/>
            <a:chExt cx="3814072" cy="3839102"/>
          </a:xfrm>
        </p:grpSpPr>
        <p:sp>
          <p:nvSpPr>
            <p:cNvPr id="53" name="Google Shape;53;p5"/>
            <p:cNvSpPr/>
            <p:nvPr/>
          </p:nvSpPr>
          <p:spPr>
            <a:xfrm>
              <a:off x="8460975" y="1817775"/>
              <a:ext cx="396600" cy="3966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rot="-9830444">
              <a:off x="6469759" y="3480728"/>
              <a:ext cx="320148" cy="320148"/>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 name="Google Shape;55;p5"/>
            <p:cNvGrpSpPr/>
            <p:nvPr/>
          </p:nvGrpSpPr>
          <p:grpSpPr>
            <a:xfrm>
              <a:off x="7647812" y="2704283"/>
              <a:ext cx="635219" cy="635219"/>
              <a:chOff x="6725724" y="2701260"/>
              <a:chExt cx="1208101" cy="1208100"/>
            </a:xfrm>
          </p:grpSpPr>
          <p:sp>
            <p:nvSpPr>
              <p:cNvPr id="56" name="Google Shape;56;p5"/>
              <p:cNvSpPr/>
              <p:nvPr/>
            </p:nvSpPr>
            <p:spPr>
              <a:xfrm rot="5400000">
                <a:off x="6725725" y="2701260"/>
                <a:ext cx="1208100" cy="12081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5"/>
              <p:cNvSpPr/>
              <p:nvPr/>
            </p:nvSpPr>
            <p:spPr>
              <a:xfrm rot="5400000">
                <a:off x="6725724" y="2701260"/>
                <a:ext cx="1208100" cy="1208100"/>
              </a:xfrm>
              <a:prstGeom prst="pie">
                <a:avLst>
                  <a:gd fmla="val 8244818" name="adj1"/>
                  <a:gd fmla="val 16246175"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rot="5400000">
                <a:off x="6954988" y="2930398"/>
                <a:ext cx="749700" cy="7497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5"/>
            <p:cNvSpPr/>
            <p:nvPr/>
          </p:nvSpPr>
          <p:spPr>
            <a:xfrm>
              <a:off x="8460975" y="1817775"/>
              <a:ext cx="396600" cy="396600"/>
            </a:xfrm>
            <a:prstGeom prst="pie">
              <a:avLst>
                <a:gd fmla="val 1937684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 name="Google Shape;60;p5"/>
            <p:cNvGrpSpPr/>
            <p:nvPr/>
          </p:nvGrpSpPr>
          <p:grpSpPr>
            <a:xfrm>
              <a:off x="7952720" y="179238"/>
              <a:ext cx="873165" cy="873003"/>
              <a:chOff x="7754428" y="208725"/>
              <a:chExt cx="541800" cy="541800"/>
            </a:xfrm>
          </p:grpSpPr>
          <p:sp>
            <p:nvSpPr>
              <p:cNvPr id="61" name="Google Shape;61;p5"/>
              <p:cNvSpPr/>
              <p:nvPr/>
            </p:nvSpPr>
            <p:spPr>
              <a:xfrm rot="-8647347">
                <a:off x="7831319" y="285616"/>
                <a:ext cx="388018" cy="388018"/>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
              <p:cNvSpPr/>
              <p:nvPr/>
            </p:nvSpPr>
            <p:spPr>
              <a:xfrm rot="-8647347">
                <a:off x="7831319" y="285616"/>
                <a:ext cx="388018" cy="388018"/>
              </a:xfrm>
              <a:prstGeom prst="pie">
                <a:avLst>
                  <a:gd fmla="val 19376841" name="adj1"/>
                  <a:gd fmla="val 12313574"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5"/>
            <p:cNvSpPr/>
            <p:nvPr/>
          </p:nvSpPr>
          <p:spPr>
            <a:xfrm>
              <a:off x="5399840" y="356365"/>
              <a:ext cx="2577000" cy="25770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5"/>
            <p:cNvSpPr/>
            <p:nvPr/>
          </p:nvSpPr>
          <p:spPr>
            <a:xfrm rot="2043858">
              <a:off x="5503813" y="460310"/>
              <a:ext cx="2369480" cy="236948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
            <p:cNvSpPr/>
            <p:nvPr/>
          </p:nvSpPr>
          <p:spPr>
            <a:xfrm>
              <a:off x="5399795" y="360281"/>
              <a:ext cx="2577000" cy="2577000"/>
            </a:xfrm>
            <a:prstGeom prst="pie">
              <a:avLst>
                <a:gd fmla="val 8801158"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rot="2044777">
              <a:off x="5911449" y="867729"/>
              <a:ext cx="1554223" cy="1554223"/>
            </a:xfrm>
            <a:prstGeom prst="ellips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5"/>
            <p:cNvSpPr/>
            <p:nvPr/>
          </p:nvSpPr>
          <p:spPr>
            <a:xfrm>
              <a:off x="5399795" y="356358"/>
              <a:ext cx="2577000" cy="2577000"/>
            </a:xfrm>
            <a:prstGeom prst="pie">
              <a:avLst>
                <a:gd fmla="val 1255410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rot="-9830444">
              <a:off x="6469759" y="3480727"/>
              <a:ext cx="320148" cy="320148"/>
            </a:xfrm>
            <a:prstGeom prst="pie">
              <a:avLst>
                <a:gd fmla="val 1937684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 name="Google Shape;69;p5"/>
          <p:cNvSpPr txBox="1"/>
          <p:nvPr>
            <p:ph type="ctrTitle"/>
          </p:nvPr>
        </p:nvSpPr>
        <p:spPr>
          <a:xfrm>
            <a:off x="1318400" y="2582100"/>
            <a:ext cx="68088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70" name="Google Shape;70;p5"/>
          <p:cNvSpPr txBox="1"/>
          <p:nvPr>
            <p:ph idx="1" type="subTitle"/>
          </p:nvPr>
        </p:nvSpPr>
        <p:spPr>
          <a:xfrm>
            <a:off x="1318400" y="5754080"/>
            <a:ext cx="6808800" cy="1112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Clr>
                <a:schemeClr val="lt1"/>
              </a:buClr>
              <a:buSzPts val="2600"/>
              <a:buNone/>
              <a:defRPr sz="2600">
                <a:solidFill>
                  <a:schemeClr val="lt1"/>
                </a:solidFill>
              </a:defRPr>
            </a:lvl1pPr>
            <a:lvl2pPr lvl="1" algn="l">
              <a:lnSpc>
                <a:spcPct val="100000"/>
              </a:lnSpc>
              <a:spcBef>
                <a:spcPts val="0"/>
              </a:spcBef>
              <a:spcAft>
                <a:spcPts val="0"/>
              </a:spcAft>
              <a:buClr>
                <a:schemeClr val="lt1"/>
              </a:buClr>
              <a:buSzPts val="2600"/>
              <a:buNone/>
              <a:defRPr sz="2600">
                <a:solidFill>
                  <a:schemeClr val="lt1"/>
                </a:solidFill>
              </a:defRPr>
            </a:lvl2pPr>
            <a:lvl3pPr lvl="2" algn="l">
              <a:lnSpc>
                <a:spcPct val="100000"/>
              </a:lnSpc>
              <a:spcBef>
                <a:spcPts val="0"/>
              </a:spcBef>
              <a:spcAft>
                <a:spcPts val="0"/>
              </a:spcAft>
              <a:buClr>
                <a:schemeClr val="lt1"/>
              </a:buClr>
              <a:buSzPts val="2600"/>
              <a:buNone/>
              <a:defRPr sz="2600">
                <a:solidFill>
                  <a:schemeClr val="lt1"/>
                </a:solidFill>
              </a:defRPr>
            </a:lvl3pPr>
            <a:lvl4pPr lvl="3" algn="l">
              <a:lnSpc>
                <a:spcPct val="100000"/>
              </a:lnSpc>
              <a:spcBef>
                <a:spcPts val="0"/>
              </a:spcBef>
              <a:spcAft>
                <a:spcPts val="0"/>
              </a:spcAft>
              <a:buClr>
                <a:schemeClr val="lt1"/>
              </a:buClr>
              <a:buSzPts val="2600"/>
              <a:buNone/>
              <a:defRPr sz="2600">
                <a:solidFill>
                  <a:schemeClr val="lt1"/>
                </a:solidFill>
              </a:defRPr>
            </a:lvl4pPr>
            <a:lvl5pPr lvl="4" algn="l">
              <a:lnSpc>
                <a:spcPct val="100000"/>
              </a:lnSpc>
              <a:spcBef>
                <a:spcPts val="0"/>
              </a:spcBef>
              <a:spcAft>
                <a:spcPts val="0"/>
              </a:spcAft>
              <a:buClr>
                <a:schemeClr val="lt1"/>
              </a:buClr>
              <a:buSzPts val="2600"/>
              <a:buNone/>
              <a:defRPr sz="2600">
                <a:solidFill>
                  <a:schemeClr val="lt1"/>
                </a:solidFill>
              </a:defRPr>
            </a:lvl5pPr>
            <a:lvl6pPr lvl="5" algn="l">
              <a:lnSpc>
                <a:spcPct val="100000"/>
              </a:lnSpc>
              <a:spcBef>
                <a:spcPts val="0"/>
              </a:spcBef>
              <a:spcAft>
                <a:spcPts val="0"/>
              </a:spcAft>
              <a:buClr>
                <a:schemeClr val="lt1"/>
              </a:buClr>
              <a:buSzPts val="2600"/>
              <a:buNone/>
              <a:defRPr sz="2600">
                <a:solidFill>
                  <a:schemeClr val="lt1"/>
                </a:solidFill>
              </a:defRPr>
            </a:lvl6pPr>
            <a:lvl7pPr lvl="6" algn="l">
              <a:lnSpc>
                <a:spcPct val="100000"/>
              </a:lnSpc>
              <a:spcBef>
                <a:spcPts val="0"/>
              </a:spcBef>
              <a:spcAft>
                <a:spcPts val="0"/>
              </a:spcAft>
              <a:buClr>
                <a:schemeClr val="lt1"/>
              </a:buClr>
              <a:buSzPts val="2600"/>
              <a:buNone/>
              <a:defRPr sz="2600">
                <a:solidFill>
                  <a:schemeClr val="lt1"/>
                </a:solidFill>
              </a:defRPr>
            </a:lvl7pPr>
            <a:lvl8pPr lvl="7" algn="l">
              <a:lnSpc>
                <a:spcPct val="100000"/>
              </a:lnSpc>
              <a:spcBef>
                <a:spcPts val="0"/>
              </a:spcBef>
              <a:spcAft>
                <a:spcPts val="0"/>
              </a:spcAft>
              <a:buClr>
                <a:schemeClr val="lt1"/>
              </a:buClr>
              <a:buSzPts val="2600"/>
              <a:buNone/>
              <a:defRPr sz="2600">
                <a:solidFill>
                  <a:schemeClr val="lt1"/>
                </a:solidFill>
              </a:defRPr>
            </a:lvl8pPr>
            <a:lvl9pPr lvl="8" algn="l">
              <a:lnSpc>
                <a:spcPct val="100000"/>
              </a:lnSpc>
              <a:spcBef>
                <a:spcPts val="0"/>
              </a:spcBef>
              <a:spcAft>
                <a:spcPts val="0"/>
              </a:spcAft>
              <a:buClr>
                <a:schemeClr val="lt1"/>
              </a:buClr>
              <a:buSzPts val="2600"/>
              <a:buNone/>
              <a:defRPr sz="2600">
                <a:solidFill>
                  <a:schemeClr val="lt1"/>
                </a:solidFill>
              </a:defRPr>
            </a:lvl9pPr>
          </a:lstStyle>
          <a:p/>
        </p:txBody>
      </p:sp>
      <p:sp>
        <p:nvSpPr>
          <p:cNvPr id="71" name="Google Shape;71;p5"/>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72" name="Shape 72"/>
        <p:cNvGrpSpPr/>
        <p:nvPr/>
      </p:nvGrpSpPr>
      <p:grpSpPr>
        <a:xfrm>
          <a:off x="0" y="0"/>
          <a:ext cx="0" cy="0"/>
          <a:chOff x="0" y="0"/>
          <a:chExt cx="0" cy="0"/>
        </a:xfrm>
      </p:grpSpPr>
      <p:grpSp>
        <p:nvGrpSpPr>
          <p:cNvPr id="73" name="Google Shape;73;p6"/>
          <p:cNvGrpSpPr/>
          <p:nvPr/>
        </p:nvGrpSpPr>
        <p:grpSpPr>
          <a:xfrm>
            <a:off x="234830" y="5450"/>
            <a:ext cx="1973142" cy="2215256"/>
            <a:chOff x="146769" y="3406"/>
            <a:chExt cx="1233214" cy="1384535"/>
          </a:xfrm>
        </p:grpSpPr>
        <p:grpSp>
          <p:nvGrpSpPr>
            <p:cNvPr id="74" name="Google Shape;74;p6"/>
            <p:cNvGrpSpPr/>
            <p:nvPr/>
          </p:nvGrpSpPr>
          <p:grpSpPr>
            <a:xfrm>
              <a:off x="1063183" y="3406"/>
              <a:ext cx="316800" cy="688513"/>
              <a:chOff x="1063183" y="3406"/>
              <a:chExt cx="316800" cy="688513"/>
            </a:xfrm>
          </p:grpSpPr>
          <p:sp>
            <p:nvSpPr>
              <p:cNvPr id="75" name="Google Shape;75;p6"/>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6"/>
            <p:cNvGrpSpPr/>
            <p:nvPr/>
          </p:nvGrpSpPr>
          <p:grpSpPr>
            <a:xfrm>
              <a:off x="604976" y="3406"/>
              <a:ext cx="316800" cy="1036524"/>
              <a:chOff x="604976" y="3406"/>
              <a:chExt cx="316800" cy="1036524"/>
            </a:xfrm>
          </p:grpSpPr>
          <p:sp>
            <p:nvSpPr>
              <p:cNvPr id="78" name="Google Shape;78;p6"/>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6"/>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 name="Google Shape;81;p6"/>
            <p:cNvGrpSpPr/>
            <p:nvPr/>
          </p:nvGrpSpPr>
          <p:grpSpPr>
            <a:xfrm>
              <a:off x="146769" y="3406"/>
              <a:ext cx="316800" cy="1384535"/>
              <a:chOff x="146769" y="3406"/>
              <a:chExt cx="316800" cy="1384535"/>
            </a:xfrm>
          </p:grpSpPr>
          <p:sp>
            <p:nvSpPr>
              <p:cNvPr id="82" name="Google Shape;82;p6"/>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6"/>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6"/>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6" name="Google Shape;86;p6"/>
          <p:cNvGrpSpPr/>
          <p:nvPr/>
        </p:nvGrpSpPr>
        <p:grpSpPr>
          <a:xfrm>
            <a:off x="10840134" y="4646413"/>
            <a:ext cx="3497834" cy="3583200"/>
            <a:chOff x="6775084" y="2904008"/>
            <a:chExt cx="2186147" cy="2239500"/>
          </a:xfrm>
        </p:grpSpPr>
        <p:grpSp>
          <p:nvGrpSpPr>
            <p:cNvPr id="87" name="Google Shape;87;p6"/>
            <p:cNvGrpSpPr/>
            <p:nvPr/>
          </p:nvGrpSpPr>
          <p:grpSpPr>
            <a:xfrm>
              <a:off x="6775084" y="4253708"/>
              <a:ext cx="409500" cy="889800"/>
              <a:chOff x="6775084" y="4253708"/>
              <a:chExt cx="409500" cy="889800"/>
            </a:xfrm>
          </p:grpSpPr>
          <p:sp>
            <p:nvSpPr>
              <p:cNvPr id="88" name="Google Shape;88;p6"/>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6"/>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 name="Google Shape;90;p6"/>
            <p:cNvGrpSpPr/>
            <p:nvPr/>
          </p:nvGrpSpPr>
          <p:grpSpPr>
            <a:xfrm>
              <a:off x="7367299" y="3804008"/>
              <a:ext cx="409500" cy="1339500"/>
              <a:chOff x="7367299" y="3804008"/>
              <a:chExt cx="409500" cy="1339500"/>
            </a:xfrm>
          </p:grpSpPr>
          <p:sp>
            <p:nvSpPr>
              <p:cNvPr id="91" name="Google Shape;91;p6"/>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6"/>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6"/>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 name="Google Shape;94;p6"/>
            <p:cNvGrpSpPr/>
            <p:nvPr/>
          </p:nvGrpSpPr>
          <p:grpSpPr>
            <a:xfrm>
              <a:off x="7959516" y="3354008"/>
              <a:ext cx="409500" cy="1789500"/>
              <a:chOff x="7959516" y="3354008"/>
              <a:chExt cx="409500" cy="1789500"/>
            </a:xfrm>
          </p:grpSpPr>
          <p:sp>
            <p:nvSpPr>
              <p:cNvPr id="95" name="Google Shape;95;p6"/>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6"/>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6"/>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 name="Google Shape;99;p6"/>
            <p:cNvGrpSpPr/>
            <p:nvPr/>
          </p:nvGrpSpPr>
          <p:grpSpPr>
            <a:xfrm>
              <a:off x="8551731" y="2904008"/>
              <a:ext cx="409500" cy="2239500"/>
              <a:chOff x="8551731" y="2904008"/>
              <a:chExt cx="409500" cy="2239500"/>
            </a:xfrm>
          </p:grpSpPr>
          <p:sp>
            <p:nvSpPr>
              <p:cNvPr id="100" name="Google Shape;100;p6"/>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6"/>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6"/>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6"/>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5" name="Google Shape;105;p6"/>
          <p:cNvSpPr txBox="1"/>
          <p:nvPr>
            <p:ph type="title"/>
          </p:nvPr>
        </p:nvSpPr>
        <p:spPr>
          <a:xfrm>
            <a:off x="1318400" y="2582120"/>
            <a:ext cx="93726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106" name="Google Shape;106;p6"/>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grpSp>
        <p:nvGrpSpPr>
          <p:cNvPr id="108" name="Google Shape;108;p7"/>
          <p:cNvGrpSpPr/>
          <p:nvPr/>
        </p:nvGrpSpPr>
        <p:grpSpPr>
          <a:xfrm>
            <a:off x="1001538" y="478999"/>
            <a:ext cx="1598876" cy="1598876"/>
            <a:chOff x="348199" y="179450"/>
            <a:chExt cx="1116300" cy="1116300"/>
          </a:xfrm>
        </p:grpSpPr>
        <p:sp>
          <p:nvSpPr>
            <p:cNvPr id="109" name="Google Shape;109;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p7"/>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12" name="Google Shape;112;p7"/>
          <p:cNvSpPr txBox="1"/>
          <p:nvPr>
            <p:ph idx="1" type="body"/>
          </p:nvPr>
        </p:nvSpPr>
        <p:spPr>
          <a:xfrm>
            <a:off x="2086080" y="3184080"/>
            <a:ext cx="1124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13" name="Google Shape;113;p7"/>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grpSp>
        <p:nvGrpSpPr>
          <p:cNvPr id="115" name="Google Shape;115;p8"/>
          <p:cNvGrpSpPr/>
          <p:nvPr/>
        </p:nvGrpSpPr>
        <p:grpSpPr>
          <a:xfrm>
            <a:off x="1001538" y="478999"/>
            <a:ext cx="1598876" cy="1598876"/>
            <a:chOff x="348199" y="179450"/>
            <a:chExt cx="1116300" cy="1116300"/>
          </a:xfrm>
        </p:grpSpPr>
        <p:sp>
          <p:nvSpPr>
            <p:cNvPr id="116" name="Google Shape;116;p8"/>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8"/>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8" name="Google Shape;118;p8"/>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19" name="Google Shape;119;p8"/>
          <p:cNvSpPr txBox="1"/>
          <p:nvPr>
            <p:ph idx="1" type="body"/>
          </p:nvPr>
        </p:nvSpPr>
        <p:spPr>
          <a:xfrm>
            <a:off x="208608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0" name="Google Shape;120;p8"/>
          <p:cNvSpPr txBox="1"/>
          <p:nvPr>
            <p:ph idx="2" type="body"/>
          </p:nvPr>
        </p:nvSpPr>
        <p:spPr>
          <a:xfrm>
            <a:off x="784584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1" name="Google Shape;121;p8"/>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grpSp>
        <p:nvGrpSpPr>
          <p:cNvPr id="123" name="Google Shape;123;p9"/>
          <p:cNvGrpSpPr/>
          <p:nvPr/>
        </p:nvGrpSpPr>
        <p:grpSpPr>
          <a:xfrm>
            <a:off x="1001538" y="478999"/>
            <a:ext cx="1598876" cy="1598876"/>
            <a:chOff x="348199" y="179450"/>
            <a:chExt cx="1116300" cy="1116300"/>
          </a:xfrm>
        </p:grpSpPr>
        <p:sp>
          <p:nvSpPr>
            <p:cNvPr id="124" name="Google Shape;124;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 name="Google Shape;126;p9"/>
          <p:cNvSpPr txBox="1"/>
          <p:nvPr>
            <p:ph type="title"/>
          </p:nvPr>
        </p:nvSpPr>
        <p:spPr>
          <a:xfrm>
            <a:off x="2086080" y="957720"/>
            <a:ext cx="5299200" cy="2544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27" name="Google Shape;127;p9"/>
          <p:cNvSpPr txBox="1"/>
          <p:nvPr>
            <p:ph idx="1" type="body"/>
          </p:nvPr>
        </p:nvSpPr>
        <p:spPr>
          <a:xfrm>
            <a:off x="2086080" y="3695480"/>
            <a:ext cx="5299200" cy="3555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8" name="Google Shape;128;p9"/>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grpSp>
        <p:nvGrpSpPr>
          <p:cNvPr id="130" name="Google Shape;130;p10"/>
          <p:cNvGrpSpPr/>
          <p:nvPr/>
        </p:nvGrpSpPr>
        <p:grpSpPr>
          <a:xfrm>
            <a:off x="1001538" y="478999"/>
            <a:ext cx="1598876" cy="1598876"/>
            <a:chOff x="348199" y="179450"/>
            <a:chExt cx="1116300" cy="1116300"/>
          </a:xfrm>
        </p:grpSpPr>
        <p:sp>
          <p:nvSpPr>
            <p:cNvPr id="131" name="Google Shape;131;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 name="Google Shape;133;p10"/>
          <p:cNvSpPr txBox="1"/>
          <p:nvPr>
            <p:ph type="title"/>
          </p:nvPr>
        </p:nvSpPr>
        <p:spPr>
          <a:xfrm>
            <a:off x="2086080" y="957720"/>
            <a:ext cx="5488800" cy="31842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34" name="Google Shape;134;p10"/>
          <p:cNvSpPr txBox="1"/>
          <p:nvPr>
            <p:ph idx="1" type="subTitle"/>
          </p:nvPr>
        </p:nvSpPr>
        <p:spPr>
          <a:xfrm>
            <a:off x="2086080" y="4389124"/>
            <a:ext cx="5488800" cy="11616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135" name="Google Shape;135;p10"/>
          <p:cNvSpPr txBox="1"/>
          <p:nvPr>
            <p:ph idx="2" type="body"/>
          </p:nvPr>
        </p:nvSpPr>
        <p:spPr>
          <a:xfrm>
            <a:off x="7845920" y="1057600"/>
            <a:ext cx="5488800" cy="61929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36" name="Google Shape;136;p10"/>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7" name="Shape 137"/>
        <p:cNvGrpSpPr/>
        <p:nvPr/>
      </p:nvGrpSpPr>
      <p:grpSpPr>
        <a:xfrm>
          <a:off x="0" y="0"/>
          <a:ext cx="0" cy="0"/>
          <a:chOff x="0" y="0"/>
          <a:chExt cx="0" cy="0"/>
        </a:xfrm>
      </p:grpSpPr>
      <p:grpSp>
        <p:nvGrpSpPr>
          <p:cNvPr id="138" name="Google Shape;138;p11"/>
          <p:cNvGrpSpPr/>
          <p:nvPr/>
        </p:nvGrpSpPr>
        <p:grpSpPr>
          <a:xfrm>
            <a:off x="1141383" y="6155382"/>
            <a:ext cx="1320583" cy="1320583"/>
            <a:chOff x="348199" y="179450"/>
            <a:chExt cx="1116300" cy="1116300"/>
          </a:xfrm>
        </p:grpSpPr>
        <p:sp>
          <p:nvSpPr>
            <p:cNvPr id="139" name="Google Shape;139;p1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1"/>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 name="Google Shape;141;p11"/>
          <p:cNvSpPr txBox="1"/>
          <p:nvPr>
            <p:ph idx="1" type="body"/>
          </p:nvPr>
        </p:nvSpPr>
        <p:spPr>
          <a:xfrm>
            <a:off x="2086080" y="6622360"/>
            <a:ext cx="9348900" cy="855900"/>
          </a:xfrm>
          <a:prstGeom prst="rect">
            <a:avLst/>
          </a:prstGeom>
          <a:noFill/>
          <a:ln>
            <a:noFill/>
          </a:ln>
        </p:spPr>
        <p:txBody>
          <a:bodyPr anchorCtr="0" anchor="t"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142" name="Google Shape;142;p11"/>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3" name="Shape 143"/>
        <p:cNvGrpSpPr/>
        <p:nvPr/>
      </p:nvGrpSpPr>
      <p:grpSpPr>
        <a:xfrm>
          <a:off x="0" y="0"/>
          <a:ext cx="0" cy="0"/>
          <a:chOff x="0" y="0"/>
          <a:chExt cx="0" cy="0"/>
        </a:xfrm>
      </p:grpSpPr>
      <p:grpSp>
        <p:nvGrpSpPr>
          <p:cNvPr id="144" name="Google Shape;144;p12"/>
          <p:cNvGrpSpPr/>
          <p:nvPr/>
        </p:nvGrpSpPr>
        <p:grpSpPr>
          <a:xfrm>
            <a:off x="83" y="6558720"/>
            <a:ext cx="14630457" cy="1670880"/>
            <a:chOff x="52" y="4099200"/>
            <a:chExt cx="9144036" cy="1044300"/>
          </a:xfrm>
        </p:grpSpPr>
        <p:grpSp>
          <p:nvGrpSpPr>
            <p:cNvPr id="145" name="Google Shape;145;p12"/>
            <p:cNvGrpSpPr/>
            <p:nvPr/>
          </p:nvGrpSpPr>
          <p:grpSpPr>
            <a:xfrm>
              <a:off x="52" y="4309200"/>
              <a:ext cx="231622" cy="834300"/>
              <a:chOff x="2688737" y="4301380"/>
              <a:chExt cx="231900" cy="834300"/>
            </a:xfrm>
          </p:grpSpPr>
          <p:sp>
            <p:nvSpPr>
              <p:cNvPr id="146" name="Google Shape;146;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 name="Google Shape;150;p12"/>
            <p:cNvGrpSpPr/>
            <p:nvPr/>
          </p:nvGrpSpPr>
          <p:grpSpPr>
            <a:xfrm>
              <a:off x="371406" y="4099200"/>
              <a:ext cx="231622" cy="1044300"/>
              <a:chOff x="2688737" y="4091380"/>
              <a:chExt cx="231900" cy="1044300"/>
            </a:xfrm>
          </p:grpSpPr>
          <p:sp>
            <p:nvSpPr>
              <p:cNvPr id="151" name="Google Shape;151;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2"/>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 name="Google Shape;156;p12"/>
            <p:cNvGrpSpPr/>
            <p:nvPr/>
          </p:nvGrpSpPr>
          <p:grpSpPr>
            <a:xfrm>
              <a:off x="742761" y="4309200"/>
              <a:ext cx="231622" cy="834300"/>
              <a:chOff x="2688737" y="4301380"/>
              <a:chExt cx="231900" cy="834300"/>
            </a:xfrm>
          </p:grpSpPr>
          <p:sp>
            <p:nvSpPr>
              <p:cNvPr id="157" name="Google Shape;157;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12"/>
            <p:cNvGrpSpPr/>
            <p:nvPr/>
          </p:nvGrpSpPr>
          <p:grpSpPr>
            <a:xfrm>
              <a:off x="1114115" y="4518900"/>
              <a:ext cx="231622" cy="624600"/>
              <a:chOff x="2688737" y="4511080"/>
              <a:chExt cx="231900" cy="624600"/>
            </a:xfrm>
          </p:grpSpPr>
          <p:sp>
            <p:nvSpPr>
              <p:cNvPr id="162" name="Google Shape;162;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 name="Google Shape;165;p12"/>
            <p:cNvGrpSpPr/>
            <p:nvPr/>
          </p:nvGrpSpPr>
          <p:grpSpPr>
            <a:xfrm>
              <a:off x="1856753" y="4099200"/>
              <a:ext cx="231600" cy="1044300"/>
              <a:chOff x="1856753" y="4099200"/>
              <a:chExt cx="231600" cy="1044300"/>
            </a:xfrm>
          </p:grpSpPr>
          <p:sp>
            <p:nvSpPr>
              <p:cNvPr id="166" name="Google Shape;166;p12"/>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2"/>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2"/>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2"/>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2"/>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12"/>
            <p:cNvGrpSpPr/>
            <p:nvPr/>
          </p:nvGrpSpPr>
          <p:grpSpPr>
            <a:xfrm>
              <a:off x="2228107" y="4309200"/>
              <a:ext cx="231600" cy="834300"/>
              <a:chOff x="2228107" y="4309200"/>
              <a:chExt cx="231600" cy="834300"/>
            </a:xfrm>
          </p:grpSpPr>
          <p:sp>
            <p:nvSpPr>
              <p:cNvPr id="172" name="Google Shape;172;p12"/>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2"/>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2"/>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2"/>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 name="Google Shape;176;p12"/>
            <p:cNvGrpSpPr/>
            <p:nvPr/>
          </p:nvGrpSpPr>
          <p:grpSpPr>
            <a:xfrm>
              <a:off x="2599462" y="4518900"/>
              <a:ext cx="231600" cy="624600"/>
              <a:chOff x="2599462" y="4518900"/>
              <a:chExt cx="231600" cy="624600"/>
            </a:xfrm>
          </p:grpSpPr>
          <p:sp>
            <p:nvSpPr>
              <p:cNvPr id="177" name="Google Shape;177;p12"/>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2"/>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2"/>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 name="Google Shape;180;p12"/>
            <p:cNvGrpSpPr/>
            <p:nvPr/>
          </p:nvGrpSpPr>
          <p:grpSpPr>
            <a:xfrm>
              <a:off x="3342171" y="4099200"/>
              <a:ext cx="231600" cy="1044300"/>
              <a:chOff x="3342171" y="4099200"/>
              <a:chExt cx="231600" cy="1044300"/>
            </a:xfrm>
          </p:grpSpPr>
          <p:sp>
            <p:nvSpPr>
              <p:cNvPr id="181" name="Google Shape;181;p12"/>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2"/>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2"/>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2"/>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 name="Google Shape;186;p12"/>
            <p:cNvGrpSpPr/>
            <p:nvPr/>
          </p:nvGrpSpPr>
          <p:grpSpPr>
            <a:xfrm>
              <a:off x="3713525" y="4309200"/>
              <a:ext cx="231600" cy="834300"/>
              <a:chOff x="3713525" y="4309200"/>
              <a:chExt cx="231600" cy="834300"/>
            </a:xfrm>
          </p:grpSpPr>
          <p:sp>
            <p:nvSpPr>
              <p:cNvPr id="187" name="Google Shape;187;p12"/>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2"/>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2"/>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2"/>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 name="Google Shape;191;p12"/>
            <p:cNvGrpSpPr/>
            <p:nvPr/>
          </p:nvGrpSpPr>
          <p:grpSpPr>
            <a:xfrm>
              <a:off x="1485398" y="4309200"/>
              <a:ext cx="231600" cy="834300"/>
              <a:chOff x="1485398" y="4309200"/>
              <a:chExt cx="231600" cy="834300"/>
            </a:xfrm>
          </p:grpSpPr>
          <p:sp>
            <p:nvSpPr>
              <p:cNvPr id="192" name="Google Shape;192;p12"/>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2"/>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2"/>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2"/>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6" name="Google Shape;196;p12"/>
            <p:cNvGrpSpPr/>
            <p:nvPr/>
          </p:nvGrpSpPr>
          <p:grpSpPr>
            <a:xfrm>
              <a:off x="4084879" y="4518900"/>
              <a:ext cx="231600" cy="624600"/>
              <a:chOff x="4084879" y="4518900"/>
              <a:chExt cx="231600" cy="624600"/>
            </a:xfrm>
          </p:grpSpPr>
          <p:sp>
            <p:nvSpPr>
              <p:cNvPr id="197" name="Google Shape;197;p12"/>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2"/>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2"/>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12"/>
            <p:cNvGrpSpPr/>
            <p:nvPr/>
          </p:nvGrpSpPr>
          <p:grpSpPr>
            <a:xfrm>
              <a:off x="2970816" y="4309200"/>
              <a:ext cx="231600" cy="834300"/>
              <a:chOff x="2970816" y="4309200"/>
              <a:chExt cx="231600" cy="834300"/>
            </a:xfrm>
          </p:grpSpPr>
          <p:sp>
            <p:nvSpPr>
              <p:cNvPr id="201" name="Google Shape;201;p12"/>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2"/>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2"/>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2"/>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 name="Google Shape;205;p12"/>
            <p:cNvGrpSpPr/>
            <p:nvPr/>
          </p:nvGrpSpPr>
          <p:grpSpPr>
            <a:xfrm>
              <a:off x="4456234" y="4309200"/>
              <a:ext cx="231600" cy="834300"/>
              <a:chOff x="4456234" y="4309200"/>
              <a:chExt cx="231600" cy="834300"/>
            </a:xfrm>
          </p:grpSpPr>
          <p:sp>
            <p:nvSpPr>
              <p:cNvPr id="206" name="Google Shape;206;p12"/>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2"/>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2"/>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2"/>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 name="Google Shape;210;p12"/>
            <p:cNvGrpSpPr/>
            <p:nvPr/>
          </p:nvGrpSpPr>
          <p:grpSpPr>
            <a:xfrm>
              <a:off x="4827588" y="4099200"/>
              <a:ext cx="231600" cy="1044300"/>
              <a:chOff x="4827588" y="4099200"/>
              <a:chExt cx="231600" cy="1044300"/>
            </a:xfrm>
          </p:grpSpPr>
          <p:sp>
            <p:nvSpPr>
              <p:cNvPr id="211" name="Google Shape;211;p12"/>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2"/>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2"/>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2"/>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2"/>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12"/>
            <p:cNvGrpSpPr/>
            <p:nvPr/>
          </p:nvGrpSpPr>
          <p:grpSpPr>
            <a:xfrm>
              <a:off x="5198943" y="4309200"/>
              <a:ext cx="231600" cy="834300"/>
              <a:chOff x="5198943" y="4309200"/>
              <a:chExt cx="231600" cy="834300"/>
            </a:xfrm>
          </p:grpSpPr>
          <p:sp>
            <p:nvSpPr>
              <p:cNvPr id="217" name="Google Shape;217;p12"/>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2"/>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2"/>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2"/>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 name="Google Shape;221;p12"/>
            <p:cNvGrpSpPr/>
            <p:nvPr/>
          </p:nvGrpSpPr>
          <p:grpSpPr>
            <a:xfrm>
              <a:off x="5570297" y="4518900"/>
              <a:ext cx="231600" cy="624600"/>
              <a:chOff x="5570297" y="4518900"/>
              <a:chExt cx="231600" cy="624600"/>
            </a:xfrm>
          </p:grpSpPr>
          <p:sp>
            <p:nvSpPr>
              <p:cNvPr id="222" name="Google Shape;222;p12"/>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2"/>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2"/>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 name="Google Shape;225;p12"/>
            <p:cNvGrpSpPr/>
            <p:nvPr/>
          </p:nvGrpSpPr>
          <p:grpSpPr>
            <a:xfrm>
              <a:off x="5941652" y="4309200"/>
              <a:ext cx="231600" cy="834300"/>
              <a:chOff x="5941652" y="4309200"/>
              <a:chExt cx="231600" cy="834300"/>
            </a:xfrm>
          </p:grpSpPr>
          <p:sp>
            <p:nvSpPr>
              <p:cNvPr id="226" name="Google Shape;226;p12"/>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2"/>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2"/>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2"/>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 name="Google Shape;230;p12"/>
            <p:cNvGrpSpPr/>
            <p:nvPr/>
          </p:nvGrpSpPr>
          <p:grpSpPr>
            <a:xfrm>
              <a:off x="6313006" y="4099200"/>
              <a:ext cx="231600" cy="1044300"/>
              <a:chOff x="6313006" y="4099200"/>
              <a:chExt cx="231600" cy="1044300"/>
            </a:xfrm>
          </p:grpSpPr>
          <p:sp>
            <p:nvSpPr>
              <p:cNvPr id="231" name="Google Shape;231;p12"/>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2"/>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2"/>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2"/>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2"/>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 name="Google Shape;236;p12"/>
            <p:cNvGrpSpPr/>
            <p:nvPr/>
          </p:nvGrpSpPr>
          <p:grpSpPr>
            <a:xfrm>
              <a:off x="6684361" y="4309200"/>
              <a:ext cx="231600" cy="834300"/>
              <a:chOff x="6684361" y="4309200"/>
              <a:chExt cx="231600" cy="834300"/>
            </a:xfrm>
          </p:grpSpPr>
          <p:sp>
            <p:nvSpPr>
              <p:cNvPr id="237" name="Google Shape;237;p12"/>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2"/>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2"/>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2"/>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1" name="Google Shape;241;p12"/>
            <p:cNvGrpSpPr/>
            <p:nvPr/>
          </p:nvGrpSpPr>
          <p:grpSpPr>
            <a:xfrm>
              <a:off x="7055715" y="4518900"/>
              <a:ext cx="231600" cy="624600"/>
              <a:chOff x="7055715" y="4518900"/>
              <a:chExt cx="231600" cy="624600"/>
            </a:xfrm>
          </p:grpSpPr>
          <p:sp>
            <p:nvSpPr>
              <p:cNvPr id="242" name="Google Shape;242;p12"/>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2"/>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2"/>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 name="Google Shape;245;p12"/>
            <p:cNvGrpSpPr/>
            <p:nvPr/>
          </p:nvGrpSpPr>
          <p:grpSpPr>
            <a:xfrm>
              <a:off x="7798424" y="4099200"/>
              <a:ext cx="231600" cy="1044300"/>
              <a:chOff x="7798424" y="4099200"/>
              <a:chExt cx="231600" cy="1044300"/>
            </a:xfrm>
          </p:grpSpPr>
          <p:sp>
            <p:nvSpPr>
              <p:cNvPr id="246" name="Google Shape;246;p12"/>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2"/>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2"/>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2"/>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2"/>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 name="Google Shape;251;p12"/>
            <p:cNvGrpSpPr/>
            <p:nvPr/>
          </p:nvGrpSpPr>
          <p:grpSpPr>
            <a:xfrm>
              <a:off x="8169779" y="4309200"/>
              <a:ext cx="231600" cy="834300"/>
              <a:chOff x="8169779" y="4309200"/>
              <a:chExt cx="231600" cy="834300"/>
            </a:xfrm>
          </p:grpSpPr>
          <p:sp>
            <p:nvSpPr>
              <p:cNvPr id="252" name="Google Shape;252;p12"/>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2"/>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2"/>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2"/>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12"/>
            <p:cNvGrpSpPr/>
            <p:nvPr/>
          </p:nvGrpSpPr>
          <p:grpSpPr>
            <a:xfrm>
              <a:off x="7427070" y="4309200"/>
              <a:ext cx="231600" cy="834300"/>
              <a:chOff x="7427070" y="4309200"/>
              <a:chExt cx="231600" cy="834300"/>
            </a:xfrm>
          </p:grpSpPr>
          <p:sp>
            <p:nvSpPr>
              <p:cNvPr id="257" name="Google Shape;257;p12"/>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2"/>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2"/>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2"/>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 name="Google Shape;261;p12"/>
            <p:cNvGrpSpPr/>
            <p:nvPr/>
          </p:nvGrpSpPr>
          <p:grpSpPr>
            <a:xfrm>
              <a:off x="8541133" y="4518900"/>
              <a:ext cx="231600" cy="624600"/>
              <a:chOff x="8541133" y="4518900"/>
              <a:chExt cx="231600" cy="624600"/>
            </a:xfrm>
          </p:grpSpPr>
          <p:sp>
            <p:nvSpPr>
              <p:cNvPr id="262" name="Google Shape;262;p12"/>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2"/>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2"/>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 name="Google Shape;265;p12"/>
            <p:cNvGrpSpPr/>
            <p:nvPr/>
          </p:nvGrpSpPr>
          <p:grpSpPr>
            <a:xfrm>
              <a:off x="8912488" y="4309200"/>
              <a:ext cx="231600" cy="834300"/>
              <a:chOff x="8912488" y="4309200"/>
              <a:chExt cx="231600" cy="834300"/>
            </a:xfrm>
          </p:grpSpPr>
          <p:sp>
            <p:nvSpPr>
              <p:cNvPr id="266" name="Google Shape;266;p12"/>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2"/>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2"/>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2"/>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70" name="Google Shape;270;p12"/>
          <p:cNvSpPr txBox="1"/>
          <p:nvPr>
            <p:ph hasCustomPrompt="1" type="title"/>
          </p:nvPr>
        </p:nvSpPr>
        <p:spPr>
          <a:xfrm>
            <a:off x="2221800" y="1236360"/>
            <a:ext cx="10187100" cy="29814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Clr>
                <a:schemeClr val="lt1"/>
              </a:buClr>
              <a:buSzPts val="12800"/>
              <a:buNone/>
              <a:defRPr sz="12800">
                <a:solidFill>
                  <a:schemeClr val="lt1"/>
                </a:solidFill>
              </a:defRPr>
            </a:lvl1pPr>
            <a:lvl2pPr lvl="1" algn="ctr">
              <a:lnSpc>
                <a:spcPct val="100000"/>
              </a:lnSpc>
              <a:spcBef>
                <a:spcPts val="0"/>
              </a:spcBef>
              <a:spcAft>
                <a:spcPts val="0"/>
              </a:spcAft>
              <a:buClr>
                <a:schemeClr val="lt1"/>
              </a:buClr>
              <a:buSzPts val="12800"/>
              <a:buNone/>
              <a:defRPr sz="12800">
                <a:solidFill>
                  <a:schemeClr val="lt1"/>
                </a:solidFill>
              </a:defRPr>
            </a:lvl2pPr>
            <a:lvl3pPr lvl="2" algn="ctr">
              <a:lnSpc>
                <a:spcPct val="100000"/>
              </a:lnSpc>
              <a:spcBef>
                <a:spcPts val="0"/>
              </a:spcBef>
              <a:spcAft>
                <a:spcPts val="0"/>
              </a:spcAft>
              <a:buClr>
                <a:schemeClr val="lt1"/>
              </a:buClr>
              <a:buSzPts val="12800"/>
              <a:buNone/>
              <a:defRPr sz="12800">
                <a:solidFill>
                  <a:schemeClr val="lt1"/>
                </a:solidFill>
              </a:defRPr>
            </a:lvl3pPr>
            <a:lvl4pPr lvl="3" algn="ctr">
              <a:lnSpc>
                <a:spcPct val="100000"/>
              </a:lnSpc>
              <a:spcBef>
                <a:spcPts val="0"/>
              </a:spcBef>
              <a:spcAft>
                <a:spcPts val="0"/>
              </a:spcAft>
              <a:buClr>
                <a:schemeClr val="lt1"/>
              </a:buClr>
              <a:buSzPts val="12800"/>
              <a:buNone/>
              <a:defRPr sz="12800">
                <a:solidFill>
                  <a:schemeClr val="lt1"/>
                </a:solidFill>
              </a:defRPr>
            </a:lvl4pPr>
            <a:lvl5pPr lvl="4" algn="ctr">
              <a:lnSpc>
                <a:spcPct val="100000"/>
              </a:lnSpc>
              <a:spcBef>
                <a:spcPts val="0"/>
              </a:spcBef>
              <a:spcAft>
                <a:spcPts val="0"/>
              </a:spcAft>
              <a:buClr>
                <a:schemeClr val="lt1"/>
              </a:buClr>
              <a:buSzPts val="12800"/>
              <a:buNone/>
              <a:defRPr sz="12800">
                <a:solidFill>
                  <a:schemeClr val="lt1"/>
                </a:solidFill>
              </a:defRPr>
            </a:lvl5pPr>
            <a:lvl6pPr lvl="5" algn="ctr">
              <a:lnSpc>
                <a:spcPct val="100000"/>
              </a:lnSpc>
              <a:spcBef>
                <a:spcPts val="0"/>
              </a:spcBef>
              <a:spcAft>
                <a:spcPts val="0"/>
              </a:spcAft>
              <a:buClr>
                <a:schemeClr val="lt1"/>
              </a:buClr>
              <a:buSzPts val="12800"/>
              <a:buNone/>
              <a:defRPr sz="12800">
                <a:solidFill>
                  <a:schemeClr val="lt1"/>
                </a:solidFill>
              </a:defRPr>
            </a:lvl6pPr>
            <a:lvl7pPr lvl="6" algn="ctr">
              <a:lnSpc>
                <a:spcPct val="100000"/>
              </a:lnSpc>
              <a:spcBef>
                <a:spcPts val="0"/>
              </a:spcBef>
              <a:spcAft>
                <a:spcPts val="0"/>
              </a:spcAft>
              <a:buClr>
                <a:schemeClr val="lt1"/>
              </a:buClr>
              <a:buSzPts val="12800"/>
              <a:buNone/>
              <a:defRPr sz="12800">
                <a:solidFill>
                  <a:schemeClr val="lt1"/>
                </a:solidFill>
              </a:defRPr>
            </a:lvl7pPr>
            <a:lvl8pPr lvl="7" algn="ctr">
              <a:lnSpc>
                <a:spcPct val="100000"/>
              </a:lnSpc>
              <a:spcBef>
                <a:spcPts val="0"/>
              </a:spcBef>
              <a:spcAft>
                <a:spcPts val="0"/>
              </a:spcAft>
              <a:buClr>
                <a:schemeClr val="lt1"/>
              </a:buClr>
              <a:buSzPts val="12800"/>
              <a:buNone/>
              <a:defRPr sz="12800">
                <a:solidFill>
                  <a:schemeClr val="lt1"/>
                </a:solidFill>
              </a:defRPr>
            </a:lvl8pPr>
            <a:lvl9pPr lvl="8" algn="ctr">
              <a:lnSpc>
                <a:spcPct val="100000"/>
              </a:lnSpc>
              <a:spcBef>
                <a:spcPts val="0"/>
              </a:spcBef>
              <a:spcAft>
                <a:spcPts val="0"/>
              </a:spcAft>
              <a:buClr>
                <a:schemeClr val="lt1"/>
              </a:buClr>
              <a:buSzPts val="12800"/>
              <a:buNone/>
              <a:defRPr sz="12800">
                <a:solidFill>
                  <a:schemeClr val="lt1"/>
                </a:solidFill>
              </a:defRPr>
            </a:lvl9pPr>
          </a:lstStyle>
          <a:p>
            <a:r>
              <a:t>xx%</a:t>
            </a:r>
          </a:p>
        </p:txBody>
      </p:sp>
      <p:sp>
        <p:nvSpPr>
          <p:cNvPr id="271" name="Google Shape;271;p12"/>
          <p:cNvSpPr txBox="1"/>
          <p:nvPr>
            <p:ph idx="1" type="body"/>
          </p:nvPr>
        </p:nvSpPr>
        <p:spPr>
          <a:xfrm>
            <a:off x="2221800" y="4339680"/>
            <a:ext cx="10187100" cy="1777800"/>
          </a:xfrm>
          <a:prstGeom prst="rect">
            <a:avLst/>
          </a:prstGeom>
          <a:noFill/>
          <a:ln>
            <a:noFill/>
          </a:ln>
        </p:spPr>
        <p:txBody>
          <a:bodyPr anchorCtr="0" anchor="t" bIns="146275" lIns="146275" spcFirstLastPara="1" rIns="146275" wrap="square" tIns="146275">
            <a:normAutofit/>
          </a:bodyPr>
          <a:lstStyle>
            <a:lvl1pPr indent="-361950" lvl="0" marL="457200" algn="ctr">
              <a:lnSpc>
                <a:spcPct val="115000"/>
              </a:lnSpc>
              <a:spcBef>
                <a:spcPts val="0"/>
              </a:spcBef>
              <a:spcAft>
                <a:spcPts val="0"/>
              </a:spcAft>
              <a:buClr>
                <a:schemeClr val="lt1"/>
              </a:buClr>
              <a:buSzPts val="2100"/>
              <a:buChar char="●"/>
              <a:defRPr>
                <a:solidFill>
                  <a:schemeClr val="lt1"/>
                </a:solidFill>
              </a:defRPr>
            </a:lvl1pPr>
            <a:lvl2pPr indent="-342900" lvl="1" marL="914400" algn="ctr">
              <a:lnSpc>
                <a:spcPct val="115000"/>
              </a:lnSpc>
              <a:spcBef>
                <a:spcPts val="0"/>
              </a:spcBef>
              <a:spcAft>
                <a:spcPts val="0"/>
              </a:spcAft>
              <a:buClr>
                <a:schemeClr val="lt1"/>
              </a:buClr>
              <a:buSzPts val="1800"/>
              <a:buChar char="○"/>
              <a:defRPr>
                <a:solidFill>
                  <a:schemeClr val="lt1"/>
                </a:solidFill>
              </a:defRPr>
            </a:lvl2pPr>
            <a:lvl3pPr indent="-342900" lvl="2" marL="1371600" algn="ctr">
              <a:lnSpc>
                <a:spcPct val="115000"/>
              </a:lnSpc>
              <a:spcBef>
                <a:spcPts val="0"/>
              </a:spcBef>
              <a:spcAft>
                <a:spcPts val="0"/>
              </a:spcAft>
              <a:buClr>
                <a:schemeClr val="lt1"/>
              </a:buClr>
              <a:buSzPts val="1800"/>
              <a:buChar char="■"/>
              <a:defRPr>
                <a:solidFill>
                  <a:schemeClr val="lt1"/>
                </a:solidFill>
              </a:defRPr>
            </a:lvl3pPr>
            <a:lvl4pPr indent="-342900" lvl="3" marL="1828800" algn="ctr">
              <a:lnSpc>
                <a:spcPct val="115000"/>
              </a:lnSpc>
              <a:spcBef>
                <a:spcPts val="0"/>
              </a:spcBef>
              <a:spcAft>
                <a:spcPts val="0"/>
              </a:spcAft>
              <a:buClr>
                <a:schemeClr val="lt1"/>
              </a:buClr>
              <a:buSzPts val="1800"/>
              <a:buChar char="●"/>
              <a:defRPr>
                <a:solidFill>
                  <a:schemeClr val="lt1"/>
                </a:solidFill>
              </a:defRPr>
            </a:lvl4pPr>
            <a:lvl5pPr indent="-342900" lvl="4" marL="2286000" algn="ctr">
              <a:lnSpc>
                <a:spcPct val="115000"/>
              </a:lnSpc>
              <a:spcBef>
                <a:spcPts val="0"/>
              </a:spcBef>
              <a:spcAft>
                <a:spcPts val="0"/>
              </a:spcAft>
              <a:buClr>
                <a:schemeClr val="lt1"/>
              </a:buClr>
              <a:buSzPts val="1800"/>
              <a:buChar char="○"/>
              <a:defRPr>
                <a:solidFill>
                  <a:schemeClr val="lt1"/>
                </a:solidFill>
              </a:defRPr>
            </a:lvl5pPr>
            <a:lvl6pPr indent="-342900" lvl="5" marL="2743200" algn="ctr">
              <a:lnSpc>
                <a:spcPct val="115000"/>
              </a:lnSpc>
              <a:spcBef>
                <a:spcPts val="0"/>
              </a:spcBef>
              <a:spcAft>
                <a:spcPts val="0"/>
              </a:spcAft>
              <a:buClr>
                <a:schemeClr val="lt1"/>
              </a:buClr>
              <a:buSzPts val="1800"/>
              <a:buChar char="■"/>
              <a:defRPr>
                <a:solidFill>
                  <a:schemeClr val="lt1"/>
                </a:solidFill>
              </a:defRPr>
            </a:lvl6pPr>
            <a:lvl7pPr indent="-342900" lvl="6" marL="3200400" algn="ctr">
              <a:lnSpc>
                <a:spcPct val="115000"/>
              </a:lnSpc>
              <a:spcBef>
                <a:spcPts val="0"/>
              </a:spcBef>
              <a:spcAft>
                <a:spcPts val="0"/>
              </a:spcAft>
              <a:buClr>
                <a:schemeClr val="lt1"/>
              </a:buClr>
              <a:buSzPts val="1800"/>
              <a:buChar char="●"/>
              <a:defRPr>
                <a:solidFill>
                  <a:schemeClr val="lt1"/>
                </a:solidFill>
              </a:defRPr>
            </a:lvl7pPr>
            <a:lvl8pPr indent="-342900" lvl="7" marL="3657600" algn="ctr">
              <a:lnSpc>
                <a:spcPct val="115000"/>
              </a:lnSpc>
              <a:spcBef>
                <a:spcPts val="0"/>
              </a:spcBef>
              <a:spcAft>
                <a:spcPts val="0"/>
              </a:spcAft>
              <a:buClr>
                <a:schemeClr val="lt1"/>
              </a:buClr>
              <a:buSzPts val="1800"/>
              <a:buChar char="○"/>
              <a:defRPr>
                <a:solidFill>
                  <a:schemeClr val="lt1"/>
                </a:solidFill>
              </a:defRPr>
            </a:lvl8pPr>
            <a:lvl9pPr indent="-342900" lvl="8" marL="4114800" algn="ctr">
              <a:lnSpc>
                <a:spcPct val="115000"/>
              </a:lnSpc>
              <a:spcBef>
                <a:spcPts val="0"/>
              </a:spcBef>
              <a:spcAft>
                <a:spcPts val="0"/>
              </a:spcAft>
              <a:buClr>
                <a:schemeClr val="lt1"/>
              </a:buClr>
              <a:buSzPts val="1800"/>
              <a:buChar char="■"/>
              <a:defRPr>
                <a:solidFill>
                  <a:schemeClr val="lt1"/>
                </a:solidFill>
              </a:defRPr>
            </a:lvl9pPr>
          </a:lstStyle>
          <a:p/>
        </p:txBody>
      </p:sp>
      <p:sp>
        <p:nvSpPr>
          <p:cNvPr id="272" name="Google Shape;272;p12"/>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7" name="Shape 277"/>
        <p:cNvGrpSpPr/>
        <p:nvPr/>
      </p:nvGrpSpPr>
      <p:grpSpPr>
        <a:xfrm>
          <a:off x="0" y="0"/>
          <a:ext cx="0" cy="0"/>
          <a:chOff x="0" y="0"/>
          <a:chExt cx="0" cy="0"/>
        </a:xfrm>
      </p:grpSpPr>
      <p:sp>
        <p:nvSpPr>
          <p:cNvPr id="278" name="Google Shape;278;p14"/>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279" name="Shape 279"/>
        <p:cNvGrpSpPr/>
        <p:nvPr/>
      </p:nvGrpSpPr>
      <p:grpSpPr>
        <a:xfrm>
          <a:off x="0" y="0"/>
          <a:ext cx="0" cy="0"/>
          <a:chOff x="0" y="0"/>
          <a:chExt cx="0" cy="0"/>
        </a:xfrm>
      </p:grpSpPr>
      <p:grpSp>
        <p:nvGrpSpPr>
          <p:cNvPr id="280" name="Google Shape;280;p15"/>
          <p:cNvGrpSpPr/>
          <p:nvPr/>
        </p:nvGrpSpPr>
        <p:grpSpPr>
          <a:xfrm>
            <a:off x="10986748" y="2176"/>
            <a:ext cx="3628035" cy="4162621"/>
            <a:chOff x="6790514" y="1359"/>
            <a:chExt cx="2267522" cy="2601638"/>
          </a:xfrm>
        </p:grpSpPr>
        <p:grpSp>
          <p:nvGrpSpPr>
            <p:cNvPr id="281" name="Google Shape;281;p15"/>
            <p:cNvGrpSpPr/>
            <p:nvPr/>
          </p:nvGrpSpPr>
          <p:grpSpPr>
            <a:xfrm>
              <a:off x="7067536" y="1359"/>
              <a:ext cx="1990500" cy="1990200"/>
              <a:chOff x="7067536" y="1359"/>
              <a:chExt cx="1990500" cy="1990200"/>
            </a:xfrm>
          </p:grpSpPr>
          <p:sp>
            <p:nvSpPr>
              <p:cNvPr id="282" name="Google Shape;282;p15"/>
              <p:cNvSpPr/>
              <p:nvPr/>
            </p:nvSpPr>
            <p:spPr>
              <a:xfrm rot="-8648551">
                <a:off x="7594313" y="527721"/>
                <a:ext cx="937226" cy="937226"/>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5"/>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5"/>
              <p:cNvSpPr/>
              <p:nvPr/>
            </p:nvSpPr>
            <p:spPr>
              <a:xfrm rot="-8649154">
                <a:off x="7349962" y="283757"/>
                <a:ext cx="1425647" cy="14254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5" name="Google Shape;285;p15"/>
            <p:cNvGrpSpPr/>
            <p:nvPr/>
          </p:nvGrpSpPr>
          <p:grpSpPr>
            <a:xfrm>
              <a:off x="8207126" y="1807997"/>
              <a:ext cx="795000" cy="795000"/>
              <a:chOff x="8207126" y="1807997"/>
              <a:chExt cx="795000" cy="795000"/>
            </a:xfrm>
          </p:grpSpPr>
          <p:sp>
            <p:nvSpPr>
              <p:cNvPr id="286" name="Google Shape;286;p15"/>
              <p:cNvSpPr/>
              <p:nvPr/>
            </p:nvSpPr>
            <p:spPr>
              <a:xfrm rot="2152054">
                <a:off x="8319942" y="1920813"/>
                <a:ext cx="569367" cy="569367"/>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5"/>
              <p:cNvSpPr/>
              <p:nvPr/>
            </p:nvSpPr>
            <p:spPr>
              <a:xfrm rot="2150259">
                <a:off x="8408218" y="2008610"/>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5"/>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 name="Google Shape;289;p15"/>
            <p:cNvGrpSpPr/>
            <p:nvPr/>
          </p:nvGrpSpPr>
          <p:grpSpPr>
            <a:xfrm>
              <a:off x="6790514" y="118857"/>
              <a:ext cx="548700" cy="548700"/>
              <a:chOff x="6790514" y="118857"/>
              <a:chExt cx="548700" cy="548700"/>
            </a:xfrm>
          </p:grpSpPr>
          <p:sp>
            <p:nvSpPr>
              <p:cNvPr id="290" name="Google Shape;290;p15"/>
              <p:cNvSpPr/>
              <p:nvPr/>
            </p:nvSpPr>
            <p:spPr>
              <a:xfrm rot="2150259">
                <a:off x="6868362" y="196705"/>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5"/>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92" name="Google Shape;292;p15"/>
          <p:cNvSpPr txBox="1"/>
          <p:nvPr>
            <p:ph type="title"/>
          </p:nvPr>
        </p:nvSpPr>
        <p:spPr>
          <a:xfrm>
            <a:off x="1318400" y="1221760"/>
            <a:ext cx="9372600" cy="5717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293" name="Google Shape;293;p15"/>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4" name="Shape 294"/>
        <p:cNvGrpSpPr/>
        <p:nvPr/>
      </p:nvGrpSpPr>
      <p:grpSpPr>
        <a:xfrm>
          <a:off x="0" y="0"/>
          <a:ext cx="0" cy="0"/>
          <a:chOff x="0" y="0"/>
          <a:chExt cx="0" cy="0"/>
        </a:xfrm>
      </p:grpSpPr>
      <p:grpSp>
        <p:nvGrpSpPr>
          <p:cNvPr id="295" name="Google Shape;295;p16"/>
          <p:cNvGrpSpPr/>
          <p:nvPr/>
        </p:nvGrpSpPr>
        <p:grpSpPr>
          <a:xfrm>
            <a:off x="1001538" y="478999"/>
            <a:ext cx="1598876" cy="1598876"/>
            <a:chOff x="348199" y="179450"/>
            <a:chExt cx="1116300" cy="1116300"/>
          </a:xfrm>
        </p:grpSpPr>
        <p:sp>
          <p:nvSpPr>
            <p:cNvPr id="296" name="Google Shape;296;p1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8" name="Google Shape;298;p16"/>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99" name="Google Shape;299;p16"/>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300" name="Shape 300"/>
        <p:cNvGrpSpPr/>
        <p:nvPr/>
      </p:nvGrpSpPr>
      <p:grpSpPr>
        <a:xfrm>
          <a:off x="0" y="0"/>
          <a:ext cx="0" cy="0"/>
          <a:chOff x="0" y="0"/>
          <a:chExt cx="0" cy="0"/>
        </a:xfrm>
      </p:grpSpPr>
      <p:grpSp>
        <p:nvGrpSpPr>
          <p:cNvPr id="301" name="Google Shape;301;p17"/>
          <p:cNvGrpSpPr/>
          <p:nvPr/>
        </p:nvGrpSpPr>
        <p:grpSpPr>
          <a:xfrm>
            <a:off x="11748806" y="5455481"/>
            <a:ext cx="2706275" cy="2772077"/>
            <a:chOff x="7343003" y="3409675"/>
            <a:chExt cx="1691422" cy="1732548"/>
          </a:xfrm>
        </p:grpSpPr>
        <p:grpSp>
          <p:nvGrpSpPr>
            <p:cNvPr id="302" name="Google Shape;302;p17"/>
            <p:cNvGrpSpPr/>
            <p:nvPr/>
          </p:nvGrpSpPr>
          <p:grpSpPr>
            <a:xfrm>
              <a:off x="7343003" y="4453711"/>
              <a:ext cx="316800" cy="688512"/>
              <a:chOff x="7343003" y="4453711"/>
              <a:chExt cx="316800" cy="688512"/>
            </a:xfrm>
          </p:grpSpPr>
          <p:sp>
            <p:nvSpPr>
              <p:cNvPr id="303" name="Google Shape;303;p17"/>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7"/>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5" name="Google Shape;305;p17"/>
            <p:cNvGrpSpPr/>
            <p:nvPr/>
          </p:nvGrpSpPr>
          <p:grpSpPr>
            <a:xfrm>
              <a:off x="7801210" y="4105700"/>
              <a:ext cx="316800" cy="1036523"/>
              <a:chOff x="7801210" y="4105700"/>
              <a:chExt cx="316800" cy="1036523"/>
            </a:xfrm>
          </p:grpSpPr>
          <p:sp>
            <p:nvSpPr>
              <p:cNvPr id="306" name="Google Shape;306;p17"/>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7"/>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7"/>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9" name="Google Shape;309;p17"/>
            <p:cNvGrpSpPr/>
            <p:nvPr/>
          </p:nvGrpSpPr>
          <p:grpSpPr>
            <a:xfrm>
              <a:off x="8259418" y="3757688"/>
              <a:ext cx="316800" cy="1384535"/>
              <a:chOff x="8259418" y="3757688"/>
              <a:chExt cx="316800" cy="1384535"/>
            </a:xfrm>
          </p:grpSpPr>
          <p:sp>
            <p:nvSpPr>
              <p:cNvPr id="310" name="Google Shape;310;p17"/>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7"/>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7"/>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7"/>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 name="Google Shape;314;p17"/>
            <p:cNvGrpSpPr/>
            <p:nvPr/>
          </p:nvGrpSpPr>
          <p:grpSpPr>
            <a:xfrm>
              <a:off x="8717625" y="3409675"/>
              <a:ext cx="316800" cy="1732548"/>
              <a:chOff x="8717625" y="3409675"/>
              <a:chExt cx="316800" cy="1732548"/>
            </a:xfrm>
          </p:grpSpPr>
          <p:sp>
            <p:nvSpPr>
              <p:cNvPr id="315" name="Google Shape;315;p17"/>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7"/>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7"/>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7"/>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7"/>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20" name="Google Shape;320;p17"/>
          <p:cNvGrpSpPr/>
          <p:nvPr/>
        </p:nvGrpSpPr>
        <p:grpSpPr>
          <a:xfrm>
            <a:off x="8069603" y="0"/>
            <a:ext cx="6102515" cy="6142563"/>
            <a:chOff x="5043503" y="0"/>
            <a:chExt cx="3814072" cy="3839102"/>
          </a:xfrm>
        </p:grpSpPr>
        <p:sp>
          <p:nvSpPr>
            <p:cNvPr id="321" name="Google Shape;321;p17"/>
            <p:cNvSpPr/>
            <p:nvPr/>
          </p:nvSpPr>
          <p:spPr>
            <a:xfrm>
              <a:off x="8460975" y="1817775"/>
              <a:ext cx="396600" cy="39660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7"/>
            <p:cNvSpPr/>
            <p:nvPr/>
          </p:nvSpPr>
          <p:spPr>
            <a:xfrm rot="-9830444">
              <a:off x="6469759" y="3480727"/>
              <a:ext cx="320148" cy="320148"/>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3" name="Google Shape;323;p17"/>
            <p:cNvGrpSpPr/>
            <p:nvPr/>
          </p:nvGrpSpPr>
          <p:grpSpPr>
            <a:xfrm>
              <a:off x="7647815" y="2704283"/>
              <a:ext cx="635220" cy="635219"/>
              <a:chOff x="6725724" y="2701260"/>
              <a:chExt cx="1208101" cy="1208100"/>
            </a:xfrm>
          </p:grpSpPr>
          <p:sp>
            <p:nvSpPr>
              <p:cNvPr id="324" name="Google Shape;324;p17"/>
              <p:cNvSpPr/>
              <p:nvPr/>
            </p:nvSpPr>
            <p:spPr>
              <a:xfrm rot="5400000">
                <a:off x="6725725" y="2701260"/>
                <a:ext cx="1208100" cy="120810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7"/>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7"/>
              <p:cNvSpPr/>
              <p:nvPr/>
            </p:nvSpPr>
            <p:spPr>
              <a:xfrm rot="5400000">
                <a:off x="6954988" y="2930398"/>
                <a:ext cx="749700" cy="74970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17"/>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8" name="Google Shape;328;p17"/>
            <p:cNvGrpSpPr/>
            <p:nvPr/>
          </p:nvGrpSpPr>
          <p:grpSpPr>
            <a:xfrm>
              <a:off x="7952718" y="179238"/>
              <a:ext cx="873165" cy="873002"/>
              <a:chOff x="7754428" y="208725"/>
              <a:chExt cx="541800" cy="541800"/>
            </a:xfrm>
          </p:grpSpPr>
          <p:sp>
            <p:nvSpPr>
              <p:cNvPr id="329" name="Google Shape;329;p17"/>
              <p:cNvSpPr/>
              <p:nvPr/>
            </p:nvSpPr>
            <p:spPr>
              <a:xfrm rot="-8647347">
                <a:off x="7831319" y="285616"/>
                <a:ext cx="388018" cy="388018"/>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7"/>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1" name="Google Shape;331;p17"/>
            <p:cNvSpPr/>
            <p:nvPr/>
          </p:nvSpPr>
          <p:spPr>
            <a:xfrm>
              <a:off x="5399840" y="356365"/>
              <a:ext cx="2577000" cy="257700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7"/>
            <p:cNvSpPr/>
            <p:nvPr/>
          </p:nvSpPr>
          <p:spPr>
            <a:xfrm rot="2043858">
              <a:off x="5503813" y="460310"/>
              <a:ext cx="2369480" cy="236948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7"/>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7"/>
            <p:cNvSpPr/>
            <p:nvPr/>
          </p:nvSpPr>
          <p:spPr>
            <a:xfrm rot="2044777">
              <a:off x="5911449" y="867729"/>
              <a:ext cx="1554223" cy="1554223"/>
            </a:xfrm>
            <a:prstGeom prst="ellips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7"/>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7"/>
            <p:cNvSpPr/>
            <p:nvPr/>
          </p:nvSpPr>
          <p:spPr>
            <a:xfrm rot="-9830444">
              <a:off x="6469759" y="3480726"/>
              <a:ext cx="320148" cy="320148"/>
            </a:xfrm>
            <a:prstGeom prst="pie">
              <a:avLst>
                <a:gd fmla="val 19376841" name="adj1"/>
                <a:gd fmla="val 1620000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7" name="Google Shape;337;p17"/>
          <p:cNvSpPr txBox="1"/>
          <p:nvPr>
            <p:ph type="ctrTitle"/>
          </p:nvPr>
        </p:nvSpPr>
        <p:spPr>
          <a:xfrm>
            <a:off x="1318400" y="2582100"/>
            <a:ext cx="68088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338" name="Google Shape;338;p17"/>
          <p:cNvSpPr txBox="1"/>
          <p:nvPr>
            <p:ph idx="1" type="subTitle"/>
          </p:nvPr>
        </p:nvSpPr>
        <p:spPr>
          <a:xfrm>
            <a:off x="1318400" y="5754080"/>
            <a:ext cx="6808800" cy="1112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Clr>
                <a:schemeClr val="lt1"/>
              </a:buClr>
              <a:buSzPts val="2600"/>
              <a:buNone/>
              <a:defRPr sz="2600">
                <a:solidFill>
                  <a:schemeClr val="lt1"/>
                </a:solidFill>
              </a:defRPr>
            </a:lvl1pPr>
            <a:lvl2pPr lvl="1" algn="l">
              <a:lnSpc>
                <a:spcPct val="100000"/>
              </a:lnSpc>
              <a:spcBef>
                <a:spcPts val="0"/>
              </a:spcBef>
              <a:spcAft>
                <a:spcPts val="0"/>
              </a:spcAft>
              <a:buClr>
                <a:schemeClr val="lt1"/>
              </a:buClr>
              <a:buSzPts val="2600"/>
              <a:buNone/>
              <a:defRPr sz="2600">
                <a:solidFill>
                  <a:schemeClr val="lt1"/>
                </a:solidFill>
              </a:defRPr>
            </a:lvl2pPr>
            <a:lvl3pPr lvl="2" algn="l">
              <a:lnSpc>
                <a:spcPct val="100000"/>
              </a:lnSpc>
              <a:spcBef>
                <a:spcPts val="0"/>
              </a:spcBef>
              <a:spcAft>
                <a:spcPts val="0"/>
              </a:spcAft>
              <a:buClr>
                <a:schemeClr val="lt1"/>
              </a:buClr>
              <a:buSzPts val="2600"/>
              <a:buNone/>
              <a:defRPr sz="2600">
                <a:solidFill>
                  <a:schemeClr val="lt1"/>
                </a:solidFill>
              </a:defRPr>
            </a:lvl3pPr>
            <a:lvl4pPr lvl="3" algn="l">
              <a:lnSpc>
                <a:spcPct val="100000"/>
              </a:lnSpc>
              <a:spcBef>
                <a:spcPts val="0"/>
              </a:spcBef>
              <a:spcAft>
                <a:spcPts val="0"/>
              </a:spcAft>
              <a:buClr>
                <a:schemeClr val="lt1"/>
              </a:buClr>
              <a:buSzPts val="2600"/>
              <a:buNone/>
              <a:defRPr sz="2600">
                <a:solidFill>
                  <a:schemeClr val="lt1"/>
                </a:solidFill>
              </a:defRPr>
            </a:lvl4pPr>
            <a:lvl5pPr lvl="4" algn="l">
              <a:lnSpc>
                <a:spcPct val="100000"/>
              </a:lnSpc>
              <a:spcBef>
                <a:spcPts val="0"/>
              </a:spcBef>
              <a:spcAft>
                <a:spcPts val="0"/>
              </a:spcAft>
              <a:buClr>
                <a:schemeClr val="lt1"/>
              </a:buClr>
              <a:buSzPts val="2600"/>
              <a:buNone/>
              <a:defRPr sz="2600">
                <a:solidFill>
                  <a:schemeClr val="lt1"/>
                </a:solidFill>
              </a:defRPr>
            </a:lvl5pPr>
            <a:lvl6pPr lvl="5" algn="l">
              <a:lnSpc>
                <a:spcPct val="100000"/>
              </a:lnSpc>
              <a:spcBef>
                <a:spcPts val="0"/>
              </a:spcBef>
              <a:spcAft>
                <a:spcPts val="0"/>
              </a:spcAft>
              <a:buClr>
                <a:schemeClr val="lt1"/>
              </a:buClr>
              <a:buSzPts val="2600"/>
              <a:buNone/>
              <a:defRPr sz="2600">
                <a:solidFill>
                  <a:schemeClr val="lt1"/>
                </a:solidFill>
              </a:defRPr>
            </a:lvl6pPr>
            <a:lvl7pPr lvl="6" algn="l">
              <a:lnSpc>
                <a:spcPct val="100000"/>
              </a:lnSpc>
              <a:spcBef>
                <a:spcPts val="0"/>
              </a:spcBef>
              <a:spcAft>
                <a:spcPts val="0"/>
              </a:spcAft>
              <a:buClr>
                <a:schemeClr val="lt1"/>
              </a:buClr>
              <a:buSzPts val="2600"/>
              <a:buNone/>
              <a:defRPr sz="2600">
                <a:solidFill>
                  <a:schemeClr val="lt1"/>
                </a:solidFill>
              </a:defRPr>
            </a:lvl7pPr>
            <a:lvl8pPr lvl="7" algn="l">
              <a:lnSpc>
                <a:spcPct val="100000"/>
              </a:lnSpc>
              <a:spcBef>
                <a:spcPts val="0"/>
              </a:spcBef>
              <a:spcAft>
                <a:spcPts val="0"/>
              </a:spcAft>
              <a:buClr>
                <a:schemeClr val="lt1"/>
              </a:buClr>
              <a:buSzPts val="2600"/>
              <a:buNone/>
              <a:defRPr sz="2600">
                <a:solidFill>
                  <a:schemeClr val="lt1"/>
                </a:solidFill>
              </a:defRPr>
            </a:lvl8pPr>
            <a:lvl9pPr lvl="8" algn="l">
              <a:lnSpc>
                <a:spcPct val="100000"/>
              </a:lnSpc>
              <a:spcBef>
                <a:spcPts val="0"/>
              </a:spcBef>
              <a:spcAft>
                <a:spcPts val="0"/>
              </a:spcAft>
              <a:buClr>
                <a:schemeClr val="lt1"/>
              </a:buClr>
              <a:buSzPts val="2600"/>
              <a:buNone/>
              <a:defRPr sz="2600">
                <a:solidFill>
                  <a:schemeClr val="lt1"/>
                </a:solidFill>
              </a:defRPr>
            </a:lvl9pPr>
          </a:lstStyle>
          <a:p/>
        </p:txBody>
      </p:sp>
      <p:sp>
        <p:nvSpPr>
          <p:cNvPr id="339" name="Google Shape;339;p17"/>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0" name="Shape 340"/>
        <p:cNvGrpSpPr/>
        <p:nvPr/>
      </p:nvGrpSpPr>
      <p:grpSpPr>
        <a:xfrm>
          <a:off x="0" y="0"/>
          <a:ext cx="0" cy="0"/>
          <a:chOff x="0" y="0"/>
          <a:chExt cx="0" cy="0"/>
        </a:xfrm>
      </p:grpSpPr>
      <p:grpSp>
        <p:nvGrpSpPr>
          <p:cNvPr id="341" name="Google Shape;341;p18"/>
          <p:cNvGrpSpPr/>
          <p:nvPr/>
        </p:nvGrpSpPr>
        <p:grpSpPr>
          <a:xfrm>
            <a:off x="234830" y="5450"/>
            <a:ext cx="1973142" cy="2215256"/>
            <a:chOff x="146769" y="3406"/>
            <a:chExt cx="1233214" cy="1384535"/>
          </a:xfrm>
        </p:grpSpPr>
        <p:grpSp>
          <p:nvGrpSpPr>
            <p:cNvPr id="342" name="Google Shape;342;p18"/>
            <p:cNvGrpSpPr/>
            <p:nvPr/>
          </p:nvGrpSpPr>
          <p:grpSpPr>
            <a:xfrm>
              <a:off x="1063183" y="3406"/>
              <a:ext cx="316800" cy="688513"/>
              <a:chOff x="1063183" y="3406"/>
              <a:chExt cx="316800" cy="688513"/>
            </a:xfrm>
          </p:grpSpPr>
          <p:sp>
            <p:nvSpPr>
              <p:cNvPr id="343" name="Google Shape;343;p18"/>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8"/>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5" name="Google Shape;345;p18"/>
            <p:cNvGrpSpPr/>
            <p:nvPr/>
          </p:nvGrpSpPr>
          <p:grpSpPr>
            <a:xfrm>
              <a:off x="604976" y="3406"/>
              <a:ext cx="316800" cy="1036524"/>
              <a:chOff x="604976" y="3406"/>
              <a:chExt cx="316800" cy="1036524"/>
            </a:xfrm>
          </p:grpSpPr>
          <p:sp>
            <p:nvSpPr>
              <p:cNvPr id="346" name="Google Shape;346;p18"/>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8"/>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8"/>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9" name="Google Shape;349;p18"/>
            <p:cNvGrpSpPr/>
            <p:nvPr/>
          </p:nvGrpSpPr>
          <p:grpSpPr>
            <a:xfrm>
              <a:off x="146769" y="3406"/>
              <a:ext cx="316800" cy="1384535"/>
              <a:chOff x="146769" y="3406"/>
              <a:chExt cx="316800" cy="1384535"/>
            </a:xfrm>
          </p:grpSpPr>
          <p:sp>
            <p:nvSpPr>
              <p:cNvPr id="350" name="Google Shape;350;p18"/>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8"/>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8"/>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8"/>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54" name="Google Shape;354;p18"/>
          <p:cNvGrpSpPr/>
          <p:nvPr/>
        </p:nvGrpSpPr>
        <p:grpSpPr>
          <a:xfrm>
            <a:off x="10840138" y="4646413"/>
            <a:ext cx="3497835" cy="3583200"/>
            <a:chOff x="6775084" y="2904008"/>
            <a:chExt cx="2186147" cy="2239500"/>
          </a:xfrm>
        </p:grpSpPr>
        <p:grpSp>
          <p:nvGrpSpPr>
            <p:cNvPr id="355" name="Google Shape;355;p18"/>
            <p:cNvGrpSpPr/>
            <p:nvPr/>
          </p:nvGrpSpPr>
          <p:grpSpPr>
            <a:xfrm>
              <a:off x="6775084" y="4253708"/>
              <a:ext cx="409500" cy="889800"/>
              <a:chOff x="6775084" y="4253708"/>
              <a:chExt cx="409500" cy="889800"/>
            </a:xfrm>
          </p:grpSpPr>
          <p:sp>
            <p:nvSpPr>
              <p:cNvPr id="356" name="Google Shape;356;p18"/>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8"/>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8" name="Google Shape;358;p18"/>
            <p:cNvGrpSpPr/>
            <p:nvPr/>
          </p:nvGrpSpPr>
          <p:grpSpPr>
            <a:xfrm>
              <a:off x="7367299" y="3804008"/>
              <a:ext cx="409500" cy="1339500"/>
              <a:chOff x="7367299" y="3804008"/>
              <a:chExt cx="409500" cy="1339500"/>
            </a:xfrm>
          </p:grpSpPr>
          <p:sp>
            <p:nvSpPr>
              <p:cNvPr id="359" name="Google Shape;359;p18"/>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8"/>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8"/>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2" name="Google Shape;362;p18"/>
            <p:cNvGrpSpPr/>
            <p:nvPr/>
          </p:nvGrpSpPr>
          <p:grpSpPr>
            <a:xfrm>
              <a:off x="7959516" y="3354008"/>
              <a:ext cx="409500" cy="1789500"/>
              <a:chOff x="7959516" y="3354008"/>
              <a:chExt cx="409500" cy="1789500"/>
            </a:xfrm>
          </p:grpSpPr>
          <p:sp>
            <p:nvSpPr>
              <p:cNvPr id="363" name="Google Shape;363;p18"/>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8"/>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8"/>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8"/>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7" name="Google Shape;367;p18"/>
            <p:cNvGrpSpPr/>
            <p:nvPr/>
          </p:nvGrpSpPr>
          <p:grpSpPr>
            <a:xfrm>
              <a:off x="8551731" y="2904008"/>
              <a:ext cx="409500" cy="2239500"/>
              <a:chOff x="8551731" y="2904008"/>
              <a:chExt cx="409500" cy="2239500"/>
            </a:xfrm>
          </p:grpSpPr>
          <p:sp>
            <p:nvSpPr>
              <p:cNvPr id="368" name="Google Shape;368;p18"/>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8"/>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8"/>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8"/>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8"/>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73" name="Google Shape;373;p18"/>
          <p:cNvSpPr txBox="1"/>
          <p:nvPr>
            <p:ph type="title"/>
          </p:nvPr>
        </p:nvSpPr>
        <p:spPr>
          <a:xfrm>
            <a:off x="1318400" y="2582120"/>
            <a:ext cx="93726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374" name="Google Shape;374;p18"/>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5" name="Shape 375"/>
        <p:cNvGrpSpPr/>
        <p:nvPr/>
      </p:nvGrpSpPr>
      <p:grpSpPr>
        <a:xfrm>
          <a:off x="0" y="0"/>
          <a:ext cx="0" cy="0"/>
          <a:chOff x="0" y="0"/>
          <a:chExt cx="0" cy="0"/>
        </a:xfrm>
      </p:grpSpPr>
      <p:grpSp>
        <p:nvGrpSpPr>
          <p:cNvPr id="376" name="Google Shape;376;p19"/>
          <p:cNvGrpSpPr/>
          <p:nvPr/>
        </p:nvGrpSpPr>
        <p:grpSpPr>
          <a:xfrm>
            <a:off x="1001538" y="478999"/>
            <a:ext cx="1598876" cy="1598876"/>
            <a:chOff x="348199" y="179450"/>
            <a:chExt cx="1116300" cy="1116300"/>
          </a:xfrm>
        </p:grpSpPr>
        <p:sp>
          <p:nvSpPr>
            <p:cNvPr id="377" name="Google Shape;377;p1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9" name="Google Shape;379;p19"/>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80" name="Google Shape;380;p19"/>
          <p:cNvSpPr txBox="1"/>
          <p:nvPr>
            <p:ph idx="1" type="body"/>
          </p:nvPr>
        </p:nvSpPr>
        <p:spPr>
          <a:xfrm>
            <a:off x="2086080" y="3184080"/>
            <a:ext cx="1124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1" name="Google Shape;381;p19"/>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2" name="Shape 382"/>
        <p:cNvGrpSpPr/>
        <p:nvPr/>
      </p:nvGrpSpPr>
      <p:grpSpPr>
        <a:xfrm>
          <a:off x="0" y="0"/>
          <a:ext cx="0" cy="0"/>
          <a:chOff x="0" y="0"/>
          <a:chExt cx="0" cy="0"/>
        </a:xfrm>
      </p:grpSpPr>
      <p:grpSp>
        <p:nvGrpSpPr>
          <p:cNvPr id="383" name="Google Shape;383;p20"/>
          <p:cNvGrpSpPr/>
          <p:nvPr/>
        </p:nvGrpSpPr>
        <p:grpSpPr>
          <a:xfrm>
            <a:off x="1001538" y="478999"/>
            <a:ext cx="1598876" cy="1598876"/>
            <a:chOff x="348199" y="179450"/>
            <a:chExt cx="1116300" cy="1116300"/>
          </a:xfrm>
        </p:grpSpPr>
        <p:sp>
          <p:nvSpPr>
            <p:cNvPr id="384" name="Google Shape;384;p2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6" name="Google Shape;386;p20"/>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87" name="Google Shape;387;p20"/>
          <p:cNvSpPr txBox="1"/>
          <p:nvPr>
            <p:ph idx="1" type="body"/>
          </p:nvPr>
        </p:nvSpPr>
        <p:spPr>
          <a:xfrm>
            <a:off x="208608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8" name="Google Shape;388;p20"/>
          <p:cNvSpPr txBox="1"/>
          <p:nvPr>
            <p:ph idx="2" type="body"/>
          </p:nvPr>
        </p:nvSpPr>
        <p:spPr>
          <a:xfrm>
            <a:off x="784584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9" name="Google Shape;389;p20"/>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0" name="Shape 390"/>
        <p:cNvGrpSpPr/>
        <p:nvPr/>
      </p:nvGrpSpPr>
      <p:grpSpPr>
        <a:xfrm>
          <a:off x="0" y="0"/>
          <a:ext cx="0" cy="0"/>
          <a:chOff x="0" y="0"/>
          <a:chExt cx="0" cy="0"/>
        </a:xfrm>
      </p:grpSpPr>
      <p:grpSp>
        <p:nvGrpSpPr>
          <p:cNvPr id="391" name="Google Shape;391;p21"/>
          <p:cNvGrpSpPr/>
          <p:nvPr/>
        </p:nvGrpSpPr>
        <p:grpSpPr>
          <a:xfrm>
            <a:off x="1001538" y="478999"/>
            <a:ext cx="1598876" cy="1598876"/>
            <a:chOff x="348199" y="179450"/>
            <a:chExt cx="1116300" cy="1116300"/>
          </a:xfrm>
        </p:grpSpPr>
        <p:sp>
          <p:nvSpPr>
            <p:cNvPr id="392" name="Google Shape;392;p21"/>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1"/>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4" name="Google Shape;394;p21"/>
          <p:cNvSpPr txBox="1"/>
          <p:nvPr>
            <p:ph type="title"/>
          </p:nvPr>
        </p:nvSpPr>
        <p:spPr>
          <a:xfrm>
            <a:off x="2086080" y="957720"/>
            <a:ext cx="5299200" cy="2544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95" name="Google Shape;395;p21"/>
          <p:cNvSpPr txBox="1"/>
          <p:nvPr>
            <p:ph idx="1" type="body"/>
          </p:nvPr>
        </p:nvSpPr>
        <p:spPr>
          <a:xfrm>
            <a:off x="2086080" y="3695480"/>
            <a:ext cx="5299200" cy="3555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96" name="Google Shape;396;p21"/>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7" name="Shape 397"/>
        <p:cNvGrpSpPr/>
        <p:nvPr/>
      </p:nvGrpSpPr>
      <p:grpSpPr>
        <a:xfrm>
          <a:off x="0" y="0"/>
          <a:ext cx="0" cy="0"/>
          <a:chOff x="0" y="0"/>
          <a:chExt cx="0" cy="0"/>
        </a:xfrm>
      </p:grpSpPr>
      <p:grpSp>
        <p:nvGrpSpPr>
          <p:cNvPr id="398" name="Google Shape;398;p22"/>
          <p:cNvGrpSpPr/>
          <p:nvPr/>
        </p:nvGrpSpPr>
        <p:grpSpPr>
          <a:xfrm>
            <a:off x="1001538" y="478999"/>
            <a:ext cx="1598876" cy="1598876"/>
            <a:chOff x="348199" y="179450"/>
            <a:chExt cx="1116300" cy="1116300"/>
          </a:xfrm>
        </p:grpSpPr>
        <p:sp>
          <p:nvSpPr>
            <p:cNvPr id="399" name="Google Shape;399;p22"/>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2"/>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1" name="Google Shape;401;p22"/>
          <p:cNvSpPr txBox="1"/>
          <p:nvPr>
            <p:ph type="title"/>
          </p:nvPr>
        </p:nvSpPr>
        <p:spPr>
          <a:xfrm>
            <a:off x="2086080" y="957720"/>
            <a:ext cx="5488800" cy="31842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402" name="Google Shape;402;p22"/>
          <p:cNvSpPr txBox="1"/>
          <p:nvPr>
            <p:ph idx="1" type="subTitle"/>
          </p:nvPr>
        </p:nvSpPr>
        <p:spPr>
          <a:xfrm>
            <a:off x="2086080" y="4389124"/>
            <a:ext cx="5488800" cy="11616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03" name="Google Shape;403;p22"/>
          <p:cNvSpPr txBox="1"/>
          <p:nvPr>
            <p:ph idx="2" type="body"/>
          </p:nvPr>
        </p:nvSpPr>
        <p:spPr>
          <a:xfrm>
            <a:off x="7845920" y="1057600"/>
            <a:ext cx="5488800" cy="61929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04" name="Google Shape;404;p22"/>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5" name="Shape 405"/>
        <p:cNvGrpSpPr/>
        <p:nvPr/>
      </p:nvGrpSpPr>
      <p:grpSpPr>
        <a:xfrm>
          <a:off x="0" y="0"/>
          <a:ext cx="0" cy="0"/>
          <a:chOff x="0" y="0"/>
          <a:chExt cx="0" cy="0"/>
        </a:xfrm>
      </p:grpSpPr>
      <p:grpSp>
        <p:nvGrpSpPr>
          <p:cNvPr id="406" name="Google Shape;406;p23"/>
          <p:cNvGrpSpPr/>
          <p:nvPr/>
        </p:nvGrpSpPr>
        <p:grpSpPr>
          <a:xfrm>
            <a:off x="1141383" y="6155382"/>
            <a:ext cx="1320583" cy="1320583"/>
            <a:chOff x="348199" y="179450"/>
            <a:chExt cx="1116300" cy="1116300"/>
          </a:xfrm>
        </p:grpSpPr>
        <p:sp>
          <p:nvSpPr>
            <p:cNvPr id="407" name="Google Shape;407;p23"/>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3"/>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9" name="Google Shape;409;p23"/>
          <p:cNvSpPr txBox="1"/>
          <p:nvPr>
            <p:ph idx="1" type="body"/>
          </p:nvPr>
        </p:nvSpPr>
        <p:spPr>
          <a:xfrm>
            <a:off x="2086080" y="6622360"/>
            <a:ext cx="9348900" cy="855900"/>
          </a:xfrm>
          <a:prstGeom prst="rect">
            <a:avLst/>
          </a:prstGeom>
          <a:noFill/>
          <a:ln>
            <a:noFill/>
          </a:ln>
        </p:spPr>
        <p:txBody>
          <a:bodyPr anchorCtr="0" anchor="t"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410" name="Google Shape;410;p23"/>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411" name="Shape 411"/>
        <p:cNvGrpSpPr/>
        <p:nvPr/>
      </p:nvGrpSpPr>
      <p:grpSpPr>
        <a:xfrm>
          <a:off x="0" y="0"/>
          <a:ext cx="0" cy="0"/>
          <a:chOff x="0" y="0"/>
          <a:chExt cx="0" cy="0"/>
        </a:xfrm>
      </p:grpSpPr>
      <p:grpSp>
        <p:nvGrpSpPr>
          <p:cNvPr id="412" name="Google Shape;412;p24"/>
          <p:cNvGrpSpPr/>
          <p:nvPr/>
        </p:nvGrpSpPr>
        <p:grpSpPr>
          <a:xfrm>
            <a:off x="78" y="6558720"/>
            <a:ext cx="14630463" cy="1670880"/>
            <a:chOff x="49" y="4099200"/>
            <a:chExt cx="9144039" cy="1044300"/>
          </a:xfrm>
        </p:grpSpPr>
        <p:grpSp>
          <p:nvGrpSpPr>
            <p:cNvPr id="413" name="Google Shape;413;p24"/>
            <p:cNvGrpSpPr/>
            <p:nvPr/>
          </p:nvGrpSpPr>
          <p:grpSpPr>
            <a:xfrm>
              <a:off x="49" y="4309200"/>
              <a:ext cx="231622" cy="834300"/>
              <a:chOff x="2688737" y="4301380"/>
              <a:chExt cx="231900" cy="834300"/>
            </a:xfrm>
          </p:grpSpPr>
          <p:sp>
            <p:nvSpPr>
              <p:cNvPr id="414" name="Google Shape;414;p2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4"/>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4"/>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4"/>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8" name="Google Shape;418;p24"/>
            <p:cNvGrpSpPr/>
            <p:nvPr/>
          </p:nvGrpSpPr>
          <p:grpSpPr>
            <a:xfrm>
              <a:off x="371403" y="4099200"/>
              <a:ext cx="231622" cy="1044300"/>
              <a:chOff x="2688737" y="4091380"/>
              <a:chExt cx="231900" cy="1044300"/>
            </a:xfrm>
          </p:grpSpPr>
          <p:sp>
            <p:nvSpPr>
              <p:cNvPr id="419" name="Google Shape;419;p2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4"/>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4"/>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4"/>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4"/>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4" name="Google Shape;424;p24"/>
            <p:cNvGrpSpPr/>
            <p:nvPr/>
          </p:nvGrpSpPr>
          <p:grpSpPr>
            <a:xfrm>
              <a:off x="742758" y="4309200"/>
              <a:ext cx="231622" cy="834300"/>
              <a:chOff x="2688737" y="4301380"/>
              <a:chExt cx="231900" cy="834300"/>
            </a:xfrm>
          </p:grpSpPr>
          <p:sp>
            <p:nvSpPr>
              <p:cNvPr id="425" name="Google Shape;425;p2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4"/>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4"/>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4"/>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9" name="Google Shape;429;p24"/>
            <p:cNvGrpSpPr/>
            <p:nvPr/>
          </p:nvGrpSpPr>
          <p:grpSpPr>
            <a:xfrm>
              <a:off x="1114112" y="4518900"/>
              <a:ext cx="231622" cy="624600"/>
              <a:chOff x="2688737" y="4511080"/>
              <a:chExt cx="231900" cy="624600"/>
            </a:xfrm>
          </p:grpSpPr>
          <p:sp>
            <p:nvSpPr>
              <p:cNvPr id="430" name="Google Shape;430;p2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4"/>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4"/>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3" name="Google Shape;433;p24"/>
            <p:cNvGrpSpPr/>
            <p:nvPr/>
          </p:nvGrpSpPr>
          <p:grpSpPr>
            <a:xfrm>
              <a:off x="1856753" y="4099200"/>
              <a:ext cx="231600" cy="1044300"/>
              <a:chOff x="1856753" y="4099200"/>
              <a:chExt cx="231600" cy="1044300"/>
            </a:xfrm>
          </p:grpSpPr>
          <p:sp>
            <p:nvSpPr>
              <p:cNvPr id="434" name="Google Shape;434;p24"/>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4"/>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24"/>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4"/>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4"/>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9" name="Google Shape;439;p24"/>
            <p:cNvGrpSpPr/>
            <p:nvPr/>
          </p:nvGrpSpPr>
          <p:grpSpPr>
            <a:xfrm>
              <a:off x="2228107" y="4309200"/>
              <a:ext cx="231600" cy="834300"/>
              <a:chOff x="2228107" y="4309200"/>
              <a:chExt cx="231600" cy="834300"/>
            </a:xfrm>
          </p:grpSpPr>
          <p:sp>
            <p:nvSpPr>
              <p:cNvPr id="440" name="Google Shape;440;p24"/>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4"/>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4"/>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4"/>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4" name="Google Shape;444;p24"/>
            <p:cNvGrpSpPr/>
            <p:nvPr/>
          </p:nvGrpSpPr>
          <p:grpSpPr>
            <a:xfrm>
              <a:off x="2599462" y="4518900"/>
              <a:ext cx="231600" cy="624600"/>
              <a:chOff x="2599462" y="4518900"/>
              <a:chExt cx="231600" cy="624600"/>
            </a:xfrm>
          </p:grpSpPr>
          <p:sp>
            <p:nvSpPr>
              <p:cNvPr id="445" name="Google Shape;445;p24"/>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24"/>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24"/>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8" name="Google Shape;448;p24"/>
            <p:cNvGrpSpPr/>
            <p:nvPr/>
          </p:nvGrpSpPr>
          <p:grpSpPr>
            <a:xfrm>
              <a:off x="3342171" y="4099200"/>
              <a:ext cx="231600" cy="1044300"/>
              <a:chOff x="3342171" y="4099200"/>
              <a:chExt cx="231600" cy="1044300"/>
            </a:xfrm>
          </p:grpSpPr>
          <p:sp>
            <p:nvSpPr>
              <p:cNvPr id="449" name="Google Shape;449;p24"/>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4"/>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4"/>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4"/>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4"/>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4" name="Google Shape;454;p24"/>
            <p:cNvGrpSpPr/>
            <p:nvPr/>
          </p:nvGrpSpPr>
          <p:grpSpPr>
            <a:xfrm>
              <a:off x="3713525" y="4309200"/>
              <a:ext cx="231600" cy="834300"/>
              <a:chOff x="3713525" y="4309200"/>
              <a:chExt cx="231600" cy="834300"/>
            </a:xfrm>
          </p:grpSpPr>
          <p:sp>
            <p:nvSpPr>
              <p:cNvPr id="455" name="Google Shape;455;p24"/>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4"/>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4"/>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4"/>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9" name="Google Shape;459;p24"/>
            <p:cNvGrpSpPr/>
            <p:nvPr/>
          </p:nvGrpSpPr>
          <p:grpSpPr>
            <a:xfrm>
              <a:off x="1485398" y="4309200"/>
              <a:ext cx="231600" cy="834300"/>
              <a:chOff x="1485398" y="4309200"/>
              <a:chExt cx="231600" cy="834300"/>
            </a:xfrm>
          </p:grpSpPr>
          <p:sp>
            <p:nvSpPr>
              <p:cNvPr id="460" name="Google Shape;460;p24"/>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4"/>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4"/>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24"/>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4" name="Google Shape;464;p24"/>
            <p:cNvGrpSpPr/>
            <p:nvPr/>
          </p:nvGrpSpPr>
          <p:grpSpPr>
            <a:xfrm>
              <a:off x="4084879" y="4518900"/>
              <a:ext cx="231600" cy="624600"/>
              <a:chOff x="4084879" y="4518900"/>
              <a:chExt cx="231600" cy="624600"/>
            </a:xfrm>
          </p:grpSpPr>
          <p:sp>
            <p:nvSpPr>
              <p:cNvPr id="465" name="Google Shape;465;p24"/>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4"/>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4"/>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8" name="Google Shape;468;p24"/>
            <p:cNvGrpSpPr/>
            <p:nvPr/>
          </p:nvGrpSpPr>
          <p:grpSpPr>
            <a:xfrm>
              <a:off x="2970816" y="4309200"/>
              <a:ext cx="231600" cy="834300"/>
              <a:chOff x="2970816" y="4309200"/>
              <a:chExt cx="231600" cy="834300"/>
            </a:xfrm>
          </p:grpSpPr>
          <p:sp>
            <p:nvSpPr>
              <p:cNvPr id="469" name="Google Shape;469;p24"/>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24"/>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4"/>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4"/>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3" name="Google Shape;473;p24"/>
            <p:cNvGrpSpPr/>
            <p:nvPr/>
          </p:nvGrpSpPr>
          <p:grpSpPr>
            <a:xfrm>
              <a:off x="4456234" y="4309200"/>
              <a:ext cx="231600" cy="834300"/>
              <a:chOff x="4456234" y="4309200"/>
              <a:chExt cx="231600" cy="834300"/>
            </a:xfrm>
          </p:grpSpPr>
          <p:sp>
            <p:nvSpPr>
              <p:cNvPr id="474" name="Google Shape;474;p24"/>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24"/>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4"/>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4"/>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8" name="Google Shape;478;p24"/>
            <p:cNvGrpSpPr/>
            <p:nvPr/>
          </p:nvGrpSpPr>
          <p:grpSpPr>
            <a:xfrm>
              <a:off x="4827588" y="4099200"/>
              <a:ext cx="231600" cy="1044300"/>
              <a:chOff x="4827588" y="4099200"/>
              <a:chExt cx="231600" cy="1044300"/>
            </a:xfrm>
          </p:grpSpPr>
          <p:sp>
            <p:nvSpPr>
              <p:cNvPr id="479" name="Google Shape;479;p24"/>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4"/>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4"/>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24"/>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4"/>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4" name="Google Shape;484;p24"/>
            <p:cNvGrpSpPr/>
            <p:nvPr/>
          </p:nvGrpSpPr>
          <p:grpSpPr>
            <a:xfrm>
              <a:off x="5198943" y="4309200"/>
              <a:ext cx="231600" cy="834300"/>
              <a:chOff x="5198943" y="4309200"/>
              <a:chExt cx="231600" cy="834300"/>
            </a:xfrm>
          </p:grpSpPr>
          <p:sp>
            <p:nvSpPr>
              <p:cNvPr id="485" name="Google Shape;485;p24"/>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4"/>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4"/>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4"/>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9" name="Google Shape;489;p24"/>
            <p:cNvGrpSpPr/>
            <p:nvPr/>
          </p:nvGrpSpPr>
          <p:grpSpPr>
            <a:xfrm>
              <a:off x="5570297" y="4518900"/>
              <a:ext cx="231600" cy="624600"/>
              <a:chOff x="5570297" y="4518900"/>
              <a:chExt cx="231600" cy="624600"/>
            </a:xfrm>
          </p:grpSpPr>
          <p:sp>
            <p:nvSpPr>
              <p:cNvPr id="490" name="Google Shape;490;p24"/>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24"/>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4"/>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3" name="Google Shape;493;p24"/>
            <p:cNvGrpSpPr/>
            <p:nvPr/>
          </p:nvGrpSpPr>
          <p:grpSpPr>
            <a:xfrm>
              <a:off x="5941652" y="4309200"/>
              <a:ext cx="231600" cy="834300"/>
              <a:chOff x="5941652" y="4309200"/>
              <a:chExt cx="231600" cy="834300"/>
            </a:xfrm>
          </p:grpSpPr>
          <p:sp>
            <p:nvSpPr>
              <p:cNvPr id="494" name="Google Shape;494;p24"/>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24"/>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24"/>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24"/>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8" name="Google Shape;498;p24"/>
            <p:cNvGrpSpPr/>
            <p:nvPr/>
          </p:nvGrpSpPr>
          <p:grpSpPr>
            <a:xfrm>
              <a:off x="6313006" y="4099200"/>
              <a:ext cx="231600" cy="1044300"/>
              <a:chOff x="6313006" y="4099200"/>
              <a:chExt cx="231600" cy="1044300"/>
            </a:xfrm>
          </p:grpSpPr>
          <p:sp>
            <p:nvSpPr>
              <p:cNvPr id="499" name="Google Shape;499;p24"/>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4"/>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24"/>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4"/>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4"/>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4" name="Google Shape;504;p24"/>
            <p:cNvGrpSpPr/>
            <p:nvPr/>
          </p:nvGrpSpPr>
          <p:grpSpPr>
            <a:xfrm>
              <a:off x="6684361" y="4309200"/>
              <a:ext cx="231600" cy="834300"/>
              <a:chOff x="6684361" y="4309200"/>
              <a:chExt cx="231600" cy="834300"/>
            </a:xfrm>
          </p:grpSpPr>
          <p:sp>
            <p:nvSpPr>
              <p:cNvPr id="505" name="Google Shape;505;p24"/>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24"/>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4"/>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4"/>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9" name="Google Shape;509;p24"/>
            <p:cNvGrpSpPr/>
            <p:nvPr/>
          </p:nvGrpSpPr>
          <p:grpSpPr>
            <a:xfrm>
              <a:off x="7055715" y="4518900"/>
              <a:ext cx="231600" cy="624600"/>
              <a:chOff x="7055715" y="4518900"/>
              <a:chExt cx="231600" cy="624600"/>
            </a:xfrm>
          </p:grpSpPr>
          <p:sp>
            <p:nvSpPr>
              <p:cNvPr id="510" name="Google Shape;510;p24"/>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24"/>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4"/>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3" name="Google Shape;513;p24"/>
            <p:cNvGrpSpPr/>
            <p:nvPr/>
          </p:nvGrpSpPr>
          <p:grpSpPr>
            <a:xfrm>
              <a:off x="7798424" y="4099200"/>
              <a:ext cx="231600" cy="1044300"/>
              <a:chOff x="7798424" y="4099200"/>
              <a:chExt cx="231600" cy="1044300"/>
            </a:xfrm>
          </p:grpSpPr>
          <p:sp>
            <p:nvSpPr>
              <p:cNvPr id="514" name="Google Shape;514;p24"/>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24"/>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24"/>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24"/>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24"/>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9" name="Google Shape;519;p24"/>
            <p:cNvGrpSpPr/>
            <p:nvPr/>
          </p:nvGrpSpPr>
          <p:grpSpPr>
            <a:xfrm>
              <a:off x="8169779" y="4309200"/>
              <a:ext cx="231600" cy="834300"/>
              <a:chOff x="8169779" y="4309200"/>
              <a:chExt cx="231600" cy="834300"/>
            </a:xfrm>
          </p:grpSpPr>
          <p:sp>
            <p:nvSpPr>
              <p:cNvPr id="520" name="Google Shape;520;p24"/>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24"/>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4"/>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24"/>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4" name="Google Shape;524;p24"/>
            <p:cNvGrpSpPr/>
            <p:nvPr/>
          </p:nvGrpSpPr>
          <p:grpSpPr>
            <a:xfrm>
              <a:off x="7427070" y="4309200"/>
              <a:ext cx="231600" cy="834300"/>
              <a:chOff x="7427070" y="4309200"/>
              <a:chExt cx="231600" cy="834300"/>
            </a:xfrm>
          </p:grpSpPr>
          <p:sp>
            <p:nvSpPr>
              <p:cNvPr id="525" name="Google Shape;525;p24"/>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4"/>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24"/>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24"/>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9" name="Google Shape;529;p24"/>
            <p:cNvGrpSpPr/>
            <p:nvPr/>
          </p:nvGrpSpPr>
          <p:grpSpPr>
            <a:xfrm>
              <a:off x="8541133" y="4518900"/>
              <a:ext cx="231600" cy="624600"/>
              <a:chOff x="8541133" y="4518900"/>
              <a:chExt cx="231600" cy="624600"/>
            </a:xfrm>
          </p:grpSpPr>
          <p:sp>
            <p:nvSpPr>
              <p:cNvPr id="530" name="Google Shape;530;p24"/>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24"/>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24"/>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3" name="Google Shape;533;p24"/>
            <p:cNvGrpSpPr/>
            <p:nvPr/>
          </p:nvGrpSpPr>
          <p:grpSpPr>
            <a:xfrm>
              <a:off x="8912488" y="4309200"/>
              <a:ext cx="231600" cy="834300"/>
              <a:chOff x="8912488" y="4309200"/>
              <a:chExt cx="231600" cy="834300"/>
            </a:xfrm>
          </p:grpSpPr>
          <p:sp>
            <p:nvSpPr>
              <p:cNvPr id="534" name="Google Shape;534;p24"/>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24"/>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24"/>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4"/>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38" name="Google Shape;538;p24"/>
          <p:cNvSpPr txBox="1"/>
          <p:nvPr>
            <p:ph hasCustomPrompt="1" type="title"/>
          </p:nvPr>
        </p:nvSpPr>
        <p:spPr>
          <a:xfrm>
            <a:off x="2221800" y="1236360"/>
            <a:ext cx="10187100" cy="29814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Clr>
                <a:schemeClr val="lt1"/>
              </a:buClr>
              <a:buSzPts val="12800"/>
              <a:buNone/>
              <a:defRPr sz="12800">
                <a:solidFill>
                  <a:schemeClr val="lt1"/>
                </a:solidFill>
              </a:defRPr>
            </a:lvl1pPr>
            <a:lvl2pPr lvl="1" algn="ctr">
              <a:lnSpc>
                <a:spcPct val="100000"/>
              </a:lnSpc>
              <a:spcBef>
                <a:spcPts val="0"/>
              </a:spcBef>
              <a:spcAft>
                <a:spcPts val="0"/>
              </a:spcAft>
              <a:buClr>
                <a:schemeClr val="lt1"/>
              </a:buClr>
              <a:buSzPts val="12800"/>
              <a:buNone/>
              <a:defRPr sz="12800">
                <a:solidFill>
                  <a:schemeClr val="lt1"/>
                </a:solidFill>
              </a:defRPr>
            </a:lvl2pPr>
            <a:lvl3pPr lvl="2" algn="ctr">
              <a:lnSpc>
                <a:spcPct val="100000"/>
              </a:lnSpc>
              <a:spcBef>
                <a:spcPts val="0"/>
              </a:spcBef>
              <a:spcAft>
                <a:spcPts val="0"/>
              </a:spcAft>
              <a:buClr>
                <a:schemeClr val="lt1"/>
              </a:buClr>
              <a:buSzPts val="12800"/>
              <a:buNone/>
              <a:defRPr sz="12800">
                <a:solidFill>
                  <a:schemeClr val="lt1"/>
                </a:solidFill>
              </a:defRPr>
            </a:lvl3pPr>
            <a:lvl4pPr lvl="3" algn="ctr">
              <a:lnSpc>
                <a:spcPct val="100000"/>
              </a:lnSpc>
              <a:spcBef>
                <a:spcPts val="0"/>
              </a:spcBef>
              <a:spcAft>
                <a:spcPts val="0"/>
              </a:spcAft>
              <a:buClr>
                <a:schemeClr val="lt1"/>
              </a:buClr>
              <a:buSzPts val="12800"/>
              <a:buNone/>
              <a:defRPr sz="12800">
                <a:solidFill>
                  <a:schemeClr val="lt1"/>
                </a:solidFill>
              </a:defRPr>
            </a:lvl4pPr>
            <a:lvl5pPr lvl="4" algn="ctr">
              <a:lnSpc>
                <a:spcPct val="100000"/>
              </a:lnSpc>
              <a:spcBef>
                <a:spcPts val="0"/>
              </a:spcBef>
              <a:spcAft>
                <a:spcPts val="0"/>
              </a:spcAft>
              <a:buClr>
                <a:schemeClr val="lt1"/>
              </a:buClr>
              <a:buSzPts val="12800"/>
              <a:buNone/>
              <a:defRPr sz="12800">
                <a:solidFill>
                  <a:schemeClr val="lt1"/>
                </a:solidFill>
              </a:defRPr>
            </a:lvl5pPr>
            <a:lvl6pPr lvl="5" algn="ctr">
              <a:lnSpc>
                <a:spcPct val="100000"/>
              </a:lnSpc>
              <a:spcBef>
                <a:spcPts val="0"/>
              </a:spcBef>
              <a:spcAft>
                <a:spcPts val="0"/>
              </a:spcAft>
              <a:buClr>
                <a:schemeClr val="lt1"/>
              </a:buClr>
              <a:buSzPts val="12800"/>
              <a:buNone/>
              <a:defRPr sz="12800">
                <a:solidFill>
                  <a:schemeClr val="lt1"/>
                </a:solidFill>
              </a:defRPr>
            </a:lvl6pPr>
            <a:lvl7pPr lvl="6" algn="ctr">
              <a:lnSpc>
                <a:spcPct val="100000"/>
              </a:lnSpc>
              <a:spcBef>
                <a:spcPts val="0"/>
              </a:spcBef>
              <a:spcAft>
                <a:spcPts val="0"/>
              </a:spcAft>
              <a:buClr>
                <a:schemeClr val="lt1"/>
              </a:buClr>
              <a:buSzPts val="12800"/>
              <a:buNone/>
              <a:defRPr sz="12800">
                <a:solidFill>
                  <a:schemeClr val="lt1"/>
                </a:solidFill>
              </a:defRPr>
            </a:lvl7pPr>
            <a:lvl8pPr lvl="7" algn="ctr">
              <a:lnSpc>
                <a:spcPct val="100000"/>
              </a:lnSpc>
              <a:spcBef>
                <a:spcPts val="0"/>
              </a:spcBef>
              <a:spcAft>
                <a:spcPts val="0"/>
              </a:spcAft>
              <a:buClr>
                <a:schemeClr val="lt1"/>
              </a:buClr>
              <a:buSzPts val="12800"/>
              <a:buNone/>
              <a:defRPr sz="12800">
                <a:solidFill>
                  <a:schemeClr val="lt1"/>
                </a:solidFill>
              </a:defRPr>
            </a:lvl8pPr>
            <a:lvl9pPr lvl="8" algn="ctr">
              <a:lnSpc>
                <a:spcPct val="100000"/>
              </a:lnSpc>
              <a:spcBef>
                <a:spcPts val="0"/>
              </a:spcBef>
              <a:spcAft>
                <a:spcPts val="0"/>
              </a:spcAft>
              <a:buClr>
                <a:schemeClr val="lt1"/>
              </a:buClr>
              <a:buSzPts val="12800"/>
              <a:buNone/>
              <a:defRPr sz="12800">
                <a:solidFill>
                  <a:schemeClr val="lt1"/>
                </a:solidFill>
              </a:defRPr>
            </a:lvl9pPr>
          </a:lstStyle>
          <a:p>
            <a:r>
              <a:t>xx%</a:t>
            </a:r>
          </a:p>
        </p:txBody>
      </p:sp>
      <p:sp>
        <p:nvSpPr>
          <p:cNvPr id="539" name="Google Shape;539;p24"/>
          <p:cNvSpPr txBox="1"/>
          <p:nvPr>
            <p:ph idx="1" type="body"/>
          </p:nvPr>
        </p:nvSpPr>
        <p:spPr>
          <a:xfrm>
            <a:off x="2221800" y="4339680"/>
            <a:ext cx="10187100" cy="1777800"/>
          </a:xfrm>
          <a:prstGeom prst="rect">
            <a:avLst/>
          </a:prstGeom>
          <a:noFill/>
          <a:ln>
            <a:noFill/>
          </a:ln>
        </p:spPr>
        <p:txBody>
          <a:bodyPr anchorCtr="0" anchor="t" bIns="146275" lIns="146275" spcFirstLastPara="1" rIns="146275" wrap="square" tIns="146275">
            <a:normAutofit/>
          </a:bodyPr>
          <a:lstStyle>
            <a:lvl1pPr indent="-361950" lvl="0" marL="457200" algn="ctr">
              <a:lnSpc>
                <a:spcPct val="115000"/>
              </a:lnSpc>
              <a:spcBef>
                <a:spcPts val="0"/>
              </a:spcBef>
              <a:spcAft>
                <a:spcPts val="0"/>
              </a:spcAft>
              <a:buClr>
                <a:schemeClr val="lt1"/>
              </a:buClr>
              <a:buSzPts val="2100"/>
              <a:buChar char="●"/>
              <a:defRPr>
                <a:solidFill>
                  <a:schemeClr val="lt1"/>
                </a:solidFill>
              </a:defRPr>
            </a:lvl1pPr>
            <a:lvl2pPr indent="-342900" lvl="1" marL="914400" algn="ctr">
              <a:lnSpc>
                <a:spcPct val="115000"/>
              </a:lnSpc>
              <a:spcBef>
                <a:spcPts val="0"/>
              </a:spcBef>
              <a:spcAft>
                <a:spcPts val="0"/>
              </a:spcAft>
              <a:buClr>
                <a:schemeClr val="lt1"/>
              </a:buClr>
              <a:buSzPts val="1800"/>
              <a:buChar char="○"/>
              <a:defRPr>
                <a:solidFill>
                  <a:schemeClr val="lt1"/>
                </a:solidFill>
              </a:defRPr>
            </a:lvl2pPr>
            <a:lvl3pPr indent="-342900" lvl="2" marL="1371600" algn="ctr">
              <a:lnSpc>
                <a:spcPct val="115000"/>
              </a:lnSpc>
              <a:spcBef>
                <a:spcPts val="0"/>
              </a:spcBef>
              <a:spcAft>
                <a:spcPts val="0"/>
              </a:spcAft>
              <a:buClr>
                <a:schemeClr val="lt1"/>
              </a:buClr>
              <a:buSzPts val="1800"/>
              <a:buChar char="■"/>
              <a:defRPr>
                <a:solidFill>
                  <a:schemeClr val="lt1"/>
                </a:solidFill>
              </a:defRPr>
            </a:lvl3pPr>
            <a:lvl4pPr indent="-342900" lvl="3" marL="1828800" algn="ctr">
              <a:lnSpc>
                <a:spcPct val="115000"/>
              </a:lnSpc>
              <a:spcBef>
                <a:spcPts val="0"/>
              </a:spcBef>
              <a:spcAft>
                <a:spcPts val="0"/>
              </a:spcAft>
              <a:buClr>
                <a:schemeClr val="lt1"/>
              </a:buClr>
              <a:buSzPts val="1800"/>
              <a:buChar char="●"/>
              <a:defRPr>
                <a:solidFill>
                  <a:schemeClr val="lt1"/>
                </a:solidFill>
              </a:defRPr>
            </a:lvl4pPr>
            <a:lvl5pPr indent="-342900" lvl="4" marL="2286000" algn="ctr">
              <a:lnSpc>
                <a:spcPct val="115000"/>
              </a:lnSpc>
              <a:spcBef>
                <a:spcPts val="0"/>
              </a:spcBef>
              <a:spcAft>
                <a:spcPts val="0"/>
              </a:spcAft>
              <a:buClr>
                <a:schemeClr val="lt1"/>
              </a:buClr>
              <a:buSzPts val="1800"/>
              <a:buChar char="○"/>
              <a:defRPr>
                <a:solidFill>
                  <a:schemeClr val="lt1"/>
                </a:solidFill>
              </a:defRPr>
            </a:lvl5pPr>
            <a:lvl6pPr indent="-342900" lvl="5" marL="2743200" algn="ctr">
              <a:lnSpc>
                <a:spcPct val="115000"/>
              </a:lnSpc>
              <a:spcBef>
                <a:spcPts val="0"/>
              </a:spcBef>
              <a:spcAft>
                <a:spcPts val="0"/>
              </a:spcAft>
              <a:buClr>
                <a:schemeClr val="lt1"/>
              </a:buClr>
              <a:buSzPts val="1800"/>
              <a:buChar char="■"/>
              <a:defRPr>
                <a:solidFill>
                  <a:schemeClr val="lt1"/>
                </a:solidFill>
              </a:defRPr>
            </a:lvl6pPr>
            <a:lvl7pPr indent="-342900" lvl="6" marL="3200400" algn="ctr">
              <a:lnSpc>
                <a:spcPct val="115000"/>
              </a:lnSpc>
              <a:spcBef>
                <a:spcPts val="0"/>
              </a:spcBef>
              <a:spcAft>
                <a:spcPts val="0"/>
              </a:spcAft>
              <a:buClr>
                <a:schemeClr val="lt1"/>
              </a:buClr>
              <a:buSzPts val="1800"/>
              <a:buChar char="●"/>
              <a:defRPr>
                <a:solidFill>
                  <a:schemeClr val="lt1"/>
                </a:solidFill>
              </a:defRPr>
            </a:lvl7pPr>
            <a:lvl8pPr indent="-342900" lvl="7" marL="3657600" algn="ctr">
              <a:lnSpc>
                <a:spcPct val="115000"/>
              </a:lnSpc>
              <a:spcBef>
                <a:spcPts val="0"/>
              </a:spcBef>
              <a:spcAft>
                <a:spcPts val="0"/>
              </a:spcAft>
              <a:buClr>
                <a:schemeClr val="lt1"/>
              </a:buClr>
              <a:buSzPts val="1800"/>
              <a:buChar char="○"/>
              <a:defRPr>
                <a:solidFill>
                  <a:schemeClr val="lt1"/>
                </a:solidFill>
              </a:defRPr>
            </a:lvl8pPr>
            <a:lvl9pPr indent="-342900" lvl="8" marL="4114800" algn="ctr">
              <a:lnSpc>
                <a:spcPct val="115000"/>
              </a:lnSpc>
              <a:spcBef>
                <a:spcPts val="0"/>
              </a:spcBef>
              <a:spcAft>
                <a:spcPts val="0"/>
              </a:spcAft>
              <a:buClr>
                <a:schemeClr val="lt1"/>
              </a:buClr>
              <a:buSzPts val="1800"/>
              <a:buChar char="■"/>
              <a:defRPr>
                <a:solidFill>
                  <a:schemeClr val="lt1"/>
                </a:solidFill>
              </a:defRPr>
            </a:lvl9pPr>
          </a:lstStyle>
          <a:p/>
        </p:txBody>
      </p:sp>
      <p:sp>
        <p:nvSpPr>
          <p:cNvPr id="540" name="Google Shape;540;p24"/>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1pPr>
            <a:lvl2pPr lvl="1"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2pPr>
            <a:lvl3pPr lvl="2"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3pPr>
            <a:lvl4pPr lvl="3"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4pPr>
            <a:lvl5pPr lvl="4"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5pPr>
            <a:lvl6pPr lvl="5"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6pPr>
            <a:lvl7pPr lvl="6"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7pPr>
            <a:lvl8pPr lvl="7"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8pPr>
            <a:lvl9pPr lvl="8"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chemeClr val="dk2"/>
              </a:buClr>
              <a:buSzPts val="2100"/>
              <a:buFont typeface="Nunito"/>
              <a:buChar char="●"/>
              <a:defRPr b="0" i="0" sz="2100" u="none" cap="none" strike="noStrike">
                <a:solidFill>
                  <a:schemeClr val="dk2"/>
                </a:solidFill>
                <a:latin typeface="Nunito"/>
                <a:ea typeface="Nunito"/>
                <a:cs typeface="Nunito"/>
                <a:sym typeface="Nunito"/>
              </a:defRPr>
            </a:lvl1pPr>
            <a:lvl2pPr indent="-342900" lvl="1" marL="9144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2pPr>
            <a:lvl3pPr indent="-342900" lvl="2" marL="13716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3pPr>
            <a:lvl4pPr indent="-342900" lvl="3" marL="18288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4pPr>
            <a:lvl5pPr indent="-342900" lvl="4" marL="22860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5pPr>
            <a:lvl6pPr indent="-342900" lvl="5" marL="27432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6pPr>
            <a:lvl7pPr indent="-342900" lvl="6" marL="32004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7pPr>
            <a:lvl8pPr indent="-342900" lvl="7" marL="36576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8pPr>
            <a:lvl9pPr indent="-342900" lvl="8" marL="41148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273" name="Shape 273"/>
        <p:cNvGrpSpPr/>
        <p:nvPr/>
      </p:nvGrpSpPr>
      <p:grpSpPr>
        <a:xfrm>
          <a:off x="0" y="0"/>
          <a:ext cx="0" cy="0"/>
          <a:chOff x="0" y="0"/>
          <a:chExt cx="0" cy="0"/>
        </a:xfrm>
      </p:grpSpPr>
      <p:sp>
        <p:nvSpPr>
          <p:cNvPr id="274" name="Google Shape;274;p13"/>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1pPr>
            <a:lvl2pPr lvl="1"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2pPr>
            <a:lvl3pPr lvl="2"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3pPr>
            <a:lvl4pPr lvl="3"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4pPr>
            <a:lvl5pPr lvl="4"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5pPr>
            <a:lvl6pPr lvl="5"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6pPr>
            <a:lvl7pPr lvl="6"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7pPr>
            <a:lvl8pPr lvl="7"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8pPr>
            <a:lvl9pPr lvl="8"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9pPr>
          </a:lstStyle>
          <a:p/>
        </p:txBody>
      </p:sp>
      <p:sp>
        <p:nvSpPr>
          <p:cNvPr id="275" name="Google Shape;275;p13"/>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algn="l">
              <a:lnSpc>
                <a:spcPct val="115000"/>
              </a:lnSpc>
              <a:spcBef>
                <a:spcPts val="0"/>
              </a:spcBef>
              <a:spcAft>
                <a:spcPts val="0"/>
              </a:spcAft>
              <a:buClr>
                <a:schemeClr val="dk2"/>
              </a:buClr>
              <a:buSzPts val="2100"/>
              <a:buFont typeface="Nunito"/>
              <a:buChar char="●"/>
              <a:defRPr b="0" i="0" sz="2100" u="none" cap="none" strike="noStrike">
                <a:solidFill>
                  <a:schemeClr val="dk2"/>
                </a:solidFill>
                <a:latin typeface="Nunito"/>
                <a:ea typeface="Nunito"/>
                <a:cs typeface="Nunito"/>
                <a:sym typeface="Nunito"/>
              </a:defRPr>
            </a:lvl1pPr>
            <a:lvl2pPr indent="-342900" lvl="1" marL="9144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2pPr>
            <a:lvl3pPr indent="-342900" lvl="2" marL="13716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3pPr>
            <a:lvl4pPr indent="-342900" lvl="3" marL="18288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4pPr>
            <a:lvl5pPr indent="-342900" lvl="4" marL="22860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5pPr>
            <a:lvl6pPr indent="-342900" lvl="5" marL="27432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6pPr>
            <a:lvl7pPr indent="-342900" lvl="6" marL="32004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7pPr>
            <a:lvl8pPr indent="-342900" lvl="7" marL="36576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8pPr>
            <a:lvl9pPr indent="-342900" lvl="8" marL="41148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9pPr>
          </a:lstStyle>
          <a:p/>
        </p:txBody>
      </p:sp>
      <p:sp>
        <p:nvSpPr>
          <p:cNvPr id="276" name="Google Shape;276;p13"/>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data.gouv.fr/datasets/donnees-eco2mix-regionales-consolidees-et-definitiv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2.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Relationships xmlns="http://schemas.openxmlformats.org/package/2006/relationships"><Relationship Id="rId1" Type="http://schemas.openxmlformats.org/officeDocument/2006/relationships/slideLayout" Target="../slideLayouts/slideLayout2.xml"/></Relationships>
</file>

<file path=ppt/slides/_rels/slide26.xml.rels><Relationships xmlns="http://schemas.openxmlformats.org/package/2006/relationships"><Relationship Id="rId1" Type="http://schemas.openxmlformats.org/officeDocument/2006/relationships/slideLayout" Target="../slideLayouts/slideLayout2.xml"/></Relationships>
</file>

<file path=ppt/slides/_rels/slide27.xml.rels><Relationships xmlns="http://schemas.openxmlformats.org/package/2006/relationships"><Relationship Id="rId1" Type="http://schemas.openxmlformats.org/officeDocument/2006/relationships/slideLayout" Target="../slideLayouts/slideLayout2.xml"/></Relationships>
</file>

<file path=ppt/slides/_rels/slide28.xml.rels><Relationships xmlns="http://schemas.openxmlformats.org/package/2006/relationships"><Relationship Id="rId1" Type="http://schemas.openxmlformats.org/officeDocument/2006/relationships/slideLayout" Target="../slideLayouts/slideLayout2.xml"/></Relationships>
</file>

<file path=ppt/slides/_rels/slide29.xml.rels><Relationships xmlns="http://schemas.openxmlformats.org/package/2006/relationships"><Relationship Id="rId1" Type="http://schemas.openxmlformats.org/officeDocument/2006/relationships/slideLayout" Target="../slideLayouts/slideLayout2.xml"/></Relationships>
</file>

<file path=ppt/slides/_rels/slide30.xml.rels><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4" name="Shape 544"/>
        <p:cNvGrpSpPr/>
        <p:nvPr/>
      </p:nvGrpSpPr>
      <p:grpSpPr>
        <a:xfrm>
          <a:off x="0" y="0"/>
          <a:ext cx="0" cy="0"/>
          <a:chOff x="0" y="0"/>
          <a:chExt cx="0" cy="0"/>
        </a:xfrm>
      </p:grpSpPr>
      <p:sp>
        <p:nvSpPr>
          <p:cNvPr id="545" name="Google Shape;545;p25"/>
          <p:cNvSpPr txBox="1"/>
          <p:nvPr/>
        </p:nvSpPr>
        <p:spPr>
          <a:xfrm>
            <a:off x="2031525" y="3037915"/>
            <a:ext cx="114300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2202F"/>
                </a:solidFill>
                <a:latin typeface="Calibri"/>
                <a:ea typeface="Calibri"/>
                <a:cs typeface="Calibri"/>
                <a:sym typeface="Calibri"/>
              </a:rPr>
              <a:t>BLOC 5 : CONCEVOIR ET DÉPLOYER DES MODÈLES D’APPRENTISSAGE AUTOMATIQUE </a:t>
            </a:r>
            <a:endParaRPr b="0" i="0" sz="1400" u="none" cap="none" strike="noStrike">
              <a:solidFill>
                <a:srgbClr val="000000"/>
              </a:solidFill>
              <a:latin typeface="Arial"/>
              <a:ea typeface="Arial"/>
              <a:cs typeface="Arial"/>
              <a:sym typeface="Arial"/>
            </a:endParaRPr>
          </a:p>
        </p:txBody>
      </p:sp>
      <p:sp>
        <p:nvSpPr>
          <p:cNvPr id="546" name="Google Shape;546;p25"/>
          <p:cNvSpPr txBox="1"/>
          <p:nvPr/>
        </p:nvSpPr>
        <p:spPr>
          <a:xfrm>
            <a:off x="12919725" y="7646525"/>
            <a:ext cx="1955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A6673"/>
                </a:solidFill>
                <a:latin typeface="Calibri"/>
                <a:ea typeface="Calibri"/>
                <a:cs typeface="Calibri"/>
                <a:sym typeface="Calibri"/>
              </a:rPr>
              <a:t>Audren CORRÉ</a:t>
            </a:r>
            <a:endParaRPr b="0" i="0" sz="1400" u="none" cap="none" strike="noStrike">
              <a:solidFill>
                <a:srgbClr val="000000"/>
              </a:solidFill>
              <a:latin typeface="Arial"/>
              <a:ea typeface="Arial"/>
              <a:cs typeface="Arial"/>
              <a:sym typeface="Arial"/>
            </a:endParaRPr>
          </a:p>
        </p:txBody>
      </p:sp>
      <p:sp>
        <p:nvSpPr>
          <p:cNvPr id="547" name="Google Shape;547;p25"/>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48" name="Google Shape;548;p25"/>
          <p:cNvPicPr preferRelativeResize="0"/>
          <p:nvPr/>
        </p:nvPicPr>
        <p:blipFill rotWithShape="1">
          <a:blip r:embed="rId3">
            <a:alphaModFix/>
          </a:blip>
          <a:srcRect b="0" l="0" r="0" t="0"/>
          <a:stretch/>
        </p:blipFill>
        <p:spPr>
          <a:xfrm>
            <a:off x="0" y="-2"/>
            <a:ext cx="2790075" cy="1395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sp>
        <p:nvSpPr>
          <p:cNvPr id="553" name="Google Shape;553;p26"/>
          <p:cNvSpPr txBox="1"/>
          <p:nvPr/>
        </p:nvSpPr>
        <p:spPr>
          <a:xfrm>
            <a:off x="68580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Calibri"/>
                <a:ea typeface="Calibri"/>
                <a:cs typeface="Calibri"/>
                <a:sym typeface="Calibri"/>
              </a:rPr>
              <a:t>Contexte</a:t>
            </a:r>
            <a:endParaRPr b="0" i="0" sz="1400" u="none" cap="none" strike="noStrike">
              <a:solidFill>
                <a:srgbClr val="000000"/>
              </a:solidFill>
              <a:latin typeface="Arial"/>
              <a:ea typeface="Arial"/>
              <a:cs typeface="Arial"/>
              <a:sym typeface="Arial"/>
            </a:endParaRPr>
          </a:p>
        </p:txBody>
      </p:sp>
      <p:sp>
        <p:nvSpPr>
          <p:cNvPr id="554" name="Google Shape;554;p26"/>
          <p:cNvSpPr/>
          <p:nvPr/>
        </p:nvSpPr>
        <p:spPr>
          <a:xfrm>
            <a:off x="800102" y="1884030"/>
            <a:ext cx="13075800" cy="914400"/>
          </a:xfrm>
          <a:prstGeom prst="roundRect">
            <a:avLst>
              <a:gd fmla="val 16667" name="adj"/>
            </a:avLst>
          </a:prstGeom>
          <a:solidFill>
            <a:srgbClr val="E8F2EE"/>
          </a:solidFill>
          <a:ln cap="flat" cmpd="sng" w="9525">
            <a:solidFill>
              <a:srgbClr val="268B6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320025" spcFirstLastPara="1" rIns="3200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268B67"/>
                </a:solidFill>
                <a:latin typeface="Calibri"/>
                <a:ea typeface="Calibri"/>
                <a:cs typeface="Calibri"/>
                <a:sym typeface="Calibri"/>
              </a:rPr>
              <a:t>Besoin exprimé : « mieux anticiper la demande électrique régionale pour préparer les variations de consommation et les pics »</a:t>
            </a:r>
            <a:endParaRPr b="0" i="0" sz="1400" u="none" cap="none" strike="noStrike">
              <a:solidFill>
                <a:srgbClr val="000000"/>
              </a:solidFill>
              <a:latin typeface="Arial"/>
              <a:ea typeface="Arial"/>
              <a:cs typeface="Arial"/>
              <a:sym typeface="Arial"/>
            </a:endParaRPr>
          </a:p>
        </p:txBody>
      </p:sp>
      <p:sp>
        <p:nvSpPr>
          <p:cNvPr id="555" name="Google Shape;555;p26"/>
          <p:cNvSpPr/>
          <p:nvPr/>
        </p:nvSpPr>
        <p:spPr>
          <a:xfrm>
            <a:off x="777240" y="3063240"/>
            <a:ext cx="41604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COMMANDITAIRE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Gestionnaire / opérateur régional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Périmètre : Nouvelle-Aquitaine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Attente : prévision exploitable et maintenable</a:t>
            </a:r>
            <a:endParaRPr b="0" i="0" sz="1400" u="none" cap="none" strike="noStrike">
              <a:solidFill>
                <a:srgbClr val="000000"/>
              </a:solidFill>
              <a:latin typeface="Arial"/>
              <a:ea typeface="Arial"/>
              <a:cs typeface="Arial"/>
              <a:sym typeface="Arial"/>
            </a:endParaRPr>
          </a:p>
        </p:txBody>
      </p:sp>
      <p:sp>
        <p:nvSpPr>
          <p:cNvPr id="556" name="Google Shape;556;p26"/>
          <p:cNvSpPr/>
          <p:nvPr/>
        </p:nvSpPr>
        <p:spPr>
          <a:xfrm>
            <a:off x="5257800" y="3063240"/>
            <a:ext cx="41604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MÉTHODE D'ANALYSE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Entretien exploratoire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Questionnaire de cadrage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Analyse de l'existant éCO2mix</a:t>
            </a:r>
            <a:endParaRPr b="0" i="0" sz="1400" u="none" cap="none" strike="noStrike">
              <a:solidFill>
                <a:srgbClr val="000000"/>
              </a:solidFill>
              <a:latin typeface="Arial"/>
              <a:ea typeface="Arial"/>
              <a:cs typeface="Arial"/>
              <a:sym typeface="Arial"/>
            </a:endParaRPr>
          </a:p>
        </p:txBody>
      </p:sp>
      <p:sp>
        <p:nvSpPr>
          <p:cNvPr id="557" name="Google Shape;557;p26"/>
          <p:cNvSpPr/>
          <p:nvPr/>
        </p:nvSpPr>
        <p:spPr>
          <a:xfrm>
            <a:off x="9738360" y="3063240"/>
            <a:ext cx="41148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INFORMATIONS COLLECTÉES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Source 2012–2026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Pas de temps 30 minutes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Cible observable : consommation MW</a:t>
            </a:r>
            <a:endParaRPr b="0" i="0" sz="1400" u="none" cap="none" strike="noStrike">
              <a:solidFill>
                <a:srgbClr val="000000"/>
              </a:solidFill>
              <a:latin typeface="Arial"/>
              <a:ea typeface="Arial"/>
              <a:cs typeface="Arial"/>
              <a:sym typeface="Arial"/>
            </a:endParaRPr>
          </a:p>
        </p:txBody>
      </p:sp>
      <p:cxnSp>
        <p:nvCxnSpPr>
          <p:cNvPr id="558" name="Google Shape;558;p26"/>
          <p:cNvCxnSpPr/>
          <p:nvPr/>
        </p:nvCxnSpPr>
        <p:spPr>
          <a:xfrm>
            <a:off x="4937760" y="4050791"/>
            <a:ext cx="32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cxnSp>
        <p:nvCxnSpPr>
          <p:cNvPr id="559" name="Google Shape;559;p26"/>
          <p:cNvCxnSpPr/>
          <p:nvPr/>
        </p:nvCxnSpPr>
        <p:spPr>
          <a:xfrm>
            <a:off x="9418320" y="4050791"/>
            <a:ext cx="32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560" name="Google Shape;560;p26"/>
          <p:cNvSpPr/>
          <p:nvPr/>
        </p:nvSpPr>
        <p:spPr>
          <a:xfrm>
            <a:off x="777240" y="5532120"/>
            <a:ext cx="6355200" cy="141720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E68D35"/>
                </a:solidFill>
                <a:latin typeface="Calibri"/>
                <a:ea typeface="Calibri"/>
                <a:cs typeface="Calibri"/>
                <a:sym typeface="Calibri"/>
              </a:rPr>
              <a:t>CONTRAINTES ET POINTS DE VIGILANCE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Données temporelles : pas de split aléatoire et risques de fuites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Outils open-source intégrés localement  à un environnement python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Pics de consommation plus difficiles à prédire</a:t>
            </a:r>
            <a:endParaRPr b="0" i="0" sz="1500" u="none" cap="none" strike="noStrike">
              <a:solidFill>
                <a:srgbClr val="12202F"/>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Historique long mais incomplet</a:t>
            </a:r>
            <a:endParaRPr b="0" i="0" sz="1500" u="none" cap="none" strike="noStrike">
              <a:solidFill>
                <a:srgbClr val="12202F"/>
              </a:solidFill>
              <a:latin typeface="Calibri"/>
              <a:ea typeface="Calibri"/>
              <a:cs typeface="Calibri"/>
              <a:sym typeface="Calibri"/>
            </a:endParaRPr>
          </a:p>
        </p:txBody>
      </p:sp>
      <p:sp>
        <p:nvSpPr>
          <p:cNvPr id="561" name="Google Shape;561;p26"/>
          <p:cNvSpPr/>
          <p:nvPr/>
        </p:nvSpPr>
        <p:spPr>
          <a:xfrm>
            <a:off x="7498079" y="5532120"/>
            <a:ext cx="6355200" cy="14172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68B67"/>
                </a:solidFill>
                <a:latin typeface="Calibri"/>
                <a:ea typeface="Calibri"/>
                <a:cs typeface="Calibri"/>
                <a:sym typeface="Calibri"/>
              </a:rPr>
              <a:t>CONCLUSION INITIALE DE FAISABILITÉ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Données suffisantes, structurées et exploitables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Réponse retenue : construire un modèle de prévision supervisée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Le choix précis de J+1 est justifié ensuite en C5.1.2</a:t>
            </a:r>
            <a:endParaRPr b="0" i="0" sz="1400" u="none" cap="none" strike="noStrike">
              <a:solidFill>
                <a:srgbClr val="000000"/>
              </a:solidFill>
              <a:latin typeface="Arial"/>
              <a:ea typeface="Arial"/>
              <a:cs typeface="Arial"/>
              <a:sym typeface="Arial"/>
            </a:endParaRPr>
          </a:p>
        </p:txBody>
      </p:sp>
      <p:sp>
        <p:nvSpPr>
          <p:cNvPr id="562" name="Google Shape;562;p26"/>
          <p:cNvSpPr/>
          <p:nvPr/>
        </p:nvSpPr>
        <p:spPr>
          <a:xfrm>
            <a:off x="0" y="7973568"/>
            <a:ext cx="14630400" cy="36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3" name="Google Shape;563;p26"/>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
        <p:nvSpPr>
          <p:cNvPr id="564" name="Google Shape;564;p26"/>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8" name="Shape 568"/>
        <p:cNvGrpSpPr/>
        <p:nvPr/>
      </p:nvGrpSpPr>
      <p:grpSpPr>
        <a:xfrm>
          <a:off x="0" y="0"/>
          <a:ext cx="0" cy="0"/>
          <a:chOff x="0" y="0"/>
          <a:chExt cx="0" cy="0"/>
        </a:xfrm>
      </p:grpSpPr>
      <p:sp>
        <p:nvSpPr>
          <p:cNvPr id="569" name="Google Shape;569;p27"/>
          <p:cNvSpPr txBox="1"/>
          <p:nvPr/>
        </p:nvSpPr>
        <p:spPr>
          <a:xfrm>
            <a:off x="960125" y="825240"/>
            <a:ext cx="11430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2202F"/>
                </a:solidFill>
                <a:latin typeface="Calibri"/>
                <a:ea typeface="Calibri"/>
                <a:cs typeface="Calibri"/>
                <a:sym typeface="Calibri"/>
              </a:rPr>
              <a:t>Récupération des données</a:t>
            </a:r>
            <a:endParaRPr b="0" i="0" sz="1400" u="none" cap="none" strike="noStrike">
              <a:solidFill>
                <a:srgbClr val="000000"/>
              </a:solidFill>
              <a:latin typeface="Arial"/>
              <a:ea typeface="Arial"/>
              <a:cs typeface="Arial"/>
              <a:sym typeface="Arial"/>
            </a:endParaRPr>
          </a:p>
        </p:txBody>
      </p:sp>
      <p:sp>
        <p:nvSpPr>
          <p:cNvPr id="570" name="Google Shape;570;p27"/>
          <p:cNvSpPr txBox="1"/>
          <p:nvPr/>
        </p:nvSpPr>
        <p:spPr>
          <a:xfrm>
            <a:off x="960120" y="2148840"/>
            <a:ext cx="8686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A6673"/>
                </a:solidFill>
                <a:latin typeface="Calibri"/>
                <a:ea typeface="Calibri"/>
                <a:cs typeface="Calibri"/>
                <a:sym typeface="Calibri"/>
              </a:rPr>
              <a:t>Données de l’application éCO2mix en open data</a:t>
            </a:r>
            <a:endParaRPr b="0" i="0" sz="1400" u="none" cap="none" strike="noStrike">
              <a:solidFill>
                <a:srgbClr val="000000"/>
              </a:solidFill>
              <a:latin typeface="Arial"/>
              <a:ea typeface="Arial"/>
              <a:cs typeface="Arial"/>
              <a:sym typeface="Arial"/>
            </a:endParaRPr>
          </a:p>
        </p:txBody>
      </p:sp>
      <p:sp>
        <p:nvSpPr>
          <p:cNvPr id="571" name="Google Shape;571;p27"/>
          <p:cNvSpPr/>
          <p:nvPr/>
        </p:nvSpPr>
        <p:spPr>
          <a:xfrm>
            <a:off x="2880390" y="4202145"/>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 3M lignes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données éCO2mix</a:t>
            </a:r>
            <a:endParaRPr b="0" i="0" sz="1400" u="none" cap="none" strike="noStrike">
              <a:solidFill>
                <a:srgbClr val="000000"/>
              </a:solidFill>
              <a:latin typeface="Arial"/>
              <a:ea typeface="Arial"/>
              <a:cs typeface="Arial"/>
              <a:sym typeface="Arial"/>
            </a:endParaRPr>
          </a:p>
        </p:txBody>
      </p:sp>
      <p:sp>
        <p:nvSpPr>
          <p:cNvPr id="572" name="Google Shape;572;p27"/>
          <p:cNvSpPr/>
          <p:nvPr/>
        </p:nvSpPr>
        <p:spPr>
          <a:xfrm>
            <a:off x="5760750" y="4202145"/>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30 min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granularité temporelle</a:t>
            </a:r>
            <a:endParaRPr b="0" i="0" sz="1400" u="none" cap="none" strike="noStrike">
              <a:solidFill>
                <a:srgbClr val="000000"/>
              </a:solidFill>
              <a:latin typeface="Arial"/>
              <a:ea typeface="Arial"/>
              <a:cs typeface="Arial"/>
              <a:sym typeface="Arial"/>
            </a:endParaRPr>
          </a:p>
        </p:txBody>
      </p:sp>
      <p:sp>
        <p:nvSpPr>
          <p:cNvPr id="573" name="Google Shape;573;p27"/>
          <p:cNvSpPr/>
          <p:nvPr/>
        </p:nvSpPr>
        <p:spPr>
          <a:xfrm>
            <a:off x="8641110" y="4202145"/>
            <a:ext cx="31089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Régionale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granularité spatiale</a:t>
            </a:r>
            <a:endParaRPr b="0" i="0" sz="1400" u="none" cap="none" strike="noStrike">
              <a:solidFill>
                <a:srgbClr val="000000"/>
              </a:solidFill>
              <a:latin typeface="Arial"/>
              <a:ea typeface="Arial"/>
              <a:cs typeface="Arial"/>
              <a:sym typeface="Arial"/>
            </a:endParaRPr>
          </a:p>
        </p:txBody>
      </p:sp>
      <p:sp>
        <p:nvSpPr>
          <p:cNvPr id="574" name="Google Shape;574;p27"/>
          <p:cNvSpPr/>
          <p:nvPr/>
        </p:nvSpPr>
        <p:spPr>
          <a:xfrm>
            <a:off x="0" y="8001000"/>
            <a:ext cx="14630400" cy="45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5" name="Google Shape;575;p27"/>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
        <p:nvSpPr>
          <p:cNvPr id="576" name="Google Shape;576;p27"/>
          <p:cNvSpPr txBox="1"/>
          <p:nvPr/>
        </p:nvSpPr>
        <p:spPr>
          <a:xfrm>
            <a:off x="960125" y="2832950"/>
            <a:ext cx="8975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2"/>
                </a:solidFill>
                <a:latin typeface="Nunito"/>
                <a:ea typeface="Nunito"/>
                <a:cs typeface="Nunito"/>
                <a:sym typeface="Nunito"/>
              </a:rPr>
              <a:t>Dataset utilisé : Données éCO2mix régionales consolidées et définitives</a:t>
            </a:r>
            <a:br>
              <a:rPr b="0" i="0" lang="en-US" sz="2100" u="none" cap="none" strike="noStrike">
                <a:solidFill>
                  <a:schemeClr val="dk2"/>
                </a:solidFill>
                <a:latin typeface="Nunito"/>
                <a:ea typeface="Nunito"/>
                <a:cs typeface="Nunito"/>
                <a:sym typeface="Nunito"/>
              </a:rPr>
            </a:br>
            <a:r>
              <a:rPr b="0" i="0" lang="en-US" sz="1100" u="sng" cap="none" strike="noStrike">
                <a:solidFill>
                  <a:schemeClr val="hlink"/>
                </a:solidFill>
                <a:latin typeface="Nunito"/>
                <a:ea typeface="Nunito"/>
                <a:cs typeface="Nunito"/>
                <a:sym typeface="Nunito"/>
                <a:hlinkClick r:id="rId3"/>
              </a:rPr>
              <a:t>https://www.data.gouv.fr/datasets/donnees-eco2mix-regionales-consolidees-et-definitives</a:t>
            </a:r>
            <a:endParaRPr b="0" i="0" sz="1100" u="none" cap="none" strike="noStrike">
              <a:solidFill>
                <a:schemeClr val="dk2"/>
              </a:solidFill>
              <a:latin typeface="Nunito"/>
              <a:ea typeface="Nunito"/>
              <a:cs typeface="Nunito"/>
              <a:sym typeface="Nunito"/>
            </a:endParaRPr>
          </a:p>
        </p:txBody>
      </p:sp>
      <p:sp>
        <p:nvSpPr>
          <p:cNvPr id="577" name="Google Shape;577;p27"/>
          <p:cNvSpPr/>
          <p:nvPr/>
        </p:nvSpPr>
        <p:spPr>
          <a:xfrm>
            <a:off x="4754805" y="5598205"/>
            <a:ext cx="5120700" cy="5028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2202F"/>
                </a:solidFill>
                <a:latin typeface="Arial"/>
                <a:ea typeface="Arial"/>
                <a:cs typeface="Arial"/>
                <a:sym typeface="Arial"/>
              </a:rPr>
              <a:t>Source : 2012–2026  |  Modélisation : 2019–2025</a:t>
            </a:r>
            <a:endParaRPr b="0" i="0" sz="1400" u="none" cap="none" strike="noStrike">
              <a:solidFill>
                <a:srgbClr val="000000"/>
              </a:solidFill>
              <a:latin typeface="Arial"/>
              <a:ea typeface="Arial"/>
              <a:cs typeface="Arial"/>
              <a:sym typeface="Arial"/>
            </a:endParaRPr>
          </a:p>
        </p:txBody>
      </p:sp>
      <p:sp>
        <p:nvSpPr>
          <p:cNvPr id="578" name="Google Shape;578;p27"/>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 name="Shape 582"/>
        <p:cNvGrpSpPr/>
        <p:nvPr/>
      </p:nvGrpSpPr>
      <p:grpSpPr>
        <a:xfrm>
          <a:off x="0" y="0"/>
          <a:ext cx="0" cy="0"/>
          <a:chOff x="0" y="0"/>
          <a:chExt cx="0" cy="0"/>
        </a:xfrm>
      </p:grpSpPr>
      <p:sp>
        <p:nvSpPr>
          <p:cNvPr id="583" name="Google Shape;583;p28"/>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Exploration — vérifier la faisabilité</a:t>
            </a:r>
            <a:endParaRPr b="0" i="0" sz="1400" u="none" cap="none" strike="noStrike">
              <a:solidFill>
                <a:srgbClr val="000000"/>
              </a:solidFill>
              <a:latin typeface="Arial"/>
              <a:ea typeface="Arial"/>
              <a:cs typeface="Arial"/>
              <a:sym typeface="Arial"/>
            </a:endParaRPr>
          </a:p>
        </p:txBody>
      </p:sp>
      <p:sp>
        <p:nvSpPr>
          <p:cNvPr id="584" name="Google Shape;584;p28"/>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Volumétrie, fréquence, complétude et saisonnalités avant toute modélisation</a:t>
            </a:r>
            <a:endParaRPr b="0" i="0" sz="1400" u="none" cap="none" strike="noStrike">
              <a:solidFill>
                <a:srgbClr val="000000"/>
              </a:solidFill>
              <a:latin typeface="Arial"/>
              <a:ea typeface="Arial"/>
              <a:cs typeface="Arial"/>
              <a:sym typeface="Arial"/>
            </a:endParaRPr>
          </a:p>
        </p:txBody>
      </p:sp>
      <p:pic>
        <p:nvPicPr>
          <p:cNvPr descr="exploration_cell13_out0.png" id="585" name="Google Shape;585;p28"/>
          <p:cNvPicPr preferRelativeResize="0"/>
          <p:nvPr/>
        </p:nvPicPr>
        <p:blipFill rotWithShape="1">
          <a:blip r:embed="rId3">
            <a:alphaModFix/>
          </a:blip>
          <a:srcRect b="0" l="0" r="0" t="0"/>
          <a:stretch/>
        </p:blipFill>
        <p:spPr>
          <a:xfrm>
            <a:off x="654725" y="2436935"/>
            <a:ext cx="6217920" cy="2560320"/>
          </a:xfrm>
          <a:prstGeom prst="rect">
            <a:avLst/>
          </a:prstGeom>
          <a:noFill/>
          <a:ln>
            <a:noFill/>
          </a:ln>
        </p:spPr>
      </p:pic>
      <p:pic>
        <p:nvPicPr>
          <p:cNvPr descr="exploration_cell24_out0.png" id="586" name="Google Shape;586;p28"/>
          <p:cNvPicPr preferRelativeResize="0"/>
          <p:nvPr/>
        </p:nvPicPr>
        <p:blipFill rotWithShape="1">
          <a:blip r:embed="rId4">
            <a:alphaModFix/>
          </a:blip>
          <a:srcRect b="0" l="0" r="0" t="0"/>
          <a:stretch/>
        </p:blipFill>
        <p:spPr>
          <a:xfrm>
            <a:off x="7391970" y="2148847"/>
            <a:ext cx="6309359" cy="3136497"/>
          </a:xfrm>
          <a:prstGeom prst="rect">
            <a:avLst/>
          </a:prstGeom>
          <a:noFill/>
          <a:ln>
            <a:noFill/>
          </a:ln>
        </p:spPr>
      </p:pic>
      <p:sp>
        <p:nvSpPr>
          <p:cNvPr id="587" name="Google Shape;587;p28"/>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588" name="Google Shape;588;p28"/>
          <p:cNvSpPr/>
          <p:nvPr/>
        </p:nvSpPr>
        <p:spPr>
          <a:xfrm>
            <a:off x="914400" y="6720840"/>
            <a:ext cx="12710100" cy="685800"/>
          </a:xfrm>
          <a:prstGeom prst="roundRect">
            <a:avLst>
              <a:gd fmla="val 16667" name="adj"/>
            </a:avLst>
          </a:prstGeom>
          <a:solidFill>
            <a:srgbClr val="E8F2EE"/>
          </a:solidFill>
          <a:ln cap="flat" cmpd="sng" w="9525">
            <a:solidFill>
              <a:srgbClr val="268B6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268B67"/>
                </a:solidFill>
                <a:latin typeface="Calibri"/>
                <a:ea typeface="Calibri"/>
                <a:cs typeface="Calibri"/>
                <a:sym typeface="Calibri"/>
              </a:rPr>
              <a:t>Conclusion : projet faisable, avec un volume suffisant et une cible directement observable.</a:t>
            </a:r>
            <a:endParaRPr b="0" i="0" sz="1400" u="none" cap="none" strike="noStrike">
              <a:solidFill>
                <a:srgbClr val="000000"/>
              </a:solidFill>
              <a:latin typeface="Arial"/>
              <a:ea typeface="Arial"/>
              <a:cs typeface="Arial"/>
              <a:sym typeface="Arial"/>
            </a:endParaRPr>
          </a:p>
        </p:txBody>
      </p:sp>
      <p:sp>
        <p:nvSpPr>
          <p:cNvPr id="589" name="Google Shape;589;p28"/>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p29"/>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C5.1.2</a:t>
            </a:r>
            <a:endParaRPr b="0" i="0" sz="1400" u="none" cap="none" strike="noStrike">
              <a:solidFill>
                <a:srgbClr val="000000"/>
              </a:solidFill>
              <a:latin typeface="Arial"/>
              <a:ea typeface="Arial"/>
              <a:cs typeface="Arial"/>
              <a:sym typeface="Arial"/>
            </a:endParaRPr>
          </a:p>
        </p:txBody>
      </p:sp>
      <p:sp>
        <p:nvSpPr>
          <p:cNvPr id="595" name="Google Shape;595;p29"/>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Définir la stratégie de résolution</a:t>
            </a:r>
            <a:endParaRPr b="0" i="0" sz="1400" u="none" cap="none" strike="noStrike">
              <a:solidFill>
                <a:srgbClr val="000000"/>
              </a:solidFill>
              <a:latin typeface="Arial"/>
              <a:ea typeface="Arial"/>
              <a:cs typeface="Arial"/>
              <a:sym typeface="Arial"/>
            </a:endParaRPr>
          </a:p>
        </p:txBody>
      </p:sp>
      <p:sp>
        <p:nvSpPr>
          <p:cNvPr id="596" name="Google Shape;596;p29"/>
          <p:cNvSpPr txBox="1"/>
          <p:nvPr/>
        </p:nvSpPr>
        <p:spPr>
          <a:xfrm>
            <a:off x="777240" y="1207008"/>
            <a:ext cx="98755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A6673"/>
                </a:solidFill>
                <a:latin typeface="Calibri"/>
                <a:ea typeface="Calibri"/>
                <a:cs typeface="Calibri"/>
                <a:sym typeface="Calibri"/>
              </a:rPr>
              <a:t>Transformer un besoin métier en problème de Machine Learning</a:t>
            </a:r>
            <a:endParaRPr b="0" i="0" sz="1400" u="none" cap="none" strike="noStrike">
              <a:solidFill>
                <a:srgbClr val="000000"/>
              </a:solidFill>
              <a:latin typeface="Arial"/>
              <a:ea typeface="Arial"/>
              <a:cs typeface="Arial"/>
              <a:sym typeface="Arial"/>
            </a:endParaRPr>
          </a:p>
        </p:txBody>
      </p:sp>
      <p:sp>
        <p:nvSpPr>
          <p:cNvPr id="597" name="Google Shape;597;p29"/>
          <p:cNvSpPr txBox="1"/>
          <p:nvPr/>
        </p:nvSpPr>
        <p:spPr>
          <a:xfrm>
            <a:off x="1390597" y="2304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FORMULATION ML</a:t>
            </a:r>
            <a:endParaRPr b="0" i="0" sz="1800" u="none" cap="none" strike="noStrike">
              <a:solidFill>
                <a:srgbClr val="000000"/>
              </a:solidFill>
              <a:latin typeface="Arial"/>
              <a:ea typeface="Arial"/>
              <a:cs typeface="Arial"/>
              <a:sym typeface="Arial"/>
            </a:endParaRPr>
          </a:p>
        </p:txBody>
      </p:sp>
      <p:sp>
        <p:nvSpPr>
          <p:cNvPr id="598" name="Google Shape;598;p29"/>
          <p:cNvSpPr txBox="1"/>
          <p:nvPr/>
        </p:nvSpPr>
        <p:spPr>
          <a:xfrm>
            <a:off x="1390597" y="2669895"/>
            <a:ext cx="50292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Tâche : régression sur série temporelle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Cible : consommation à t + 24 h</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Unité : région × demi-heure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Horizon principal : J+1</a:t>
            </a:r>
            <a:endParaRPr b="0" i="0" sz="1400" u="none" cap="none" strike="noStrike">
              <a:solidFill>
                <a:srgbClr val="000000"/>
              </a:solidFill>
              <a:latin typeface="Arial"/>
              <a:ea typeface="Arial"/>
              <a:cs typeface="Arial"/>
              <a:sym typeface="Arial"/>
            </a:endParaRPr>
          </a:p>
        </p:txBody>
      </p:sp>
      <p:sp>
        <p:nvSpPr>
          <p:cNvPr id="599" name="Google Shape;599;p29"/>
          <p:cNvSpPr txBox="1"/>
          <p:nvPr/>
        </p:nvSpPr>
        <p:spPr>
          <a:xfrm>
            <a:off x="7296208" y="2304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APPROCHE RETENUE</a:t>
            </a:r>
            <a:endParaRPr b="0" i="0" sz="1800" u="none" cap="none" strike="noStrike">
              <a:solidFill>
                <a:srgbClr val="000000"/>
              </a:solidFill>
              <a:latin typeface="Arial"/>
              <a:ea typeface="Arial"/>
              <a:cs typeface="Arial"/>
              <a:sym typeface="Arial"/>
            </a:endParaRPr>
          </a:p>
        </p:txBody>
      </p:sp>
      <p:sp>
        <p:nvSpPr>
          <p:cNvPr id="600" name="Google Shape;600;p29"/>
          <p:cNvSpPr txBox="1"/>
          <p:nvPr/>
        </p:nvSpPr>
        <p:spPr>
          <a:xfrm>
            <a:off x="7296207" y="2669895"/>
            <a:ext cx="59436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Baseline temporelle : demain = aujourd'hui</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Validation chronologique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Comparaison de modèles simples et non linéaires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Analyse spécifique des pics</a:t>
            </a:r>
            <a:endParaRPr b="0" i="0" sz="1400" u="none" cap="none" strike="noStrike">
              <a:solidFill>
                <a:srgbClr val="000000"/>
              </a:solidFill>
              <a:latin typeface="Arial"/>
              <a:ea typeface="Arial"/>
              <a:cs typeface="Arial"/>
              <a:sym typeface="Arial"/>
            </a:endParaRPr>
          </a:p>
        </p:txBody>
      </p:sp>
      <p:sp>
        <p:nvSpPr>
          <p:cNvPr id="601" name="Google Shape;601;p29"/>
          <p:cNvSpPr/>
          <p:nvPr/>
        </p:nvSpPr>
        <p:spPr>
          <a:xfrm>
            <a:off x="224027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Train</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2019–2023</a:t>
            </a:r>
            <a:endParaRPr b="0" i="0" sz="1400" u="none" cap="none" strike="noStrike">
              <a:solidFill>
                <a:srgbClr val="000000"/>
              </a:solidFill>
              <a:latin typeface="Arial"/>
              <a:ea typeface="Arial"/>
              <a:cs typeface="Arial"/>
              <a:sym typeface="Arial"/>
            </a:endParaRPr>
          </a:p>
        </p:txBody>
      </p:sp>
      <p:cxnSp>
        <p:nvCxnSpPr>
          <p:cNvPr id="602" name="Google Shape;602;p29"/>
          <p:cNvCxnSpPr/>
          <p:nvPr/>
        </p:nvCxnSpPr>
        <p:spPr>
          <a:xfrm>
            <a:off x="4754875" y="5615810"/>
            <a:ext cx="128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603" name="Google Shape;603;p29"/>
          <p:cNvSpPr/>
          <p:nvPr/>
        </p:nvSpPr>
        <p:spPr>
          <a:xfrm>
            <a:off x="608075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Validation</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2024</a:t>
            </a:r>
            <a:endParaRPr b="0" i="0" sz="1400" u="none" cap="none" strike="noStrike">
              <a:solidFill>
                <a:srgbClr val="000000"/>
              </a:solidFill>
              <a:latin typeface="Arial"/>
              <a:ea typeface="Arial"/>
              <a:cs typeface="Arial"/>
              <a:sym typeface="Arial"/>
            </a:endParaRPr>
          </a:p>
        </p:txBody>
      </p:sp>
      <p:cxnSp>
        <p:nvCxnSpPr>
          <p:cNvPr id="604" name="Google Shape;604;p29"/>
          <p:cNvCxnSpPr/>
          <p:nvPr/>
        </p:nvCxnSpPr>
        <p:spPr>
          <a:xfrm>
            <a:off x="8595354" y="5615810"/>
            <a:ext cx="128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605" name="Google Shape;605;p29"/>
          <p:cNvSpPr/>
          <p:nvPr/>
        </p:nvSpPr>
        <p:spPr>
          <a:xfrm>
            <a:off x="992123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Test</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2025</a:t>
            </a:r>
            <a:endParaRPr b="0" i="0" sz="1400" u="none" cap="none" strike="noStrike">
              <a:solidFill>
                <a:srgbClr val="000000"/>
              </a:solidFill>
              <a:latin typeface="Arial"/>
              <a:ea typeface="Arial"/>
              <a:cs typeface="Arial"/>
              <a:sym typeface="Arial"/>
            </a:endParaRPr>
          </a:p>
        </p:txBody>
      </p:sp>
      <p:sp>
        <p:nvSpPr>
          <p:cNvPr id="606" name="Google Shape;606;p29"/>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7" name="Google Shape;607;p29"/>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1" name="Shape 611"/>
        <p:cNvGrpSpPr/>
        <p:nvPr/>
      </p:nvGrpSpPr>
      <p:grpSpPr>
        <a:xfrm>
          <a:off x="0" y="0"/>
          <a:ext cx="0" cy="0"/>
          <a:chOff x="0" y="0"/>
          <a:chExt cx="0" cy="0"/>
        </a:xfrm>
      </p:grpSpPr>
      <p:sp>
        <p:nvSpPr>
          <p:cNvPr id="612" name="Google Shape;612;p30"/>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C5.1.3</a:t>
            </a:r>
            <a:endParaRPr b="0" i="0" sz="1400" u="none" cap="none" strike="noStrike">
              <a:solidFill>
                <a:srgbClr val="000000"/>
              </a:solidFill>
              <a:latin typeface="Arial"/>
              <a:ea typeface="Arial"/>
              <a:cs typeface="Arial"/>
              <a:sym typeface="Arial"/>
            </a:endParaRPr>
          </a:p>
        </p:txBody>
      </p:sp>
      <p:sp>
        <p:nvSpPr>
          <p:cNvPr id="613" name="Google Shape;613;p30"/>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Sélectionner les technologies et les outils</a:t>
            </a:r>
            <a:endParaRPr b="0" i="0" sz="1400" u="none" cap="none" strike="noStrike">
              <a:solidFill>
                <a:srgbClr val="000000"/>
              </a:solidFill>
              <a:latin typeface="Arial"/>
              <a:ea typeface="Arial"/>
              <a:cs typeface="Arial"/>
              <a:sym typeface="Arial"/>
            </a:endParaRPr>
          </a:p>
        </p:txBody>
      </p:sp>
      <p:sp>
        <p:nvSpPr>
          <p:cNvPr id="614" name="Google Shape;614;p30"/>
          <p:cNvSpPr txBox="1"/>
          <p:nvPr/>
        </p:nvSpPr>
        <p:spPr>
          <a:xfrm>
            <a:off x="914400" y="160020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PYTHON / PANDAS</a:t>
            </a:r>
            <a:endParaRPr b="0" i="0" sz="1800" u="none" cap="none" strike="noStrike">
              <a:solidFill>
                <a:srgbClr val="000000"/>
              </a:solidFill>
              <a:latin typeface="Arial"/>
              <a:ea typeface="Arial"/>
              <a:cs typeface="Arial"/>
              <a:sym typeface="Arial"/>
            </a:endParaRPr>
          </a:p>
        </p:txBody>
      </p:sp>
      <p:sp>
        <p:nvSpPr>
          <p:cNvPr id="615" name="Google Shape;615;p30"/>
          <p:cNvSpPr txBox="1"/>
          <p:nvPr/>
        </p:nvSpPr>
        <p:spPr>
          <a:xfrm>
            <a:off x="4663440" y="157276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préparation et manipulation des données</a:t>
            </a:r>
            <a:endParaRPr b="0" i="0" sz="1400" u="none" cap="none" strike="noStrike">
              <a:solidFill>
                <a:srgbClr val="000000"/>
              </a:solidFill>
              <a:latin typeface="Arial"/>
              <a:ea typeface="Arial"/>
              <a:cs typeface="Arial"/>
              <a:sym typeface="Arial"/>
            </a:endParaRPr>
          </a:p>
        </p:txBody>
      </p:sp>
      <p:sp>
        <p:nvSpPr>
          <p:cNvPr id="616" name="Google Shape;616;p30"/>
          <p:cNvSpPr txBox="1"/>
          <p:nvPr/>
        </p:nvSpPr>
        <p:spPr>
          <a:xfrm>
            <a:off x="914400" y="260604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SCIKIT-LEARN</a:t>
            </a:r>
            <a:endParaRPr b="0" i="0" sz="1800" u="none" cap="none" strike="noStrike">
              <a:solidFill>
                <a:srgbClr val="000000"/>
              </a:solidFill>
              <a:latin typeface="Arial"/>
              <a:ea typeface="Arial"/>
              <a:cs typeface="Arial"/>
              <a:sym typeface="Arial"/>
            </a:endParaRPr>
          </a:p>
        </p:txBody>
      </p:sp>
      <p:sp>
        <p:nvSpPr>
          <p:cNvPr id="617" name="Google Shape;617;p30"/>
          <p:cNvSpPr txBox="1"/>
          <p:nvPr/>
        </p:nvSpPr>
        <p:spPr>
          <a:xfrm>
            <a:off x="4663440" y="257860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modèles, validation, métriques, optimisation</a:t>
            </a:r>
            <a:endParaRPr b="0" i="0" sz="1400" u="none" cap="none" strike="noStrike">
              <a:solidFill>
                <a:srgbClr val="000000"/>
              </a:solidFill>
              <a:latin typeface="Arial"/>
              <a:ea typeface="Arial"/>
              <a:cs typeface="Arial"/>
              <a:sym typeface="Arial"/>
            </a:endParaRPr>
          </a:p>
        </p:txBody>
      </p:sp>
      <p:sp>
        <p:nvSpPr>
          <p:cNvPr id="618" name="Google Shape;618;p30"/>
          <p:cNvSpPr txBox="1"/>
          <p:nvPr/>
        </p:nvSpPr>
        <p:spPr>
          <a:xfrm>
            <a:off x="914400" y="361188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JOBLIB + JSON</a:t>
            </a:r>
            <a:endParaRPr b="0" i="0" sz="1800" u="none" cap="none" strike="noStrike">
              <a:solidFill>
                <a:srgbClr val="000000"/>
              </a:solidFill>
              <a:latin typeface="Arial"/>
              <a:ea typeface="Arial"/>
              <a:cs typeface="Arial"/>
              <a:sym typeface="Arial"/>
            </a:endParaRPr>
          </a:p>
        </p:txBody>
      </p:sp>
      <p:sp>
        <p:nvSpPr>
          <p:cNvPr id="619" name="Google Shape;619;p30"/>
          <p:cNvSpPr txBox="1"/>
          <p:nvPr/>
        </p:nvSpPr>
        <p:spPr>
          <a:xfrm>
            <a:off x="4663440" y="358444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sauvegarde modèle + métadonnées</a:t>
            </a:r>
            <a:endParaRPr b="0" i="0" sz="1400" u="none" cap="none" strike="noStrike">
              <a:solidFill>
                <a:srgbClr val="000000"/>
              </a:solidFill>
              <a:latin typeface="Arial"/>
              <a:ea typeface="Arial"/>
              <a:cs typeface="Arial"/>
              <a:sym typeface="Arial"/>
            </a:endParaRPr>
          </a:p>
        </p:txBody>
      </p:sp>
      <p:sp>
        <p:nvSpPr>
          <p:cNvPr id="620" name="Google Shape;620;p30"/>
          <p:cNvSpPr txBox="1"/>
          <p:nvPr/>
        </p:nvSpPr>
        <p:spPr>
          <a:xfrm>
            <a:off x="914400" y="461772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MLFLOW</a:t>
            </a:r>
            <a:endParaRPr b="0" i="0" sz="1800" u="none" cap="none" strike="noStrike">
              <a:solidFill>
                <a:srgbClr val="000000"/>
              </a:solidFill>
              <a:latin typeface="Arial"/>
              <a:ea typeface="Arial"/>
              <a:cs typeface="Arial"/>
              <a:sym typeface="Arial"/>
            </a:endParaRPr>
          </a:p>
        </p:txBody>
      </p:sp>
      <p:sp>
        <p:nvSpPr>
          <p:cNvPr id="621" name="Google Shape;621;p30"/>
          <p:cNvSpPr txBox="1"/>
          <p:nvPr/>
        </p:nvSpPr>
        <p:spPr>
          <a:xfrm>
            <a:off x="4663440" y="459028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traçabilité et versioning</a:t>
            </a:r>
            <a:endParaRPr b="0" i="0" sz="1400" u="none" cap="none" strike="noStrike">
              <a:solidFill>
                <a:srgbClr val="000000"/>
              </a:solidFill>
              <a:latin typeface="Arial"/>
              <a:ea typeface="Arial"/>
              <a:cs typeface="Arial"/>
              <a:sym typeface="Arial"/>
            </a:endParaRPr>
          </a:p>
        </p:txBody>
      </p:sp>
      <p:sp>
        <p:nvSpPr>
          <p:cNvPr id="622" name="Google Shape;622;p30"/>
          <p:cNvSpPr txBox="1"/>
          <p:nvPr/>
        </p:nvSpPr>
        <p:spPr>
          <a:xfrm>
            <a:off x="914400" y="562356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PYTEST / GITHUB ACTIONS</a:t>
            </a:r>
            <a:endParaRPr b="0" i="0" sz="1800" u="none" cap="none" strike="noStrike">
              <a:solidFill>
                <a:srgbClr val="000000"/>
              </a:solidFill>
              <a:latin typeface="Arial"/>
              <a:ea typeface="Arial"/>
              <a:cs typeface="Arial"/>
              <a:sym typeface="Arial"/>
            </a:endParaRPr>
          </a:p>
        </p:txBody>
      </p:sp>
      <p:sp>
        <p:nvSpPr>
          <p:cNvPr id="623" name="Google Shape;623;p30"/>
          <p:cNvSpPr txBox="1"/>
          <p:nvPr/>
        </p:nvSpPr>
        <p:spPr>
          <a:xfrm>
            <a:off x="4663440" y="559612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tests et intégration continue</a:t>
            </a:r>
            <a:endParaRPr b="0" i="0" sz="1400" u="none" cap="none" strike="noStrike">
              <a:solidFill>
                <a:srgbClr val="000000"/>
              </a:solidFill>
              <a:latin typeface="Arial"/>
              <a:ea typeface="Arial"/>
              <a:cs typeface="Arial"/>
              <a:sym typeface="Arial"/>
            </a:endParaRPr>
          </a:p>
        </p:txBody>
      </p:sp>
      <p:sp>
        <p:nvSpPr>
          <p:cNvPr id="624" name="Google Shape;624;p30"/>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5" name="Google Shape;625;p30"/>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9" name="Shape 629"/>
        <p:cNvGrpSpPr/>
        <p:nvPr/>
      </p:nvGrpSpPr>
      <p:grpSpPr>
        <a:xfrm>
          <a:off x="0" y="0"/>
          <a:ext cx="0" cy="0"/>
          <a:chOff x="0" y="0"/>
          <a:chExt cx="0" cy="0"/>
        </a:xfrm>
      </p:grpSpPr>
      <p:sp>
        <p:nvSpPr>
          <p:cNvPr id="630" name="Google Shape;630;p31"/>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Préparation — du brut au dataset supervisé</a:t>
            </a:r>
            <a:endParaRPr b="0" i="0" sz="1400" u="none" cap="none" strike="noStrike">
              <a:solidFill>
                <a:srgbClr val="000000"/>
              </a:solidFill>
              <a:latin typeface="Arial"/>
              <a:ea typeface="Arial"/>
              <a:cs typeface="Arial"/>
              <a:sym typeface="Arial"/>
            </a:endParaRPr>
          </a:p>
        </p:txBody>
      </p:sp>
      <p:sp>
        <p:nvSpPr>
          <p:cNvPr id="631" name="Google Shape;631;p31"/>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Affinage du cadre</a:t>
            </a:r>
            <a:endParaRPr b="0" i="0" sz="1400" u="none" cap="none" strike="noStrike">
              <a:solidFill>
                <a:srgbClr val="000000"/>
              </a:solidFill>
              <a:latin typeface="Arial"/>
              <a:ea typeface="Arial"/>
              <a:cs typeface="Arial"/>
              <a:sym typeface="Arial"/>
            </a:endParaRPr>
          </a:p>
        </p:txBody>
      </p:sp>
      <p:sp>
        <p:nvSpPr>
          <p:cNvPr id="632" name="Google Shape;632;p31"/>
          <p:cNvSpPr/>
          <p:nvPr/>
        </p:nvSpPr>
        <p:spPr>
          <a:xfrm>
            <a:off x="502963" y="4904230"/>
            <a:ext cx="2743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130 924 lignes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dataset final</a:t>
            </a:r>
            <a:endParaRPr b="0" i="0" sz="1400" u="none" cap="none" strike="noStrike">
              <a:solidFill>
                <a:srgbClr val="000000"/>
              </a:solidFill>
              <a:latin typeface="Arial"/>
              <a:ea typeface="Arial"/>
              <a:cs typeface="Arial"/>
              <a:sym typeface="Arial"/>
            </a:endParaRPr>
          </a:p>
        </p:txBody>
      </p:sp>
      <p:sp>
        <p:nvSpPr>
          <p:cNvPr id="633" name="Google Shape;633;p31"/>
          <p:cNvSpPr/>
          <p:nvPr/>
        </p:nvSpPr>
        <p:spPr>
          <a:xfrm>
            <a:off x="3520483" y="4904230"/>
            <a:ext cx="20118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27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colonnes finales</a:t>
            </a:r>
            <a:endParaRPr b="0" i="0" sz="1400" u="none" cap="none" strike="noStrike">
              <a:solidFill>
                <a:srgbClr val="000000"/>
              </a:solidFill>
              <a:latin typeface="Arial"/>
              <a:ea typeface="Arial"/>
              <a:cs typeface="Arial"/>
              <a:sym typeface="Arial"/>
            </a:endParaRPr>
          </a:p>
        </p:txBody>
      </p:sp>
      <p:sp>
        <p:nvSpPr>
          <p:cNvPr id="634" name="Google Shape;634;p31"/>
          <p:cNvSpPr/>
          <p:nvPr/>
        </p:nvSpPr>
        <p:spPr>
          <a:xfrm>
            <a:off x="5897923" y="4904230"/>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2019-01-08</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début features</a:t>
            </a:r>
            <a:endParaRPr b="0" i="0" sz="1400" u="none" cap="none" strike="noStrike">
              <a:solidFill>
                <a:srgbClr val="000000"/>
              </a:solidFill>
              <a:latin typeface="Arial"/>
              <a:ea typeface="Arial"/>
              <a:cs typeface="Arial"/>
              <a:sym typeface="Arial"/>
            </a:endParaRPr>
          </a:p>
        </p:txBody>
      </p:sp>
      <p:sp>
        <p:nvSpPr>
          <p:cNvPr id="635" name="Google Shape;635;p31"/>
          <p:cNvSpPr/>
          <p:nvPr/>
        </p:nvSpPr>
        <p:spPr>
          <a:xfrm>
            <a:off x="8732563" y="4904230"/>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2026-06-29</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fin features</a:t>
            </a:r>
            <a:endParaRPr b="0" i="0" sz="1400" u="none" cap="none" strike="noStrike">
              <a:solidFill>
                <a:srgbClr val="000000"/>
              </a:solidFill>
              <a:latin typeface="Arial"/>
              <a:ea typeface="Arial"/>
              <a:cs typeface="Arial"/>
              <a:sym typeface="Arial"/>
            </a:endParaRPr>
          </a:p>
        </p:txBody>
      </p:sp>
      <p:sp>
        <p:nvSpPr>
          <p:cNvPr id="636" name="Google Shape;636;p31"/>
          <p:cNvSpPr txBox="1"/>
          <p:nvPr/>
        </p:nvSpPr>
        <p:spPr>
          <a:xfrm>
            <a:off x="777250" y="1668360"/>
            <a:ext cx="3657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Arial"/>
                <a:ea typeface="Arial"/>
                <a:cs typeface="Arial"/>
                <a:sym typeface="Arial"/>
              </a:rPr>
              <a:t>DÉCISIONS DE PRÉPARATION</a:t>
            </a:r>
            <a:endParaRPr b="0" i="0" sz="1400" u="none" cap="none" strike="noStrike">
              <a:solidFill>
                <a:srgbClr val="000000"/>
              </a:solidFill>
              <a:latin typeface="Arial"/>
              <a:ea typeface="Arial"/>
              <a:cs typeface="Arial"/>
              <a:sym typeface="Arial"/>
            </a:endParaRPr>
          </a:p>
        </p:txBody>
      </p:sp>
      <p:sp>
        <p:nvSpPr>
          <p:cNvPr id="637" name="Google Shape;637;p31"/>
          <p:cNvSpPr txBox="1"/>
          <p:nvPr/>
        </p:nvSpPr>
        <p:spPr>
          <a:xfrm>
            <a:off x="777250" y="2034120"/>
            <a:ext cx="6217800" cy="1923900"/>
          </a:xfrm>
          <a:prstGeom prst="rect">
            <a:avLst/>
          </a:prstGeom>
          <a:noFill/>
          <a:ln>
            <a:noFill/>
          </a:ln>
        </p:spPr>
        <p:txBody>
          <a:bodyPr anchorCtr="0" anchor="t" bIns="45700" lIns="91425" spcFirstLastPara="1" rIns="91425" wrap="square" tIns="45700">
            <a:spAutoFit/>
          </a:bodyPr>
          <a:lstStyle/>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Filtrage sur la Nouvelle-Aquitaine et les années récentes.</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Déduplication des timestamps liés aux changements d’heure.</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Suppression de la colonne entièrement vide.</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Cible construite sur la consommation observée 24 h plus tard.</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Export d’un fichier parquet prêt pour la modélisation.</a:t>
            </a:r>
            <a:endParaRPr b="0" i="0" sz="1400" u="none" cap="none" strike="noStrike">
              <a:solidFill>
                <a:srgbClr val="000000"/>
              </a:solidFill>
              <a:latin typeface="Arial"/>
              <a:ea typeface="Arial"/>
              <a:cs typeface="Arial"/>
              <a:sym typeface="Arial"/>
            </a:endParaRPr>
          </a:p>
        </p:txBody>
      </p:sp>
      <p:sp>
        <p:nvSpPr>
          <p:cNvPr id="638" name="Google Shape;638;p31"/>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639" name="Google Shape;639;p31"/>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C5.2.1</a:t>
            </a:r>
            <a:endParaRPr b="1" i="0" sz="1200" u="none" cap="none" strike="noStrike">
              <a:solidFill>
                <a:srgbClr val="2F61B8"/>
              </a:solidFill>
              <a:latin typeface="Calibri"/>
              <a:ea typeface="Calibri"/>
              <a:cs typeface="Calibri"/>
              <a:sym typeface="Calibri"/>
            </a:endParaRPr>
          </a:p>
        </p:txBody>
      </p:sp>
      <p:sp>
        <p:nvSpPr>
          <p:cNvPr id="640" name="Google Shape;640;p31"/>
          <p:cNvSpPr/>
          <p:nvPr/>
        </p:nvSpPr>
        <p:spPr>
          <a:xfrm>
            <a:off x="11567225" y="4904225"/>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4717</a:t>
            </a:r>
            <a:r>
              <a:rPr b="1" i="0" lang="en-US" sz="2600" u="none" cap="none" strike="noStrike">
                <a:solidFill>
                  <a:srgbClr val="2F61B8"/>
                </a:solidFill>
                <a:latin typeface="Calibri"/>
                <a:ea typeface="Calibri"/>
                <a:cs typeface="Calibri"/>
                <a:sym typeface="Calibri"/>
              </a:rPr>
              <a:t>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Consommation moyenne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32"/>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C5.2.1</a:t>
            </a:r>
            <a:endParaRPr b="1" i="0" sz="1200" u="none" cap="none" strike="noStrike">
              <a:solidFill>
                <a:srgbClr val="2F61B8"/>
              </a:solidFill>
              <a:latin typeface="Calibri"/>
              <a:ea typeface="Calibri"/>
              <a:cs typeface="Calibri"/>
              <a:sym typeface="Calibri"/>
            </a:endParaRPr>
          </a:p>
        </p:txBody>
      </p:sp>
      <p:sp>
        <p:nvSpPr>
          <p:cNvPr id="646" name="Google Shape;646;p32"/>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Construire le dataset et les variables</a:t>
            </a:r>
            <a:endParaRPr b="0" i="0" sz="1400" u="none" cap="none" strike="noStrike">
              <a:solidFill>
                <a:srgbClr val="000000"/>
              </a:solidFill>
              <a:latin typeface="Arial"/>
              <a:ea typeface="Arial"/>
              <a:cs typeface="Arial"/>
              <a:sym typeface="Arial"/>
            </a:endParaRPr>
          </a:p>
        </p:txBody>
      </p:sp>
      <p:sp>
        <p:nvSpPr>
          <p:cNvPr id="647" name="Google Shape;647;p32"/>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DATASET SUPERVISÉ</a:t>
            </a:r>
            <a:endParaRPr b="0" i="0" sz="1800" u="none" cap="none" strike="noStrike">
              <a:solidFill>
                <a:srgbClr val="000000"/>
              </a:solidFill>
              <a:latin typeface="Arial"/>
              <a:ea typeface="Arial"/>
              <a:cs typeface="Arial"/>
              <a:sym typeface="Arial"/>
            </a:endParaRPr>
          </a:p>
        </p:txBody>
      </p:sp>
      <p:sp>
        <p:nvSpPr>
          <p:cNvPr id="648" name="Google Shape;648;p32"/>
          <p:cNvSpPr txBox="1"/>
          <p:nvPr/>
        </p:nvSpPr>
        <p:spPr>
          <a:xfrm>
            <a:off x="822960" y="2011680"/>
            <a:ext cx="53034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Données régionales éCO2mix</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Nouvelle-Aquitaine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Observation : une demi-heure t</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Cible : consommation à t + 24 h</a:t>
            </a:r>
            <a:endParaRPr b="0" i="0" sz="1400" u="none" cap="none" strike="noStrike">
              <a:solidFill>
                <a:srgbClr val="000000"/>
              </a:solidFill>
              <a:latin typeface="Arial"/>
              <a:ea typeface="Arial"/>
              <a:cs typeface="Arial"/>
              <a:sym typeface="Arial"/>
            </a:endParaRPr>
          </a:p>
        </p:txBody>
      </p:sp>
      <p:sp>
        <p:nvSpPr>
          <p:cNvPr id="649" name="Google Shape;649;p32"/>
          <p:cNvSpPr txBox="1"/>
          <p:nvPr/>
        </p:nvSpPr>
        <p:spPr>
          <a:xfrm>
            <a:off x="68580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FEATURE ENGINEERING</a:t>
            </a:r>
            <a:endParaRPr b="0" i="0" sz="1800" u="none" cap="none" strike="noStrike">
              <a:solidFill>
                <a:srgbClr val="000000"/>
              </a:solidFill>
              <a:latin typeface="Arial"/>
              <a:ea typeface="Arial"/>
              <a:cs typeface="Arial"/>
              <a:sym typeface="Arial"/>
            </a:endParaRPr>
          </a:p>
        </p:txBody>
      </p:sp>
      <p:sp>
        <p:nvSpPr>
          <p:cNvPr id="650" name="Google Shape;650;p32"/>
          <p:cNvSpPr txBox="1"/>
          <p:nvPr/>
        </p:nvSpPr>
        <p:spPr>
          <a:xfrm>
            <a:off x="6858000" y="2011680"/>
            <a:ext cx="5852100" cy="17547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Lags : 30 min, 1 h, 24 h, 48 h, 7 j</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Moyennes et écarts-types glissants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Différences de consommation</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Variables calendaires et cycliques</a:t>
            </a:r>
            <a:endParaRPr b="0" i="0" sz="1800" u="none" cap="none" strike="noStrike">
              <a:solidFill>
                <a:srgbClr val="12202F"/>
              </a:solidFill>
              <a:latin typeface="Calibri"/>
              <a:ea typeface="Calibri"/>
              <a:cs typeface="Calibri"/>
              <a:sym typeface="Calibri"/>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Cosinus de l’heure et du jour de la semaine pour une meilleure continuité</a:t>
            </a:r>
            <a:endParaRPr b="0" i="0" sz="1800" u="none" cap="none" strike="noStrike">
              <a:solidFill>
                <a:srgbClr val="12202F"/>
              </a:solidFill>
              <a:latin typeface="Calibri"/>
              <a:ea typeface="Calibri"/>
              <a:cs typeface="Calibri"/>
              <a:sym typeface="Calibri"/>
            </a:endParaRPr>
          </a:p>
        </p:txBody>
      </p:sp>
      <p:sp>
        <p:nvSpPr>
          <p:cNvPr id="651" name="Google Shape;651;p32"/>
          <p:cNvSpPr txBox="1"/>
          <p:nvPr/>
        </p:nvSpPr>
        <p:spPr>
          <a:xfrm>
            <a:off x="822960" y="457200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CONTRÔLES QUALITÉ</a:t>
            </a:r>
            <a:endParaRPr b="0" i="0" sz="1800" u="none" cap="none" strike="noStrike">
              <a:solidFill>
                <a:srgbClr val="000000"/>
              </a:solidFill>
              <a:latin typeface="Arial"/>
              <a:ea typeface="Arial"/>
              <a:cs typeface="Arial"/>
              <a:sym typeface="Arial"/>
            </a:endParaRPr>
          </a:p>
        </p:txBody>
      </p:sp>
      <p:sp>
        <p:nvSpPr>
          <p:cNvPr id="652" name="Google Shape;652;p32"/>
          <p:cNvSpPr txBox="1"/>
          <p:nvPr/>
        </p:nvSpPr>
        <p:spPr>
          <a:xfrm>
            <a:off x="822955" y="4937750"/>
            <a:ext cx="61488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Traitement des doublons de changement d’heure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Suppression des colonnes vides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Construction par timestamp pour éviter les décalages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Pas d’information future dans les features</a:t>
            </a:r>
            <a:endParaRPr b="0" i="0" sz="1400" u="none" cap="none" strike="noStrike">
              <a:solidFill>
                <a:srgbClr val="000000"/>
              </a:solidFill>
              <a:latin typeface="Arial"/>
              <a:ea typeface="Arial"/>
              <a:cs typeface="Arial"/>
              <a:sym typeface="Arial"/>
            </a:endParaRPr>
          </a:p>
        </p:txBody>
      </p:sp>
      <p:sp>
        <p:nvSpPr>
          <p:cNvPr id="653" name="Google Shape;653;p32"/>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4" name="Google Shape;654;p32"/>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655" name="Google Shape;655;p32"/>
          <p:cNvPicPr preferRelativeResize="0"/>
          <p:nvPr/>
        </p:nvPicPr>
        <p:blipFill rotWithShape="1">
          <a:blip r:embed="rId3">
            <a:alphaModFix/>
          </a:blip>
          <a:srcRect b="0" l="0" r="0" t="0"/>
          <a:stretch/>
        </p:blipFill>
        <p:spPr>
          <a:xfrm>
            <a:off x="6858005" y="4024580"/>
            <a:ext cx="4438650" cy="3333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9" name="Shape 659"/>
        <p:cNvGrpSpPr/>
        <p:nvPr/>
      </p:nvGrpSpPr>
      <p:grpSpPr>
        <a:xfrm>
          <a:off x="0" y="0"/>
          <a:ext cx="0" cy="0"/>
          <a:chOff x="0" y="0"/>
          <a:chExt cx="0" cy="0"/>
        </a:xfrm>
      </p:grpSpPr>
      <p:sp>
        <p:nvSpPr>
          <p:cNvPr id="660" name="Google Shape;660;p33"/>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Exploration — identifier les effets temporels</a:t>
            </a:r>
            <a:endParaRPr b="0" i="0" sz="1400" u="none" cap="none" strike="noStrike">
              <a:solidFill>
                <a:srgbClr val="000000"/>
              </a:solidFill>
              <a:latin typeface="Arial"/>
              <a:ea typeface="Arial"/>
              <a:cs typeface="Arial"/>
              <a:sym typeface="Arial"/>
            </a:endParaRPr>
          </a:p>
        </p:txBody>
      </p:sp>
      <p:sp>
        <p:nvSpPr>
          <p:cNvPr id="661" name="Google Shape;661;p33"/>
          <p:cNvSpPr txBox="1"/>
          <p:nvPr/>
        </p:nvSpPr>
        <p:spPr>
          <a:xfrm>
            <a:off x="777240" y="11083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Les graphiques motivent les variables calendaires et les lags</a:t>
            </a:r>
            <a:endParaRPr b="0" i="0" sz="1400" u="none" cap="none" strike="noStrike">
              <a:solidFill>
                <a:srgbClr val="000000"/>
              </a:solidFill>
              <a:latin typeface="Arial"/>
              <a:ea typeface="Arial"/>
              <a:cs typeface="Arial"/>
              <a:sym typeface="Arial"/>
            </a:endParaRPr>
          </a:p>
        </p:txBody>
      </p:sp>
      <p:pic>
        <p:nvPicPr>
          <p:cNvPr descr="exploration_cell37_out0.png" id="662" name="Google Shape;662;p33"/>
          <p:cNvPicPr preferRelativeResize="0"/>
          <p:nvPr/>
        </p:nvPicPr>
        <p:blipFill rotWithShape="1">
          <a:blip r:embed="rId3">
            <a:alphaModFix/>
          </a:blip>
          <a:srcRect b="0" l="0" r="0" t="0"/>
          <a:stretch/>
        </p:blipFill>
        <p:spPr>
          <a:xfrm>
            <a:off x="594360" y="1417320"/>
            <a:ext cx="6400799" cy="2635624"/>
          </a:xfrm>
          <a:prstGeom prst="rect">
            <a:avLst/>
          </a:prstGeom>
          <a:noFill/>
          <a:ln>
            <a:noFill/>
          </a:ln>
        </p:spPr>
      </p:pic>
      <p:pic>
        <p:nvPicPr>
          <p:cNvPr descr="exploration_cell39_out0.png" id="663" name="Google Shape;663;p33"/>
          <p:cNvPicPr preferRelativeResize="0"/>
          <p:nvPr/>
        </p:nvPicPr>
        <p:blipFill rotWithShape="1">
          <a:blip r:embed="rId4">
            <a:alphaModFix/>
          </a:blip>
          <a:srcRect b="0" l="0" r="0" t="0"/>
          <a:stretch/>
        </p:blipFill>
        <p:spPr>
          <a:xfrm>
            <a:off x="7406640" y="1417320"/>
            <a:ext cx="6126479" cy="3032298"/>
          </a:xfrm>
          <a:prstGeom prst="rect">
            <a:avLst/>
          </a:prstGeom>
          <a:noFill/>
          <a:ln>
            <a:noFill/>
          </a:ln>
        </p:spPr>
      </p:pic>
      <p:pic>
        <p:nvPicPr>
          <p:cNvPr descr="exploration_cell40_out0.png" id="664" name="Google Shape;664;p33"/>
          <p:cNvPicPr preferRelativeResize="0"/>
          <p:nvPr/>
        </p:nvPicPr>
        <p:blipFill rotWithShape="1">
          <a:blip r:embed="rId5">
            <a:alphaModFix/>
          </a:blip>
          <a:srcRect b="0" l="0" r="0" t="0"/>
          <a:stretch/>
        </p:blipFill>
        <p:spPr>
          <a:xfrm>
            <a:off x="594360" y="4663440"/>
            <a:ext cx="6126479" cy="3032298"/>
          </a:xfrm>
          <a:prstGeom prst="rect">
            <a:avLst/>
          </a:prstGeom>
          <a:noFill/>
          <a:ln>
            <a:noFill/>
          </a:ln>
        </p:spPr>
      </p:pic>
      <p:pic>
        <p:nvPicPr>
          <p:cNvPr descr="exploration_cell42_out0.png" id="665" name="Google Shape;665;p33"/>
          <p:cNvPicPr preferRelativeResize="0"/>
          <p:nvPr/>
        </p:nvPicPr>
        <p:blipFill rotWithShape="1">
          <a:blip r:embed="rId6">
            <a:alphaModFix/>
          </a:blip>
          <a:srcRect b="0" l="0" r="0" t="0"/>
          <a:stretch/>
        </p:blipFill>
        <p:spPr>
          <a:xfrm>
            <a:off x="7406640" y="4663440"/>
            <a:ext cx="6126481" cy="2802032"/>
          </a:xfrm>
          <a:prstGeom prst="rect">
            <a:avLst/>
          </a:prstGeom>
          <a:noFill/>
          <a:ln>
            <a:noFill/>
          </a:ln>
        </p:spPr>
      </p:pic>
      <p:sp>
        <p:nvSpPr>
          <p:cNvPr id="666" name="Google Shape;666;p33"/>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667" name="Google Shape;667;p33"/>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1" name="Shape 671"/>
        <p:cNvGrpSpPr/>
        <p:nvPr/>
      </p:nvGrpSpPr>
      <p:grpSpPr>
        <a:xfrm>
          <a:off x="0" y="0"/>
          <a:ext cx="0" cy="0"/>
          <a:chOff x="0" y="0"/>
          <a:chExt cx="0" cy="0"/>
        </a:xfrm>
      </p:grpSpPr>
      <p:sp>
        <p:nvSpPr>
          <p:cNvPr id="672" name="Google Shape;672;p34"/>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sp>
        <p:nvSpPr>
          <p:cNvPr id="673" name="Google Shape;673;p34"/>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Sélectionner les variables utiles</a:t>
            </a:r>
            <a:endParaRPr b="0" i="0" sz="1400" u="none" cap="none" strike="noStrike">
              <a:solidFill>
                <a:srgbClr val="000000"/>
              </a:solidFill>
              <a:latin typeface="Arial"/>
              <a:ea typeface="Arial"/>
              <a:cs typeface="Arial"/>
              <a:sym typeface="Arial"/>
            </a:endParaRPr>
          </a:p>
        </p:txBody>
      </p:sp>
      <p:sp>
        <p:nvSpPr>
          <p:cNvPr id="674" name="Google Shape;674;p34"/>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MÉTHODES UTILISÉES</a:t>
            </a:r>
            <a:endParaRPr b="0" i="0" sz="1800" u="none" cap="none" strike="noStrike">
              <a:solidFill>
                <a:srgbClr val="000000"/>
              </a:solidFill>
              <a:latin typeface="Arial"/>
              <a:ea typeface="Arial"/>
              <a:cs typeface="Arial"/>
              <a:sym typeface="Arial"/>
            </a:endParaRPr>
          </a:p>
        </p:txBody>
      </p:sp>
      <p:sp>
        <p:nvSpPr>
          <p:cNvPr id="675" name="Google Shape;675;p34"/>
          <p:cNvSpPr txBox="1"/>
          <p:nvPr/>
        </p:nvSpPr>
        <p:spPr>
          <a:xfrm>
            <a:off x="822960" y="2011680"/>
            <a:ext cx="64008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Filtrage métier : exclure les variables non disponibles au moment de la prédiction</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Corrélations avec la cible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Permutation importance sur le modèle HGB</a:t>
            </a:r>
            <a:endParaRPr b="0" i="0" sz="1400" u="none" cap="none" strike="noStrike">
              <a:solidFill>
                <a:srgbClr val="000000"/>
              </a:solidFill>
              <a:latin typeface="Arial"/>
              <a:ea typeface="Arial"/>
              <a:cs typeface="Arial"/>
              <a:sym typeface="Arial"/>
            </a:endParaRPr>
          </a:p>
        </p:txBody>
      </p:sp>
      <p:sp>
        <p:nvSpPr>
          <p:cNvPr id="676" name="Google Shape;676;p34"/>
          <p:cNvSpPr txBox="1"/>
          <p:nvPr/>
        </p:nvSpPr>
        <p:spPr>
          <a:xfrm>
            <a:off x="786384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RÉSULTAT</a:t>
            </a:r>
            <a:endParaRPr b="0" i="0" sz="1800" u="none" cap="none" strike="noStrike">
              <a:solidFill>
                <a:srgbClr val="000000"/>
              </a:solidFill>
              <a:latin typeface="Arial"/>
              <a:ea typeface="Arial"/>
              <a:cs typeface="Arial"/>
              <a:sym typeface="Arial"/>
            </a:endParaRPr>
          </a:p>
        </p:txBody>
      </p:sp>
      <p:sp>
        <p:nvSpPr>
          <p:cNvPr id="677" name="Google Shape;677;p34"/>
          <p:cNvSpPr/>
          <p:nvPr/>
        </p:nvSpPr>
        <p:spPr>
          <a:xfrm>
            <a:off x="8046720" y="2103120"/>
            <a:ext cx="2103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candidates</a:t>
            </a:r>
            <a:endParaRPr b="0" i="0" sz="1400" u="none" cap="none" strike="noStrike">
              <a:solidFill>
                <a:srgbClr val="000000"/>
              </a:solidFill>
              <a:latin typeface="Arial"/>
              <a:ea typeface="Arial"/>
              <a:cs typeface="Arial"/>
              <a:sym typeface="Arial"/>
            </a:endParaRPr>
          </a:p>
        </p:txBody>
      </p:sp>
      <p:sp>
        <p:nvSpPr>
          <p:cNvPr id="678" name="Google Shape;678;p34"/>
          <p:cNvSpPr/>
          <p:nvPr/>
        </p:nvSpPr>
        <p:spPr>
          <a:xfrm>
            <a:off x="10515600" y="2103120"/>
            <a:ext cx="2103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retenues</a:t>
            </a:r>
            <a:endParaRPr b="0" i="0" sz="1400" u="none" cap="none" strike="noStrike">
              <a:solidFill>
                <a:srgbClr val="000000"/>
              </a:solidFill>
              <a:latin typeface="Arial"/>
              <a:ea typeface="Arial"/>
              <a:cs typeface="Arial"/>
              <a:sym typeface="Arial"/>
            </a:endParaRPr>
          </a:p>
        </p:txBody>
      </p:sp>
      <p:sp>
        <p:nvSpPr>
          <p:cNvPr id="679" name="Google Shape;679;p34"/>
          <p:cNvSpPr txBox="1"/>
          <p:nvPr/>
        </p:nvSpPr>
        <p:spPr>
          <a:xfrm>
            <a:off x="822960" y="433271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IMPACT SUR LA PERFORMANCE</a:t>
            </a:r>
            <a:endParaRPr b="0" i="0" sz="1800" u="none" cap="none" strike="noStrike">
              <a:solidFill>
                <a:srgbClr val="000000"/>
              </a:solidFill>
              <a:latin typeface="Arial"/>
              <a:ea typeface="Arial"/>
              <a:cs typeface="Arial"/>
              <a:sym typeface="Arial"/>
            </a:endParaRPr>
          </a:p>
        </p:txBody>
      </p:sp>
      <p:sp>
        <p:nvSpPr>
          <p:cNvPr id="680" name="Google Shape;680;p34"/>
          <p:cNvSpPr/>
          <p:nvPr/>
        </p:nvSpPr>
        <p:spPr>
          <a:xfrm>
            <a:off x="5486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206,3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HGB toutes variables</a:t>
            </a:r>
            <a:br>
              <a:rPr b="0" i="0" lang="en-US" sz="1100" u="none" cap="none" strike="noStrike">
                <a:solidFill>
                  <a:srgbClr val="5A6673"/>
                </a:solidFill>
                <a:latin typeface="Calibri"/>
                <a:ea typeface="Calibri"/>
                <a:cs typeface="Calibri"/>
                <a:sym typeface="Calibri"/>
              </a:rPr>
            </a:br>
            <a:r>
              <a:rPr b="0" i="0" lang="en-US" sz="1100" u="none" cap="none" strike="noStrike">
                <a:solidFill>
                  <a:srgbClr val="5A6673"/>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p:txBody>
      </p:sp>
      <p:sp>
        <p:nvSpPr>
          <p:cNvPr id="681" name="Google Shape;681;p34"/>
          <p:cNvSpPr/>
          <p:nvPr/>
        </p:nvSpPr>
        <p:spPr>
          <a:xfrm>
            <a:off x="32918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20</a:t>
            </a:r>
            <a:r>
              <a:rPr b="1" lang="en-US" sz="2600">
                <a:solidFill>
                  <a:srgbClr val="2F61B8"/>
                </a:solidFill>
                <a:latin typeface="Calibri"/>
                <a:ea typeface="Calibri"/>
                <a:cs typeface="Calibri"/>
                <a:sym typeface="Calibri"/>
              </a:rPr>
              <a:t>7,5 </a:t>
            </a:r>
            <a:r>
              <a:rPr b="1" i="0" lang="en-US" sz="2600" u="none" cap="none" strike="noStrike">
                <a:solidFill>
                  <a:srgbClr val="2F61B8"/>
                </a:solidFill>
                <a:latin typeface="Calibri"/>
                <a:ea typeface="Calibri"/>
                <a:cs typeface="Calibri"/>
                <a:sym typeface="Calibri"/>
              </a:rPr>
              <a:t>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HGB top 7</a:t>
            </a:r>
            <a:br>
              <a:rPr b="0" i="0" lang="en-US" sz="1100" u="none" cap="none" strike="noStrike">
                <a:solidFill>
                  <a:srgbClr val="5A6673"/>
                </a:solidFill>
                <a:latin typeface="Calibri"/>
                <a:ea typeface="Calibri"/>
                <a:cs typeface="Calibri"/>
                <a:sym typeface="Calibri"/>
              </a:rPr>
            </a:br>
            <a:r>
              <a:rPr b="0" i="0" lang="en-US" sz="1100" u="none" cap="none" strike="noStrike">
                <a:solidFill>
                  <a:srgbClr val="5A6673"/>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p:txBody>
      </p:sp>
      <p:sp>
        <p:nvSpPr>
          <p:cNvPr id="682" name="Google Shape;682;p34"/>
          <p:cNvSpPr/>
          <p:nvPr/>
        </p:nvSpPr>
        <p:spPr>
          <a:xfrm>
            <a:off x="60350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≈0,9</a:t>
            </a:r>
            <a:r>
              <a:rPr b="1" lang="en-US" sz="2600">
                <a:solidFill>
                  <a:srgbClr val="2F61B8"/>
                </a:solidFill>
                <a:latin typeface="Calibri"/>
                <a:ea typeface="Calibri"/>
                <a:cs typeface="Calibri"/>
                <a:sym typeface="Calibri"/>
              </a:rPr>
              <a:t>25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R² conservé</a:t>
            </a:r>
            <a:endParaRPr b="0" i="0" sz="1400" u="none" cap="none" strike="noStrike">
              <a:solidFill>
                <a:srgbClr val="000000"/>
              </a:solidFill>
              <a:latin typeface="Arial"/>
              <a:ea typeface="Arial"/>
              <a:cs typeface="Arial"/>
              <a:sym typeface="Arial"/>
            </a:endParaRPr>
          </a:p>
        </p:txBody>
      </p:sp>
      <p:sp>
        <p:nvSpPr>
          <p:cNvPr id="683" name="Google Shape;683;p34"/>
          <p:cNvSpPr/>
          <p:nvPr/>
        </p:nvSpPr>
        <p:spPr>
          <a:xfrm>
            <a:off x="8778288" y="5296548"/>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&gt;70%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supprimées</a:t>
            </a:r>
            <a:endParaRPr b="0" i="0" sz="1400" u="none" cap="none" strike="noStrike">
              <a:solidFill>
                <a:srgbClr val="000000"/>
              </a:solidFill>
              <a:latin typeface="Arial"/>
              <a:ea typeface="Arial"/>
              <a:cs typeface="Arial"/>
              <a:sym typeface="Arial"/>
            </a:endParaRPr>
          </a:p>
        </p:txBody>
      </p:sp>
      <p:sp>
        <p:nvSpPr>
          <p:cNvPr id="684" name="Google Shape;684;p34"/>
          <p:cNvSpPr/>
          <p:nvPr/>
        </p:nvSpPr>
        <p:spPr>
          <a:xfrm>
            <a:off x="0" y="8001000"/>
            <a:ext cx="14630400" cy="45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p34"/>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
        <p:nvSpPr>
          <p:cNvPr id="686" name="Google Shape;686;p34"/>
          <p:cNvSpPr/>
          <p:nvPr/>
        </p:nvSpPr>
        <p:spPr>
          <a:xfrm>
            <a:off x="117041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4,4 %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MAE vs conso moyenne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0" name="Shape 690"/>
        <p:cNvGrpSpPr/>
        <p:nvPr/>
      </p:nvGrpSpPr>
      <p:grpSpPr>
        <a:xfrm>
          <a:off x="0" y="0"/>
          <a:ext cx="0" cy="0"/>
          <a:chOff x="0" y="0"/>
          <a:chExt cx="0" cy="0"/>
        </a:xfrm>
      </p:grpSpPr>
      <p:sp>
        <p:nvSpPr>
          <p:cNvPr id="691" name="Google Shape;691;p35"/>
          <p:cNvSpPr txBox="1"/>
          <p:nvPr/>
        </p:nvSpPr>
        <p:spPr>
          <a:xfrm>
            <a:off x="731520" y="502920"/>
            <a:ext cx="98754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Sélectionner les variables utiles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2202F"/>
              </a:solidFill>
              <a:latin typeface="Arial"/>
              <a:ea typeface="Arial"/>
              <a:cs typeface="Arial"/>
              <a:sym typeface="Arial"/>
            </a:endParaRPr>
          </a:p>
        </p:txBody>
      </p:sp>
      <p:sp>
        <p:nvSpPr>
          <p:cNvPr id="692" name="Google Shape;692;p35"/>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Corrélation puis permutation importance pour réduire le nombre de variables</a:t>
            </a:r>
            <a:endParaRPr b="0" i="0" sz="1400" u="none" cap="none" strike="noStrike">
              <a:solidFill>
                <a:srgbClr val="000000"/>
              </a:solidFill>
              <a:latin typeface="Arial"/>
              <a:ea typeface="Arial"/>
              <a:cs typeface="Arial"/>
              <a:sym typeface="Arial"/>
            </a:endParaRPr>
          </a:p>
        </p:txBody>
      </p:sp>
      <p:pic>
        <p:nvPicPr>
          <p:cNvPr descr="modeling_evaluation_cell13_out0.png" id="693" name="Google Shape;693;p35"/>
          <p:cNvPicPr preferRelativeResize="0"/>
          <p:nvPr/>
        </p:nvPicPr>
        <p:blipFill rotWithShape="1">
          <a:blip r:embed="rId3">
            <a:alphaModFix/>
          </a:blip>
          <a:srcRect b="0" l="0" r="0" t="0"/>
          <a:stretch/>
        </p:blipFill>
        <p:spPr>
          <a:xfrm>
            <a:off x="640080" y="1508760"/>
            <a:ext cx="6035040" cy="4206240"/>
          </a:xfrm>
          <a:prstGeom prst="rect">
            <a:avLst/>
          </a:prstGeom>
          <a:noFill/>
          <a:ln>
            <a:noFill/>
          </a:ln>
        </p:spPr>
      </p:pic>
      <p:pic>
        <p:nvPicPr>
          <p:cNvPr descr="modeling_evaluation_cell23_out0.png" id="694" name="Google Shape;694;p35"/>
          <p:cNvPicPr preferRelativeResize="0"/>
          <p:nvPr/>
        </p:nvPicPr>
        <p:blipFill rotWithShape="1">
          <a:blip r:embed="rId4">
            <a:alphaModFix/>
          </a:blip>
          <a:srcRect b="0" l="0" r="0" t="0"/>
          <a:stretch/>
        </p:blipFill>
        <p:spPr>
          <a:xfrm>
            <a:off x="7498079" y="1508760"/>
            <a:ext cx="6035040" cy="4206240"/>
          </a:xfrm>
          <a:prstGeom prst="rect">
            <a:avLst/>
          </a:prstGeom>
          <a:noFill/>
          <a:ln>
            <a:noFill/>
          </a:ln>
        </p:spPr>
      </p:pic>
      <p:sp>
        <p:nvSpPr>
          <p:cNvPr id="695" name="Google Shape;695;p35"/>
          <p:cNvSpPr txBox="1"/>
          <p:nvPr/>
        </p:nvSpPr>
        <p:spPr>
          <a:xfrm>
            <a:off x="822950" y="6446525"/>
            <a:ext cx="6273300" cy="554100"/>
          </a:xfrm>
          <a:prstGeom prst="rect">
            <a:avLst/>
          </a:prstGeom>
          <a:noFill/>
          <a:ln>
            <a:noFill/>
          </a:ln>
        </p:spPr>
        <p:txBody>
          <a:bodyPr anchorCtr="0" anchor="t" bIns="45700" lIns="91425" spcFirstLastPara="1" rIns="91425" wrap="square" tIns="45700">
            <a:spAutoFit/>
          </a:bodyPr>
          <a:lstStyle/>
          <a:p>
            <a:pPr indent="-323850" lvl="0" marL="457200" marR="0" rtl="0" algn="l">
              <a:lnSpc>
                <a:spcPct val="100000"/>
              </a:lnSpc>
              <a:spcBef>
                <a:spcPts val="70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Sélection du top 10 en importance pour le moment</a:t>
            </a:r>
            <a:endParaRPr b="0" i="0" sz="1500" u="none" cap="none" strike="noStrike">
              <a:solidFill>
                <a:srgbClr val="12202F"/>
              </a:solidFill>
              <a:latin typeface="Arial"/>
              <a:ea typeface="Arial"/>
              <a:cs typeface="Arial"/>
              <a:sym typeface="Arial"/>
            </a:endParaRPr>
          </a:p>
          <a:p>
            <a:pPr indent="-323850" lvl="0" marL="457200" marR="0" rtl="0" algn="l">
              <a:lnSpc>
                <a:spcPct val="100000"/>
              </a:lnSpc>
              <a:spcBef>
                <a:spcPts val="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Performances du modèle à 10 variable : </a:t>
            </a:r>
            <a:endParaRPr b="0" i="0" sz="1500" u="none" cap="none" strike="noStrike">
              <a:solidFill>
                <a:srgbClr val="12202F"/>
              </a:solidFill>
              <a:latin typeface="Arial"/>
              <a:ea typeface="Arial"/>
              <a:cs typeface="Arial"/>
              <a:sym typeface="Arial"/>
            </a:endParaRPr>
          </a:p>
        </p:txBody>
      </p:sp>
      <p:sp>
        <p:nvSpPr>
          <p:cNvPr id="696" name="Google Shape;696;p35"/>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697" name="Google Shape;697;p35"/>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pic>
        <p:nvPicPr>
          <p:cNvPr id="698" name="Google Shape;698;p35"/>
          <p:cNvPicPr preferRelativeResize="0"/>
          <p:nvPr/>
        </p:nvPicPr>
        <p:blipFill rotWithShape="1">
          <a:blip r:embed="rId5">
            <a:alphaModFix/>
          </a:blip>
          <a:srcRect b="0" l="0" r="0" t="0"/>
          <a:stretch/>
        </p:blipFill>
        <p:spPr>
          <a:xfrm>
            <a:off x="4930595" y="6724400"/>
            <a:ext cx="6124575" cy="276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2" name="Shape 702"/>
        <p:cNvGrpSpPr/>
        <p:nvPr/>
      </p:nvGrpSpPr>
      <p:grpSpPr>
        <a:xfrm>
          <a:off x="0" y="0"/>
          <a:ext cx="0" cy="0"/>
          <a:chOff x="0" y="0"/>
          <a:chExt cx="0" cy="0"/>
        </a:xfrm>
      </p:grpSpPr>
      <p:sp>
        <p:nvSpPr>
          <p:cNvPr id="703" name="Google Shape;703;p36"/>
          <p:cNvSpPr txBox="1"/>
          <p:nvPr/>
        </p:nvSpPr>
        <p:spPr>
          <a:xfrm>
            <a:off x="731520" y="502920"/>
            <a:ext cx="98754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Supprimer la redondance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2202F"/>
              </a:solidFill>
              <a:latin typeface="Arial"/>
              <a:ea typeface="Arial"/>
              <a:cs typeface="Arial"/>
              <a:sym typeface="Arial"/>
            </a:endParaRPr>
          </a:p>
        </p:txBody>
      </p:sp>
      <p:sp>
        <p:nvSpPr>
          <p:cNvPr id="704" name="Google Shape;704;p36"/>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Vérifier les variables trop redondantes et ne garder que les plus pertinentes</a:t>
            </a:r>
            <a:endParaRPr b="0" i="0" sz="1400" u="none" cap="none" strike="noStrike">
              <a:solidFill>
                <a:srgbClr val="000000"/>
              </a:solidFill>
              <a:latin typeface="Arial"/>
              <a:ea typeface="Arial"/>
              <a:cs typeface="Arial"/>
              <a:sym typeface="Arial"/>
            </a:endParaRPr>
          </a:p>
        </p:txBody>
      </p:sp>
      <p:sp>
        <p:nvSpPr>
          <p:cNvPr id="705" name="Google Shape;705;p36"/>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706" name="Google Shape;706;p36"/>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pic>
        <p:nvPicPr>
          <p:cNvPr id="707" name="Google Shape;707;p36"/>
          <p:cNvPicPr preferRelativeResize="0"/>
          <p:nvPr/>
        </p:nvPicPr>
        <p:blipFill rotWithShape="1">
          <a:blip r:embed="rId3">
            <a:alphaModFix/>
          </a:blip>
          <a:srcRect b="0" l="0" r="0" t="0"/>
          <a:stretch/>
        </p:blipFill>
        <p:spPr>
          <a:xfrm>
            <a:off x="1068700" y="1757911"/>
            <a:ext cx="3694751" cy="3888501"/>
          </a:xfrm>
          <a:prstGeom prst="rect">
            <a:avLst/>
          </a:prstGeom>
          <a:noFill/>
          <a:ln>
            <a:noFill/>
          </a:ln>
        </p:spPr>
      </p:pic>
      <p:pic>
        <p:nvPicPr>
          <p:cNvPr id="708" name="Google Shape;708;p36"/>
          <p:cNvPicPr preferRelativeResize="0"/>
          <p:nvPr/>
        </p:nvPicPr>
        <p:blipFill rotWithShape="1">
          <a:blip r:embed="rId4">
            <a:alphaModFix/>
          </a:blip>
          <a:srcRect b="0" l="0" r="0" t="0"/>
          <a:stretch/>
        </p:blipFill>
        <p:spPr>
          <a:xfrm>
            <a:off x="5967625" y="1746249"/>
            <a:ext cx="5110819" cy="3911800"/>
          </a:xfrm>
          <a:prstGeom prst="rect">
            <a:avLst/>
          </a:prstGeom>
          <a:noFill/>
          <a:ln>
            <a:noFill/>
          </a:ln>
        </p:spPr>
      </p:pic>
      <p:sp>
        <p:nvSpPr>
          <p:cNvPr id="709" name="Google Shape;709;p36"/>
          <p:cNvSpPr txBox="1"/>
          <p:nvPr/>
        </p:nvSpPr>
        <p:spPr>
          <a:xfrm>
            <a:off x="11402275" y="2378325"/>
            <a:ext cx="2770800" cy="1939500"/>
          </a:xfrm>
          <a:prstGeom prst="rect">
            <a:avLst/>
          </a:prstGeom>
          <a:noFill/>
          <a:ln>
            <a:noFill/>
          </a:ln>
        </p:spPr>
        <p:txBody>
          <a:bodyPr anchorCtr="0" anchor="t" bIns="45700" lIns="91425" spcFirstLastPara="1" rIns="91425" wrap="square" tIns="45700">
            <a:spAutoFit/>
          </a:bodyPr>
          <a:lstStyle/>
          <a:p>
            <a:pPr indent="-323850" lvl="0" marL="457200" marR="0" rtl="0" algn="l">
              <a:lnSpc>
                <a:spcPct val="100000"/>
              </a:lnSpc>
              <a:spcBef>
                <a:spcPts val="70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Passage à 7 variables</a:t>
            </a:r>
            <a:endParaRPr b="0" i="0" sz="1500" u="none" cap="none" strike="noStrike">
              <a:solidFill>
                <a:srgbClr val="12202F"/>
              </a:solidFill>
              <a:latin typeface="Arial"/>
              <a:ea typeface="Arial"/>
              <a:cs typeface="Arial"/>
              <a:sym typeface="Arial"/>
            </a:endParaRPr>
          </a:p>
          <a:p>
            <a:pPr indent="-323850" lvl="0" marL="457200" marR="0" rtl="0" algn="l">
              <a:lnSpc>
                <a:spcPct val="100000"/>
              </a:lnSpc>
              <a:spcBef>
                <a:spcPts val="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Suppression de la consommation de la dernière demie-heure, de la consommation de l’avant-dernier jour et du slot de demie heure (de 0 à 47)</a:t>
            </a:r>
            <a:endParaRPr b="0" i="0" sz="1500" u="none" cap="none" strike="noStrike">
              <a:solidFill>
                <a:srgbClr val="12202F"/>
              </a:solidFill>
              <a:latin typeface="Arial"/>
              <a:ea typeface="Arial"/>
              <a:cs typeface="Arial"/>
              <a:sym typeface="Arial"/>
            </a:endParaRPr>
          </a:p>
        </p:txBody>
      </p:sp>
      <p:pic>
        <p:nvPicPr>
          <p:cNvPr id="710" name="Google Shape;710;p36"/>
          <p:cNvPicPr preferRelativeResize="0"/>
          <p:nvPr/>
        </p:nvPicPr>
        <p:blipFill rotWithShape="1">
          <a:blip r:embed="rId5">
            <a:alphaModFix/>
          </a:blip>
          <a:srcRect b="0" l="0" r="0" t="0"/>
          <a:stretch/>
        </p:blipFill>
        <p:spPr>
          <a:xfrm>
            <a:off x="5967613" y="6246874"/>
            <a:ext cx="5476875" cy="1143000"/>
          </a:xfrm>
          <a:prstGeom prst="rect">
            <a:avLst/>
          </a:prstGeom>
          <a:noFill/>
          <a:ln>
            <a:noFill/>
          </a:ln>
        </p:spPr>
      </p:pic>
      <p:sp>
        <p:nvSpPr>
          <p:cNvPr id="711" name="Google Shape;711;p36"/>
          <p:cNvSpPr txBox="1"/>
          <p:nvPr/>
        </p:nvSpPr>
        <p:spPr>
          <a:xfrm>
            <a:off x="957550" y="579320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RÉSULTATS FINAUX</a:t>
            </a:r>
            <a:endParaRPr b="0" i="0" sz="1800" u="none" cap="none" strike="noStrike">
              <a:solidFill>
                <a:srgbClr val="000000"/>
              </a:solidFill>
              <a:latin typeface="Arial"/>
              <a:ea typeface="Arial"/>
              <a:cs typeface="Arial"/>
              <a:sym typeface="Arial"/>
            </a:endParaRPr>
          </a:p>
        </p:txBody>
      </p:sp>
      <p:sp>
        <p:nvSpPr>
          <p:cNvPr id="712" name="Google Shape;712;p36"/>
          <p:cNvSpPr txBox="1"/>
          <p:nvPr/>
        </p:nvSpPr>
        <p:spPr>
          <a:xfrm>
            <a:off x="957550" y="142315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CHECK DE CORRELATION</a:t>
            </a:r>
            <a:endParaRPr b="0" i="0" sz="1800" u="none" cap="none" strike="noStrike">
              <a:solidFill>
                <a:srgbClr val="000000"/>
              </a:solidFill>
              <a:latin typeface="Arial"/>
              <a:ea typeface="Arial"/>
              <a:cs typeface="Arial"/>
              <a:sym typeface="Arial"/>
            </a:endParaRPr>
          </a:p>
        </p:txBody>
      </p:sp>
      <p:pic>
        <p:nvPicPr>
          <p:cNvPr id="713" name="Google Shape;713;p36"/>
          <p:cNvPicPr preferRelativeResize="0"/>
          <p:nvPr/>
        </p:nvPicPr>
        <p:blipFill rotWithShape="1">
          <a:blip r:embed="rId6">
            <a:alphaModFix/>
          </a:blip>
          <a:srcRect b="0" l="0" r="0" t="0"/>
          <a:stretch/>
        </p:blipFill>
        <p:spPr>
          <a:xfrm>
            <a:off x="2319188" y="6108763"/>
            <a:ext cx="2038350" cy="1419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7" name="Shape 717"/>
        <p:cNvGrpSpPr/>
        <p:nvPr/>
      </p:nvGrpSpPr>
      <p:grpSpPr>
        <a:xfrm>
          <a:off x="0" y="0"/>
          <a:ext cx="0" cy="0"/>
          <a:chOff x="0" y="0"/>
          <a:chExt cx="0" cy="0"/>
        </a:xfrm>
      </p:grpSpPr>
      <p:sp>
        <p:nvSpPr>
          <p:cNvPr id="718" name="Google Shape;718;p37"/>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C5.2.3 </a:t>
            </a:r>
            <a:endParaRPr b="0" i="0" sz="1400" u="none" cap="none" strike="noStrike">
              <a:solidFill>
                <a:srgbClr val="000000"/>
              </a:solidFill>
              <a:latin typeface="Arial"/>
              <a:ea typeface="Arial"/>
              <a:cs typeface="Arial"/>
              <a:sym typeface="Arial"/>
            </a:endParaRPr>
          </a:p>
        </p:txBody>
      </p:sp>
      <p:sp>
        <p:nvSpPr>
          <p:cNvPr id="719" name="Google Shape;719;p37"/>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Entraîner et comparer les modèles</a:t>
            </a:r>
            <a:endParaRPr b="0" i="0" sz="1400" u="none" cap="none" strike="noStrike">
              <a:solidFill>
                <a:srgbClr val="000000"/>
              </a:solidFill>
              <a:latin typeface="Arial"/>
              <a:ea typeface="Arial"/>
              <a:cs typeface="Arial"/>
              <a:sym typeface="Arial"/>
            </a:endParaRPr>
          </a:p>
        </p:txBody>
      </p:sp>
      <p:sp>
        <p:nvSpPr>
          <p:cNvPr id="720" name="Google Shape;720;p37"/>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MODÈLES COMPARÉS</a:t>
            </a:r>
            <a:endParaRPr b="0" i="0" sz="1800" u="none" cap="none" strike="noStrike">
              <a:solidFill>
                <a:srgbClr val="000000"/>
              </a:solidFill>
              <a:latin typeface="Arial"/>
              <a:ea typeface="Arial"/>
              <a:cs typeface="Arial"/>
              <a:sym typeface="Arial"/>
            </a:endParaRPr>
          </a:p>
        </p:txBody>
      </p:sp>
      <p:sp>
        <p:nvSpPr>
          <p:cNvPr id="721" name="Google Shape;721;p37"/>
          <p:cNvSpPr txBox="1"/>
          <p:nvPr/>
        </p:nvSpPr>
        <p:spPr>
          <a:xfrm>
            <a:off x="822960" y="2011680"/>
            <a:ext cx="50292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Baseline temporelle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Ridge Regression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HistGradientBoostingRegressor</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Random Forest</a:t>
            </a:r>
            <a:endParaRPr b="0" i="0" sz="2000" u="none" cap="none" strike="noStrike">
              <a:solidFill>
                <a:srgbClr val="12202F"/>
              </a:solidFill>
              <a:latin typeface="Calibri"/>
              <a:ea typeface="Calibri"/>
              <a:cs typeface="Calibri"/>
              <a:sym typeface="Calibri"/>
            </a:endParaRPr>
          </a:p>
        </p:txBody>
      </p:sp>
      <p:sp>
        <p:nvSpPr>
          <p:cNvPr id="722" name="Google Shape;722;p37"/>
          <p:cNvSpPr txBox="1"/>
          <p:nvPr/>
        </p:nvSpPr>
        <p:spPr>
          <a:xfrm>
            <a:off x="822950" y="4294233"/>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POURQUOI HGB ?</a:t>
            </a:r>
            <a:endParaRPr b="0" i="0" sz="1800" u="none" cap="none" strike="noStrike">
              <a:solidFill>
                <a:srgbClr val="000000"/>
              </a:solidFill>
              <a:latin typeface="Arial"/>
              <a:ea typeface="Arial"/>
              <a:cs typeface="Arial"/>
              <a:sym typeface="Arial"/>
            </a:endParaRPr>
          </a:p>
        </p:txBody>
      </p:sp>
      <p:sp>
        <p:nvSpPr>
          <p:cNvPr id="723" name="Google Shape;723;p37"/>
          <p:cNvSpPr txBox="1"/>
          <p:nvPr/>
        </p:nvSpPr>
        <p:spPr>
          <a:xfrm>
            <a:off x="822950" y="4659993"/>
            <a:ext cx="58521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Capte des relations non linéaires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Adapté aux données tabulaires volumineuses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Bon compromis performance / simplicité</a:t>
            </a:r>
            <a:endParaRPr b="0" i="0" sz="1400" u="none" cap="none" strike="noStrike">
              <a:solidFill>
                <a:srgbClr val="000000"/>
              </a:solidFill>
              <a:latin typeface="Arial"/>
              <a:ea typeface="Arial"/>
              <a:cs typeface="Arial"/>
              <a:sym typeface="Arial"/>
            </a:endParaRPr>
          </a:p>
        </p:txBody>
      </p:sp>
      <p:sp>
        <p:nvSpPr>
          <p:cNvPr id="724" name="Google Shape;724;p37"/>
          <p:cNvSpPr txBox="1"/>
          <p:nvPr/>
        </p:nvSpPr>
        <p:spPr>
          <a:xfrm>
            <a:off x="7047285" y="429422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VALIDATION</a:t>
            </a:r>
            <a:endParaRPr b="0" i="0" sz="1800" u="none" cap="none" strike="noStrike">
              <a:solidFill>
                <a:srgbClr val="000000"/>
              </a:solidFill>
              <a:latin typeface="Arial"/>
              <a:ea typeface="Arial"/>
              <a:cs typeface="Arial"/>
              <a:sym typeface="Arial"/>
            </a:endParaRPr>
          </a:p>
        </p:txBody>
      </p:sp>
      <p:sp>
        <p:nvSpPr>
          <p:cNvPr id="725" name="Google Shape;725;p37"/>
          <p:cNvSpPr txBox="1"/>
          <p:nvPr/>
        </p:nvSpPr>
        <p:spPr>
          <a:xfrm>
            <a:off x="7047280" y="4659988"/>
            <a:ext cx="57996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Évaluation sur période future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Jeu de test 2025 non utilisé pour les choix</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Métriques : MAE, RMSE, R²</a:t>
            </a:r>
            <a:endParaRPr b="0" i="0" sz="1400" u="none" cap="none" strike="noStrike">
              <a:solidFill>
                <a:srgbClr val="000000"/>
              </a:solidFill>
              <a:latin typeface="Arial"/>
              <a:ea typeface="Arial"/>
              <a:cs typeface="Arial"/>
              <a:sym typeface="Arial"/>
            </a:endParaRPr>
          </a:p>
        </p:txBody>
      </p:sp>
      <p:sp>
        <p:nvSpPr>
          <p:cNvPr id="726" name="Google Shape;726;p37"/>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37"/>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728" name="Google Shape;728;p37"/>
          <p:cNvPicPr preferRelativeResize="0"/>
          <p:nvPr/>
        </p:nvPicPr>
        <p:blipFill rotWithShape="1">
          <a:blip r:embed="rId3">
            <a:alphaModFix/>
          </a:blip>
          <a:srcRect b="0" l="0" r="0" t="0"/>
          <a:stretch/>
        </p:blipFill>
        <p:spPr>
          <a:xfrm>
            <a:off x="7691025" y="1783268"/>
            <a:ext cx="4305300" cy="1381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2" name="Shape 732"/>
        <p:cNvGrpSpPr/>
        <p:nvPr/>
      </p:nvGrpSpPr>
      <p:grpSpPr>
        <a:xfrm>
          <a:off x="0" y="0"/>
          <a:ext cx="0" cy="0"/>
          <a:chOff x="0" y="0"/>
          <a:chExt cx="0" cy="0"/>
        </a:xfrm>
      </p:grpSpPr>
      <p:sp>
        <p:nvSpPr>
          <p:cNvPr id="733" name="Google Shape;733;p38"/>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C5.2.4</a:t>
            </a:r>
            <a:endParaRPr b="0" i="0" sz="1400" u="none" cap="none" strike="noStrike">
              <a:solidFill>
                <a:srgbClr val="000000"/>
              </a:solidFill>
              <a:latin typeface="Arial"/>
              <a:ea typeface="Arial"/>
              <a:cs typeface="Arial"/>
              <a:sym typeface="Arial"/>
            </a:endParaRPr>
          </a:p>
        </p:txBody>
      </p:sp>
      <p:sp>
        <p:nvSpPr>
          <p:cNvPr id="734" name="Google Shape;734;p38"/>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Optimiser les performances du modèle</a:t>
            </a:r>
            <a:endParaRPr b="0" i="0" sz="1400" u="none" cap="none" strike="noStrike">
              <a:solidFill>
                <a:srgbClr val="000000"/>
              </a:solidFill>
              <a:latin typeface="Arial"/>
              <a:ea typeface="Arial"/>
              <a:cs typeface="Arial"/>
              <a:sym typeface="Arial"/>
            </a:endParaRPr>
          </a:p>
        </p:txBody>
      </p:sp>
      <p:sp>
        <p:nvSpPr>
          <p:cNvPr id="735" name="Google Shape;735;p38"/>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MÉTHODE</a:t>
            </a:r>
            <a:endParaRPr b="0" i="0" sz="1800" u="none" cap="none" strike="noStrike">
              <a:solidFill>
                <a:srgbClr val="000000"/>
              </a:solidFill>
              <a:latin typeface="Arial"/>
              <a:ea typeface="Arial"/>
              <a:cs typeface="Arial"/>
              <a:sym typeface="Arial"/>
            </a:endParaRPr>
          </a:p>
        </p:txBody>
      </p:sp>
      <p:sp>
        <p:nvSpPr>
          <p:cNvPr id="736" name="Google Shape;736;p38"/>
          <p:cNvSpPr txBox="1"/>
          <p:nvPr/>
        </p:nvSpPr>
        <p:spPr>
          <a:xfrm>
            <a:off x="822960" y="2011680"/>
            <a:ext cx="56694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RandomizedSearchCV</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TimeSeriesSplit avec gap de 48 demi-heures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Optimisation sur la MAE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Recherche limitée pour éviter le sur-ajustement</a:t>
            </a:r>
            <a:endParaRPr b="0" i="0" sz="1400" u="none" cap="none" strike="noStrike">
              <a:solidFill>
                <a:srgbClr val="000000"/>
              </a:solidFill>
              <a:latin typeface="Arial"/>
              <a:ea typeface="Arial"/>
              <a:cs typeface="Arial"/>
              <a:sym typeface="Arial"/>
            </a:endParaRPr>
          </a:p>
        </p:txBody>
      </p:sp>
      <p:sp>
        <p:nvSpPr>
          <p:cNvPr id="737" name="Google Shape;737;p38"/>
          <p:cNvSpPr txBox="1"/>
          <p:nvPr/>
        </p:nvSpPr>
        <p:spPr>
          <a:xfrm>
            <a:off x="73152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HYPERPARAMÈTRES</a:t>
            </a:r>
            <a:endParaRPr b="0" i="0" sz="1800" u="none" cap="none" strike="noStrike">
              <a:solidFill>
                <a:srgbClr val="000000"/>
              </a:solidFill>
              <a:latin typeface="Arial"/>
              <a:ea typeface="Arial"/>
              <a:cs typeface="Arial"/>
              <a:sym typeface="Arial"/>
            </a:endParaRPr>
          </a:p>
        </p:txBody>
      </p:sp>
      <p:sp>
        <p:nvSpPr>
          <p:cNvPr id="738" name="Google Shape;738;p38"/>
          <p:cNvSpPr txBox="1"/>
          <p:nvPr/>
        </p:nvSpPr>
        <p:spPr>
          <a:xfrm>
            <a:off x="7315200" y="2011680"/>
            <a:ext cx="4389000" cy="14775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learning_rate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max_iter</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max_leaf_nodes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min_samples_leaf</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l2_regularization</a:t>
            </a:r>
            <a:endParaRPr b="0" i="0" sz="1400" u="none" cap="none" strike="noStrike">
              <a:solidFill>
                <a:srgbClr val="000000"/>
              </a:solidFill>
              <a:latin typeface="Arial"/>
              <a:ea typeface="Arial"/>
              <a:cs typeface="Arial"/>
              <a:sym typeface="Arial"/>
            </a:endParaRPr>
          </a:p>
        </p:txBody>
      </p:sp>
      <p:sp>
        <p:nvSpPr>
          <p:cNvPr id="739" name="Google Shape;739;p38"/>
          <p:cNvSpPr/>
          <p:nvPr/>
        </p:nvSpPr>
        <p:spPr>
          <a:xfrm>
            <a:off x="1097280" y="5166360"/>
            <a:ext cx="2743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gain du tuning</a:t>
            </a:r>
            <a:endParaRPr b="0" i="0" sz="1400" u="none" cap="none" strike="noStrike">
              <a:solidFill>
                <a:srgbClr val="000000"/>
              </a:solidFill>
              <a:latin typeface="Arial"/>
              <a:ea typeface="Arial"/>
              <a:cs typeface="Arial"/>
              <a:sym typeface="Arial"/>
            </a:endParaRPr>
          </a:p>
        </p:txBody>
      </p:sp>
      <p:sp>
        <p:nvSpPr>
          <p:cNvPr id="740" name="Google Shape;740;p38"/>
          <p:cNvSpPr txBox="1"/>
          <p:nvPr/>
        </p:nvSpPr>
        <p:spPr>
          <a:xfrm>
            <a:off x="4496085" y="5289520"/>
            <a:ext cx="7863900" cy="74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Le gain d’optimisation est limité : le modèle par défaut était déjà bien adapté.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La vraie amélioration vient surtout du feature engineering et du choix du modèle.</a:t>
            </a:r>
            <a:endParaRPr b="0" i="0" sz="1400" u="none" cap="none" strike="noStrike">
              <a:solidFill>
                <a:srgbClr val="000000"/>
              </a:solidFill>
              <a:latin typeface="Arial"/>
              <a:ea typeface="Arial"/>
              <a:cs typeface="Arial"/>
              <a:sym typeface="Arial"/>
            </a:endParaRPr>
          </a:p>
        </p:txBody>
      </p:sp>
      <p:sp>
        <p:nvSpPr>
          <p:cNvPr id="741" name="Google Shape;741;p38"/>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2" name="Google Shape;742;p38"/>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743" name="Google Shape;743;p38"/>
          <p:cNvPicPr preferRelativeResize="0"/>
          <p:nvPr/>
        </p:nvPicPr>
        <p:blipFill rotWithShape="1">
          <a:blip r:embed="rId3">
            <a:alphaModFix/>
          </a:blip>
          <a:srcRect b="0" l="0" r="0" t="0"/>
          <a:stretch/>
        </p:blipFill>
        <p:spPr>
          <a:xfrm>
            <a:off x="10802775" y="1925793"/>
            <a:ext cx="1891012" cy="1372380"/>
          </a:xfrm>
          <a:prstGeom prst="rect">
            <a:avLst/>
          </a:prstGeom>
          <a:noFill/>
          <a:ln>
            <a:noFill/>
          </a:ln>
        </p:spPr>
      </p:pic>
      <p:pic>
        <p:nvPicPr>
          <p:cNvPr id="744" name="Google Shape;744;p38"/>
          <p:cNvPicPr preferRelativeResize="0"/>
          <p:nvPr/>
        </p:nvPicPr>
        <p:blipFill rotWithShape="1">
          <a:blip r:embed="rId4">
            <a:alphaModFix/>
          </a:blip>
          <a:srcRect b="0" l="0" r="0" t="0"/>
          <a:stretch/>
        </p:blipFill>
        <p:spPr>
          <a:xfrm>
            <a:off x="499188" y="3643305"/>
            <a:ext cx="4486275" cy="942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8" name="Shape 748"/>
        <p:cNvGrpSpPr/>
        <p:nvPr/>
      </p:nvGrpSpPr>
      <p:grpSpPr>
        <a:xfrm>
          <a:off x="0" y="0"/>
          <a:ext cx="0" cy="0"/>
          <a:chOff x="0" y="0"/>
          <a:chExt cx="0" cy="0"/>
        </a:xfrm>
      </p:grpSpPr>
      <p:sp>
        <p:nvSpPr>
          <p:cNvPr id="749" name="Google Shape;749;p39"/>
          <p:cNvSpPr txBox="1"/>
          <p:nvPr/>
        </p:nvSpPr>
        <p:spPr>
          <a:xfrm>
            <a:off x="685800" y="475488"/>
            <a:ext cx="10058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12202F"/>
                </a:solidFill>
                <a:latin typeface="Arial"/>
                <a:ea typeface="Arial"/>
                <a:cs typeface="Arial"/>
                <a:sym typeface="Arial"/>
              </a:rPr>
              <a:t>Enrichissement par données météo externes</a:t>
            </a:r>
            <a:endParaRPr/>
          </a:p>
        </p:txBody>
      </p:sp>
      <p:sp>
        <p:nvSpPr>
          <p:cNvPr id="750" name="Google Shape;750;p39"/>
          <p:cNvSpPr txBox="1"/>
          <p:nvPr/>
        </p:nvSpPr>
        <p:spPr>
          <a:xfrm>
            <a:off x="749808" y="1115568"/>
            <a:ext cx="11430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A6673"/>
                </a:solidFill>
                <a:latin typeface="Arial"/>
                <a:ea typeface="Arial"/>
                <a:cs typeface="Arial"/>
                <a:sym typeface="Arial"/>
              </a:rPr>
              <a:t>Tester si la météo explique une part de la consommation non captée par les historiques</a:t>
            </a:r>
            <a:endParaRPr/>
          </a:p>
        </p:txBody>
      </p:sp>
      <p:sp>
        <p:nvSpPr>
          <p:cNvPr id="751" name="Google Shape;751;p39"/>
          <p:cNvSpPr/>
          <p:nvPr/>
        </p:nvSpPr>
        <p:spPr>
          <a:xfrm>
            <a:off x="777240" y="1691640"/>
            <a:ext cx="4160520" cy="2057400"/>
          </a:xfrm>
          <a:prstGeom prst="roundRect">
            <a:avLst>
              <a:gd fmla="val 16667" name="adj"/>
            </a:avLst>
          </a:prstGeom>
          <a:solidFill>
            <a:srgbClr val="EBF1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SOURCE EXTERNE</a:t>
            </a:r>
            <a:endParaRPr b="1" i="0" sz="1100" u="none" cap="none" strike="noStrike">
              <a:solidFill>
                <a:srgbClr val="2F61B8"/>
              </a:solidFill>
              <a:latin typeface="Arial"/>
              <a:ea typeface="Arial"/>
              <a:cs typeface="Arial"/>
              <a:sym typeface="Arial"/>
            </a:endParaRPr>
          </a:p>
          <a:p>
            <a:pPr indent="0" lvl="0" marL="0" marR="0" rtl="0" algn="ctr">
              <a:lnSpc>
                <a:spcPct val="100000"/>
              </a:lnSpc>
              <a:spcBef>
                <a:spcPts val="0"/>
              </a:spcBef>
              <a:spcAft>
                <a:spcPts val="0"/>
              </a:spcAft>
              <a:buNone/>
            </a:pPr>
            <a:r>
              <a:t/>
            </a:r>
            <a:endParaRPr b="1" sz="1100">
              <a:solidFill>
                <a:srgbClr val="2F61B8"/>
              </a:solidFill>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Open-Meteo Historical Weather API</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Données quotidiennes, sans clé API</a:t>
            </a:r>
            <a:endParaRPr/>
          </a:p>
          <a:p>
            <a:pPr indent="0" lvl="0" marL="0" rtl="0" algn="l">
              <a:spcBef>
                <a:spcPts val="500"/>
              </a:spcBef>
              <a:spcAft>
                <a:spcPts val="0"/>
              </a:spcAft>
              <a:buClr>
                <a:srgbClr val="000000"/>
              </a:buClr>
              <a:buSzPts val="1500"/>
              <a:buFont typeface="Arial"/>
              <a:buNone/>
            </a:pPr>
            <a:r>
              <a:rPr lang="en-US" sz="1500">
                <a:solidFill>
                  <a:srgbClr val="12202F"/>
                </a:solidFill>
              </a:rPr>
              <a:t>Bordeaux, Limoges, La Rochelle, Bayonne, Pau</a:t>
            </a:r>
            <a:endParaRPr/>
          </a:p>
        </p:txBody>
      </p:sp>
      <p:sp>
        <p:nvSpPr>
          <p:cNvPr id="752" name="Google Shape;752;p39"/>
          <p:cNvSpPr/>
          <p:nvPr/>
        </p:nvSpPr>
        <p:spPr>
          <a:xfrm>
            <a:off x="5257800" y="1691640"/>
            <a:ext cx="4160520" cy="2057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VARIABLES AJOUTÉES</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Température moyenne</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Température ressentie moyenne</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Code météo WMO</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Agrégation régionale par moyenne / mode</a:t>
            </a:r>
            <a:endParaRPr/>
          </a:p>
        </p:txBody>
      </p:sp>
      <p:sp>
        <p:nvSpPr>
          <p:cNvPr id="753" name="Google Shape;753;p39"/>
          <p:cNvSpPr/>
          <p:nvPr/>
        </p:nvSpPr>
        <p:spPr>
          <a:xfrm>
            <a:off x="9738360" y="1691640"/>
            <a:ext cx="4114800" cy="205740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E68D35"/>
                </a:solidFill>
                <a:latin typeface="Arial"/>
                <a:ea typeface="Arial"/>
                <a:cs typeface="Arial"/>
                <a:sym typeface="Arial"/>
              </a:rPr>
              <a:t>CONTRÔLE MÉTHODOLOGIQUE</a:t>
            </a:r>
            <a:endParaRPr b="1" i="0" sz="1100" u="none" cap="none" strike="noStrike">
              <a:solidFill>
                <a:srgbClr val="E68D35"/>
              </a:solidFill>
              <a:latin typeface="Arial"/>
              <a:ea typeface="Arial"/>
              <a:cs typeface="Arial"/>
              <a:sym typeface="Arial"/>
            </a:endParaRPr>
          </a:p>
          <a:p>
            <a:pPr indent="0" lvl="0" marL="0" marR="0" rtl="0" algn="ctr">
              <a:lnSpc>
                <a:spcPct val="100000"/>
              </a:lnSpc>
              <a:spcBef>
                <a:spcPts val="0"/>
              </a:spcBef>
              <a:spcAft>
                <a:spcPts val="0"/>
              </a:spcAft>
              <a:buNone/>
            </a:pPr>
            <a:r>
              <a:t/>
            </a:r>
            <a:endParaRPr b="1" sz="1100">
              <a:solidFill>
                <a:srgbClr val="E68D35"/>
              </a:solidFill>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Météo de la veille : 100 % disponible</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Météo du jour cible : test oracle</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En production : utiliser la prévision J+1</a:t>
            </a:r>
            <a:endParaRPr/>
          </a:p>
        </p:txBody>
      </p:sp>
      <p:pic>
        <p:nvPicPr>
          <p:cNvPr descr="image.png" id="754" name="Google Shape;754;p39"/>
          <p:cNvPicPr preferRelativeResize="0"/>
          <p:nvPr/>
        </p:nvPicPr>
        <p:blipFill rotWithShape="1">
          <a:blip r:embed="rId3">
            <a:alphaModFix/>
          </a:blip>
          <a:srcRect b="0" l="0" r="0" t="0"/>
          <a:stretch/>
        </p:blipFill>
        <p:spPr>
          <a:xfrm>
            <a:off x="3611875" y="4438650"/>
            <a:ext cx="7406641" cy="2465944"/>
          </a:xfrm>
          <a:prstGeom prst="rect">
            <a:avLst/>
          </a:prstGeom>
          <a:noFill/>
          <a:ln>
            <a:noFill/>
          </a:ln>
        </p:spPr>
      </p:pic>
      <p:sp>
        <p:nvSpPr>
          <p:cNvPr id="755" name="Google Shape;755;p39"/>
          <p:cNvSpPr/>
          <p:nvPr/>
        </p:nvSpPr>
        <p:spPr>
          <a:xfrm>
            <a:off x="0" y="7973568"/>
            <a:ext cx="14630400" cy="36576"/>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6" name="Google Shape;756;p39"/>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rgbClr val="5A6673"/>
                </a:solidFill>
                <a:latin typeface="Arial"/>
                <a:ea typeface="Arial"/>
                <a:cs typeface="Arial"/>
                <a:sym typeface="Arial"/>
              </a:rPr>
              <a:t>RNCP39586 — Bloc 5 — Apprentissage automatique</a:t>
            </a:r>
            <a:endParaRPr/>
          </a:p>
        </p:txBody>
      </p:sp>
      <p:sp>
        <p:nvSpPr>
          <p:cNvPr id="757" name="Google Shape;757;p39"/>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a:t>
            </a:r>
            <a:r>
              <a:rPr b="1" lang="en-US" sz="1200">
                <a:solidFill>
                  <a:srgbClr val="2F61B8"/>
                </a:solidFill>
                <a:latin typeface="Calibri"/>
                <a:ea typeface="Calibri"/>
                <a:cs typeface="Calibri"/>
                <a:sym typeface="Calibri"/>
              </a:rPr>
              <a:t>4</a:t>
            </a:r>
            <a:endParaRPr b="1" sz="1200">
              <a:solidFill>
                <a:srgbClr val="2F61B8"/>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1" name="Shape 761"/>
        <p:cNvGrpSpPr/>
        <p:nvPr/>
      </p:nvGrpSpPr>
      <p:grpSpPr>
        <a:xfrm>
          <a:off x="0" y="0"/>
          <a:ext cx="0" cy="0"/>
          <a:chOff x="0" y="0"/>
          <a:chExt cx="0" cy="0"/>
        </a:xfrm>
      </p:grpSpPr>
      <p:sp>
        <p:nvSpPr>
          <p:cNvPr id="762" name="Google Shape;762;p40"/>
          <p:cNvSpPr txBox="1"/>
          <p:nvPr/>
        </p:nvSpPr>
        <p:spPr>
          <a:xfrm>
            <a:off x="685800" y="475488"/>
            <a:ext cx="10058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12202F"/>
                </a:solidFill>
                <a:latin typeface="Arial"/>
                <a:ea typeface="Arial"/>
                <a:cs typeface="Arial"/>
                <a:sym typeface="Arial"/>
              </a:rPr>
              <a:t>Impact de la météo sur les performances</a:t>
            </a:r>
            <a:endParaRPr/>
          </a:p>
        </p:txBody>
      </p:sp>
      <p:sp>
        <p:nvSpPr>
          <p:cNvPr id="763" name="Google Shape;763;p40"/>
          <p:cNvSpPr txBox="1"/>
          <p:nvPr/>
        </p:nvSpPr>
        <p:spPr>
          <a:xfrm>
            <a:off x="749808" y="1115568"/>
            <a:ext cx="11430000" cy="32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A6673"/>
                </a:solidFill>
                <a:latin typeface="Arial"/>
                <a:ea typeface="Arial"/>
                <a:cs typeface="Arial"/>
                <a:sym typeface="Arial"/>
              </a:rPr>
              <a:t>Comparer le modèle historique/calendaire avec le modèle enrichi par météo</a:t>
            </a:r>
            <a:endParaRPr/>
          </a:p>
        </p:txBody>
      </p:sp>
      <p:sp>
        <p:nvSpPr>
          <p:cNvPr id="764" name="Google Shape;764;p40"/>
          <p:cNvSpPr/>
          <p:nvPr/>
        </p:nvSpPr>
        <p:spPr>
          <a:xfrm>
            <a:off x="1828810" y="1819600"/>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258,9 MW</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Baseline J-1</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MAE test</a:t>
            </a:r>
            <a:endParaRPr/>
          </a:p>
        </p:txBody>
      </p:sp>
      <p:sp>
        <p:nvSpPr>
          <p:cNvPr id="765" name="Google Shape;765;p40"/>
          <p:cNvSpPr/>
          <p:nvPr/>
        </p:nvSpPr>
        <p:spPr>
          <a:xfrm>
            <a:off x="4663450" y="1819600"/>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20</a:t>
            </a:r>
            <a:r>
              <a:rPr b="1" lang="en-US" sz="2500">
                <a:solidFill>
                  <a:srgbClr val="2F61B8"/>
                </a:solidFill>
              </a:rPr>
              <a:t>7,5</a:t>
            </a:r>
            <a:r>
              <a:rPr b="1" i="0" lang="en-US" sz="2500" u="none" cap="none" strike="noStrike">
                <a:solidFill>
                  <a:srgbClr val="2F61B8"/>
                </a:solidFill>
                <a:latin typeface="Arial"/>
                <a:ea typeface="Arial"/>
                <a:cs typeface="Arial"/>
                <a:sym typeface="Arial"/>
              </a:rPr>
              <a:t> MW</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HGB sans météo</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MAE test</a:t>
            </a:r>
            <a:endParaRPr/>
          </a:p>
        </p:txBody>
      </p:sp>
      <p:sp>
        <p:nvSpPr>
          <p:cNvPr id="766" name="Google Shape;766;p40"/>
          <p:cNvSpPr/>
          <p:nvPr/>
        </p:nvSpPr>
        <p:spPr>
          <a:xfrm>
            <a:off x="7498090" y="1819600"/>
            <a:ext cx="2469000" cy="9144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1</a:t>
            </a:r>
            <a:r>
              <a:rPr b="1" lang="en-US" sz="2500">
                <a:solidFill>
                  <a:srgbClr val="2F61B8"/>
                </a:solidFill>
              </a:rPr>
              <a:t>61,8</a:t>
            </a:r>
            <a:r>
              <a:rPr b="1" i="0" lang="en-US" sz="2500" u="none" cap="none" strike="noStrike">
                <a:solidFill>
                  <a:srgbClr val="2F61B8"/>
                </a:solidFill>
                <a:latin typeface="Arial"/>
                <a:ea typeface="Arial"/>
                <a:cs typeface="Arial"/>
                <a:sym typeface="Arial"/>
              </a:rPr>
              <a:t> MW</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HGB + météo cible</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MAE test</a:t>
            </a:r>
            <a:endParaRPr/>
          </a:p>
        </p:txBody>
      </p:sp>
      <p:sp>
        <p:nvSpPr>
          <p:cNvPr id="767" name="Google Shape;767;p40"/>
          <p:cNvSpPr/>
          <p:nvPr/>
        </p:nvSpPr>
        <p:spPr>
          <a:xfrm>
            <a:off x="10332730" y="1819600"/>
            <a:ext cx="2469000" cy="9144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2500">
                <a:solidFill>
                  <a:srgbClr val="2F61B8"/>
                </a:solidFill>
              </a:rPr>
              <a:t>~22</a:t>
            </a:r>
            <a:r>
              <a:rPr b="1" i="0" lang="en-US" sz="2500" u="none" cap="none" strike="noStrike">
                <a:solidFill>
                  <a:srgbClr val="2F61B8"/>
                </a:solidFill>
                <a:latin typeface="Arial"/>
                <a:ea typeface="Arial"/>
                <a:cs typeface="Arial"/>
                <a:sym typeface="Arial"/>
              </a:rPr>
              <a:t>%</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Gain météo</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vs sans météo</a:t>
            </a:r>
            <a:endParaRPr/>
          </a:p>
        </p:txBody>
      </p:sp>
      <p:sp>
        <p:nvSpPr>
          <p:cNvPr id="768" name="Google Shape;768;p40"/>
          <p:cNvSpPr/>
          <p:nvPr/>
        </p:nvSpPr>
        <p:spPr>
          <a:xfrm>
            <a:off x="868680" y="3657600"/>
            <a:ext cx="6217920" cy="201168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INTERPRÉTATION</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La température apporte une information physique absente des seuls historiques.</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Elle aide surtout à expliquer les écarts liés au chaud/froid et certains pics.</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L'amélioration montre que le modèle initial était limité par l'information disponible, pas seulement par l'algorithme.</a:t>
            </a:r>
            <a:endParaRPr/>
          </a:p>
        </p:txBody>
      </p:sp>
      <p:sp>
        <p:nvSpPr>
          <p:cNvPr id="769" name="Google Shape;769;p40"/>
          <p:cNvSpPr/>
          <p:nvPr/>
        </p:nvSpPr>
        <p:spPr>
          <a:xfrm>
            <a:off x="7543800" y="3657600"/>
            <a:ext cx="6126480" cy="201168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E68D35"/>
                </a:solidFill>
                <a:latin typeface="Arial"/>
                <a:ea typeface="Arial"/>
                <a:cs typeface="Arial"/>
                <a:sym typeface="Arial"/>
              </a:rPr>
              <a:t>POINT DE VIGILANCE</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Si la météo du jour cible est observée, elle n'est pas disponible au moment t.</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Elle doit être présentée comme une expérience oracle hors production.</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En production, on utiliserait la prévision météo J+1 disponible au moment de l'inférence.</a:t>
            </a:r>
            <a:endParaRPr/>
          </a:p>
        </p:txBody>
      </p:sp>
      <p:sp>
        <p:nvSpPr>
          <p:cNvPr id="770" name="Google Shape;770;p40"/>
          <p:cNvSpPr/>
          <p:nvPr/>
        </p:nvSpPr>
        <p:spPr>
          <a:xfrm>
            <a:off x="0" y="7973568"/>
            <a:ext cx="14630400" cy="36576"/>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1" name="Google Shape;771;p40"/>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rgbClr val="5A6673"/>
                </a:solidFill>
                <a:latin typeface="Arial"/>
                <a:ea typeface="Arial"/>
                <a:cs typeface="Arial"/>
                <a:sym typeface="Arial"/>
              </a:rPr>
              <a:t>RNCP39586 — Bloc 5 — Apprentissage automatique</a:t>
            </a:r>
            <a:endParaRPr/>
          </a:p>
        </p:txBody>
      </p:sp>
      <p:sp>
        <p:nvSpPr>
          <p:cNvPr id="772" name="Google Shape;772;p40"/>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a:t>
            </a:r>
            <a:r>
              <a:rPr b="1" lang="en-US" sz="1200">
                <a:solidFill>
                  <a:srgbClr val="2F61B8"/>
                </a:solidFill>
                <a:latin typeface="Calibri"/>
                <a:ea typeface="Calibri"/>
                <a:cs typeface="Calibri"/>
                <a:sym typeface="Calibri"/>
              </a:rPr>
              <a:t>4</a:t>
            </a:r>
            <a:endParaRPr b="1" sz="1200">
              <a:solidFill>
                <a:srgbClr val="2F61B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41"/>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Résultats</a:t>
            </a:r>
            <a:endParaRPr b="0" i="0" sz="1400" u="none" cap="none" strike="noStrike">
              <a:solidFill>
                <a:srgbClr val="000000"/>
              </a:solidFill>
              <a:latin typeface="Arial"/>
              <a:ea typeface="Arial"/>
              <a:cs typeface="Arial"/>
              <a:sym typeface="Arial"/>
            </a:endParaRPr>
          </a:p>
        </p:txBody>
      </p:sp>
      <p:sp>
        <p:nvSpPr>
          <p:cNvPr id="778" name="Google Shape;778;p41"/>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Résultats finaux sur le test 2025</a:t>
            </a:r>
            <a:endParaRPr b="0" i="0" sz="1400" u="none" cap="none" strike="noStrike">
              <a:solidFill>
                <a:srgbClr val="000000"/>
              </a:solidFill>
              <a:latin typeface="Arial"/>
              <a:ea typeface="Arial"/>
              <a:cs typeface="Arial"/>
              <a:sym typeface="Arial"/>
            </a:endParaRPr>
          </a:p>
        </p:txBody>
      </p:sp>
      <p:sp>
        <p:nvSpPr>
          <p:cNvPr id="779" name="Google Shape;779;p41"/>
          <p:cNvSpPr/>
          <p:nvPr/>
        </p:nvSpPr>
        <p:spPr>
          <a:xfrm>
            <a:off x="18705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258,9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Baseline MAE</a:t>
            </a:r>
            <a:endParaRPr b="0" i="0" sz="1400" u="none" cap="none" strike="noStrike">
              <a:solidFill>
                <a:srgbClr val="000000"/>
              </a:solidFill>
              <a:latin typeface="Arial"/>
              <a:ea typeface="Arial"/>
              <a:cs typeface="Arial"/>
              <a:sym typeface="Arial"/>
            </a:endParaRPr>
          </a:p>
        </p:txBody>
      </p:sp>
      <p:sp>
        <p:nvSpPr>
          <p:cNvPr id="780" name="Google Shape;780;p41"/>
          <p:cNvSpPr/>
          <p:nvPr/>
        </p:nvSpPr>
        <p:spPr>
          <a:xfrm>
            <a:off x="311313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161,8</a:t>
            </a:r>
            <a:r>
              <a:rPr b="1" i="0" lang="en-US" sz="2600" u="none" cap="none" strike="noStrike">
                <a:solidFill>
                  <a:srgbClr val="2F61B8"/>
                </a:solidFill>
                <a:latin typeface="Calibri"/>
                <a:ea typeface="Calibri"/>
                <a:cs typeface="Calibri"/>
                <a:sym typeface="Calibri"/>
              </a:rPr>
              <a:t>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Modèle MAE</a:t>
            </a:r>
            <a:endParaRPr b="0" i="0" sz="1400" u="none" cap="none" strike="noStrike">
              <a:solidFill>
                <a:srgbClr val="000000"/>
              </a:solidFill>
              <a:latin typeface="Arial"/>
              <a:ea typeface="Arial"/>
              <a:cs typeface="Arial"/>
              <a:sym typeface="Arial"/>
            </a:endParaRPr>
          </a:p>
        </p:txBody>
      </p:sp>
      <p:sp>
        <p:nvSpPr>
          <p:cNvPr id="781" name="Google Shape;781;p41"/>
          <p:cNvSpPr/>
          <p:nvPr/>
        </p:nvSpPr>
        <p:spPr>
          <a:xfrm>
            <a:off x="603921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a:t>
            </a:r>
            <a:r>
              <a:rPr b="1" lang="en-US" sz="2600">
                <a:solidFill>
                  <a:srgbClr val="2F61B8"/>
                </a:solidFill>
                <a:latin typeface="Calibri"/>
                <a:ea typeface="Calibri"/>
                <a:cs typeface="Calibri"/>
                <a:sym typeface="Calibri"/>
              </a:rPr>
              <a:t>38</a:t>
            </a:r>
            <a:r>
              <a:rPr b="1" i="0" lang="en-US" sz="2600" u="none" cap="none" strike="noStrike">
                <a:solidFill>
                  <a:srgbClr val="2F61B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gain MAE</a:t>
            </a:r>
            <a:endParaRPr b="0" i="0" sz="1400" u="none" cap="none" strike="noStrike">
              <a:solidFill>
                <a:srgbClr val="000000"/>
              </a:solidFill>
              <a:latin typeface="Arial"/>
              <a:ea typeface="Arial"/>
              <a:cs typeface="Arial"/>
              <a:sym typeface="Arial"/>
            </a:endParaRPr>
          </a:p>
        </p:txBody>
      </p:sp>
      <p:sp>
        <p:nvSpPr>
          <p:cNvPr id="782" name="Google Shape;782;p41"/>
          <p:cNvSpPr/>
          <p:nvPr/>
        </p:nvSpPr>
        <p:spPr>
          <a:xfrm>
            <a:off x="896529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0,9</a:t>
            </a:r>
            <a:r>
              <a:rPr b="1" lang="en-US" sz="2600">
                <a:solidFill>
                  <a:srgbClr val="2F61B8"/>
                </a:solidFill>
                <a:latin typeface="Calibri"/>
                <a:ea typeface="Calibri"/>
                <a:cs typeface="Calibri"/>
                <a:sym typeface="Calibri"/>
              </a:rPr>
              <a:t>57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R² final</a:t>
            </a:r>
            <a:endParaRPr b="0" i="0" sz="1400" u="none" cap="none" strike="noStrike">
              <a:solidFill>
                <a:srgbClr val="000000"/>
              </a:solidFill>
              <a:latin typeface="Arial"/>
              <a:ea typeface="Arial"/>
              <a:cs typeface="Arial"/>
              <a:sym typeface="Arial"/>
            </a:endParaRPr>
          </a:p>
        </p:txBody>
      </p:sp>
      <p:sp>
        <p:nvSpPr>
          <p:cNvPr id="783" name="Google Shape;783;p41"/>
          <p:cNvSpPr txBox="1"/>
          <p:nvPr/>
        </p:nvSpPr>
        <p:spPr>
          <a:xfrm>
            <a:off x="914388" y="4361283"/>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LECTURE MÉTIER</a:t>
            </a:r>
            <a:endParaRPr b="0" i="0" sz="1800" u="none" cap="none" strike="noStrike">
              <a:solidFill>
                <a:srgbClr val="000000"/>
              </a:solidFill>
              <a:latin typeface="Arial"/>
              <a:ea typeface="Arial"/>
              <a:cs typeface="Arial"/>
              <a:sym typeface="Arial"/>
            </a:endParaRPr>
          </a:p>
        </p:txBody>
      </p:sp>
      <p:sp>
        <p:nvSpPr>
          <p:cNvPr id="784" name="Google Shape;784;p41"/>
          <p:cNvSpPr txBox="1"/>
          <p:nvPr/>
        </p:nvSpPr>
        <p:spPr>
          <a:xfrm>
            <a:off x="914388" y="4727043"/>
            <a:ext cx="109728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Le modèle améliore nettement une règle naïve simple.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Il suit correctement la dynamique générale de consommation.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Les pics restent plus difficiles : axe d’amélioration identifié.</a:t>
            </a:r>
            <a:endParaRPr b="0" i="0" sz="1400" u="none" cap="none" strike="noStrike">
              <a:solidFill>
                <a:srgbClr val="000000"/>
              </a:solidFill>
              <a:latin typeface="Arial"/>
              <a:ea typeface="Arial"/>
              <a:cs typeface="Arial"/>
              <a:sym typeface="Arial"/>
            </a:endParaRPr>
          </a:p>
        </p:txBody>
      </p:sp>
      <p:sp>
        <p:nvSpPr>
          <p:cNvPr id="785" name="Google Shape;785;p41"/>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41"/>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
        <p:nvSpPr>
          <p:cNvPr id="787" name="Google Shape;787;p41"/>
          <p:cNvSpPr/>
          <p:nvPr/>
        </p:nvSpPr>
        <p:spPr>
          <a:xfrm>
            <a:off x="11883125"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3,43 %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MAE vs conso moyenne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1" name="Shape 791"/>
        <p:cNvGrpSpPr/>
        <p:nvPr/>
      </p:nvGrpSpPr>
      <p:grpSpPr>
        <a:xfrm>
          <a:off x="0" y="0"/>
          <a:ext cx="0" cy="0"/>
          <a:chOff x="0" y="0"/>
          <a:chExt cx="0" cy="0"/>
        </a:xfrm>
      </p:grpSpPr>
      <p:sp>
        <p:nvSpPr>
          <p:cNvPr id="792" name="Google Shape;792;p42"/>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Résultats</a:t>
            </a:r>
            <a:endParaRPr b="0" i="0" sz="1400" u="none" cap="none" strike="noStrike">
              <a:solidFill>
                <a:srgbClr val="000000"/>
              </a:solidFill>
              <a:latin typeface="Arial"/>
              <a:ea typeface="Arial"/>
              <a:cs typeface="Arial"/>
              <a:sym typeface="Arial"/>
            </a:endParaRPr>
          </a:p>
        </p:txBody>
      </p:sp>
      <p:sp>
        <p:nvSpPr>
          <p:cNvPr id="793" name="Google Shape;793;p42"/>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Résultats finaux sur le test 2025</a:t>
            </a:r>
            <a:endParaRPr b="0" i="0" sz="1400" u="none" cap="none" strike="noStrike">
              <a:solidFill>
                <a:srgbClr val="000000"/>
              </a:solidFill>
              <a:latin typeface="Arial"/>
              <a:ea typeface="Arial"/>
              <a:cs typeface="Arial"/>
              <a:sym typeface="Arial"/>
            </a:endParaRPr>
          </a:p>
        </p:txBody>
      </p:sp>
      <p:sp>
        <p:nvSpPr>
          <p:cNvPr id="794" name="Google Shape;794;p42"/>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5" name="Google Shape;795;p42"/>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796" name="Google Shape;796;p42"/>
          <p:cNvPicPr preferRelativeResize="0"/>
          <p:nvPr/>
        </p:nvPicPr>
        <p:blipFill>
          <a:blip r:embed="rId3">
            <a:alphaModFix/>
          </a:blip>
          <a:stretch>
            <a:fillRect/>
          </a:stretch>
        </p:blipFill>
        <p:spPr>
          <a:xfrm>
            <a:off x="2040400" y="1270920"/>
            <a:ext cx="10549601" cy="63307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0" name="Shape 800"/>
        <p:cNvGrpSpPr/>
        <p:nvPr/>
      </p:nvGrpSpPr>
      <p:grpSpPr>
        <a:xfrm>
          <a:off x="0" y="0"/>
          <a:ext cx="0" cy="0"/>
          <a:chOff x="0" y="0"/>
          <a:chExt cx="0" cy="0"/>
        </a:xfrm>
      </p:grpSpPr>
      <p:sp>
        <p:nvSpPr>
          <p:cNvPr id="801" name="Google Shape;801;p43"/>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C5.3.1</a:t>
            </a:r>
            <a:endParaRPr b="0" i="0" sz="1400" u="none" cap="none" strike="noStrike">
              <a:solidFill>
                <a:srgbClr val="000000"/>
              </a:solidFill>
              <a:latin typeface="Arial"/>
              <a:ea typeface="Arial"/>
              <a:cs typeface="Arial"/>
              <a:sym typeface="Arial"/>
            </a:endParaRPr>
          </a:p>
        </p:txBody>
      </p:sp>
      <p:sp>
        <p:nvSpPr>
          <p:cNvPr id="802" name="Google Shape;802;p43"/>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Sauvegarder et réutiliser le modèle</a:t>
            </a:r>
            <a:endParaRPr b="0" i="0" sz="1400" u="none" cap="none" strike="noStrike">
              <a:solidFill>
                <a:srgbClr val="000000"/>
              </a:solidFill>
              <a:latin typeface="Arial"/>
              <a:ea typeface="Arial"/>
              <a:cs typeface="Arial"/>
              <a:sym typeface="Arial"/>
            </a:endParaRPr>
          </a:p>
        </p:txBody>
      </p:sp>
      <p:sp>
        <p:nvSpPr>
          <p:cNvPr id="803" name="Google Shape;803;p43"/>
          <p:cNvSpPr txBox="1"/>
          <p:nvPr/>
        </p:nvSpPr>
        <p:spPr>
          <a:xfrm>
            <a:off x="82296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ARTEFACTS</a:t>
            </a:r>
            <a:endParaRPr b="0" i="0" sz="1800" u="none" cap="none" strike="noStrike">
              <a:solidFill>
                <a:srgbClr val="000000"/>
              </a:solidFill>
              <a:latin typeface="Arial"/>
              <a:ea typeface="Arial"/>
              <a:cs typeface="Arial"/>
              <a:sym typeface="Arial"/>
            </a:endParaRPr>
          </a:p>
        </p:txBody>
      </p:sp>
      <p:sp>
        <p:nvSpPr>
          <p:cNvPr id="804" name="Google Shape;804;p43"/>
          <p:cNvSpPr txBox="1"/>
          <p:nvPr/>
        </p:nvSpPr>
        <p:spPr>
          <a:xfrm>
            <a:off x="822960" y="2103120"/>
            <a:ext cx="56694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artifacts/oracle_pipeline/model.joblib</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artifacts/oracle_pipeline/metadata.json</a:t>
            </a:r>
            <a:endParaRPr b="0" i="0" sz="1400" u="none" cap="none" strike="noStrike">
              <a:solidFill>
                <a:srgbClr val="000000"/>
              </a:solidFill>
              <a:latin typeface="Arial"/>
              <a:ea typeface="Arial"/>
              <a:cs typeface="Arial"/>
              <a:sym typeface="Arial"/>
            </a:endParaRPr>
          </a:p>
        </p:txBody>
      </p:sp>
      <p:sp>
        <p:nvSpPr>
          <p:cNvPr id="805" name="Google Shape;805;p43"/>
          <p:cNvSpPr txBox="1"/>
          <p:nvPr/>
        </p:nvSpPr>
        <p:spPr>
          <a:xfrm>
            <a:off x="7594700" y="4389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MÉTADONNÉES</a:t>
            </a:r>
            <a:endParaRPr b="0" i="0" sz="1800" u="none" cap="none" strike="noStrike">
              <a:solidFill>
                <a:srgbClr val="000000"/>
              </a:solidFill>
              <a:latin typeface="Arial"/>
              <a:ea typeface="Arial"/>
              <a:cs typeface="Arial"/>
              <a:sym typeface="Arial"/>
            </a:endParaRPr>
          </a:p>
        </p:txBody>
      </p:sp>
      <p:sp>
        <p:nvSpPr>
          <p:cNvPr id="806" name="Google Shape;806;p43"/>
          <p:cNvSpPr txBox="1"/>
          <p:nvPr/>
        </p:nvSpPr>
        <p:spPr>
          <a:xfrm>
            <a:off x="7594700" y="4754903"/>
            <a:ext cx="4114800" cy="19395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version : 2.0.0-oracle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13 variables (10 + 3 météo)</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hyperparamètres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metrics : validation 2024 / test 2025</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experimental_oracle : true</a:t>
            </a:r>
            <a:endParaRPr b="0" i="0" sz="1400" u="none" cap="none" strike="noStrike">
              <a:solidFill>
                <a:srgbClr val="000000"/>
              </a:solidFill>
              <a:latin typeface="Arial"/>
              <a:ea typeface="Arial"/>
              <a:cs typeface="Arial"/>
              <a:sym typeface="Arial"/>
            </a:endParaRPr>
          </a:p>
        </p:txBody>
      </p:sp>
      <p:sp>
        <p:nvSpPr>
          <p:cNvPr id="807" name="Google Shape;807;p43"/>
          <p:cNvSpPr txBox="1"/>
          <p:nvPr/>
        </p:nvSpPr>
        <p:spPr>
          <a:xfrm>
            <a:off x="822960" y="43891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RÉUTILISATION</a:t>
            </a:r>
            <a:endParaRPr b="0" i="0" sz="1800" u="none" cap="none" strike="noStrike">
              <a:solidFill>
                <a:srgbClr val="000000"/>
              </a:solidFill>
              <a:latin typeface="Arial"/>
              <a:ea typeface="Arial"/>
              <a:cs typeface="Arial"/>
              <a:sym typeface="Arial"/>
            </a:endParaRPr>
          </a:p>
        </p:txBody>
      </p:sp>
      <p:sp>
        <p:nvSpPr>
          <p:cNvPr id="808" name="Google Shape;808;p43"/>
          <p:cNvSpPr txBox="1"/>
          <p:nvPr/>
        </p:nvSpPr>
        <p:spPr>
          <a:xfrm>
            <a:off x="822960" y="4754880"/>
            <a:ext cx="100584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features.py + weather.py : variables oracle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predict_oracle.py : simulation à H+24</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Artefact rechargé et prédiction vérifiée</a:t>
            </a:r>
            <a:endParaRPr b="0" i="0" sz="1400" u="none" cap="none" strike="noStrike">
              <a:solidFill>
                <a:srgbClr val="000000"/>
              </a:solidFill>
              <a:latin typeface="Arial"/>
              <a:ea typeface="Arial"/>
              <a:cs typeface="Arial"/>
              <a:sym typeface="Arial"/>
            </a:endParaRPr>
          </a:p>
        </p:txBody>
      </p:sp>
      <p:sp>
        <p:nvSpPr>
          <p:cNvPr id="809" name="Google Shape;809;p43"/>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0" name="Google Shape;810;p43"/>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811" name="Google Shape;811;p43"/>
          <p:cNvPicPr preferRelativeResize="0"/>
          <p:nvPr/>
        </p:nvPicPr>
        <p:blipFill rotWithShape="1">
          <a:blip r:embed="rId3">
            <a:alphaModFix/>
          </a:blip>
          <a:srcRect b="0" l="0" r="0" t="0"/>
          <a:stretch/>
        </p:blipFill>
        <p:spPr>
          <a:xfrm>
            <a:off x="8368215" y="1000470"/>
            <a:ext cx="3718560" cy="3197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5" name="Shape 815"/>
        <p:cNvGrpSpPr/>
        <p:nvPr/>
      </p:nvGrpSpPr>
      <p:grpSpPr>
        <a:xfrm>
          <a:off x="0" y="0"/>
          <a:ext cx="0" cy="0"/>
          <a:chOff x="0" y="0"/>
          <a:chExt cx="0" cy="0"/>
        </a:xfrm>
      </p:grpSpPr>
      <p:sp>
        <p:nvSpPr>
          <p:cNvPr id="816" name="Google Shape;816;p44"/>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C5.3.2</a:t>
            </a:r>
            <a:endParaRPr b="0" i="0" sz="1400" u="none" cap="none" strike="noStrike">
              <a:solidFill>
                <a:srgbClr val="000000"/>
              </a:solidFill>
              <a:latin typeface="Arial"/>
              <a:ea typeface="Arial"/>
              <a:cs typeface="Arial"/>
              <a:sym typeface="Arial"/>
            </a:endParaRPr>
          </a:p>
        </p:txBody>
      </p:sp>
      <p:sp>
        <p:nvSpPr>
          <p:cNvPr id="817" name="Google Shape;817;p44"/>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Automatiser les tests et la traçabilité</a:t>
            </a:r>
            <a:endParaRPr b="0" i="0" sz="1400" u="none" cap="none" strike="noStrike">
              <a:solidFill>
                <a:srgbClr val="000000"/>
              </a:solidFill>
              <a:latin typeface="Arial"/>
              <a:ea typeface="Arial"/>
              <a:cs typeface="Arial"/>
              <a:sym typeface="Arial"/>
            </a:endParaRPr>
          </a:p>
        </p:txBody>
      </p:sp>
      <p:sp>
        <p:nvSpPr>
          <p:cNvPr id="818" name="Google Shape;818;p44"/>
          <p:cNvSpPr txBox="1"/>
          <p:nvPr/>
        </p:nvSpPr>
        <p:spPr>
          <a:xfrm>
            <a:off x="822972" y="140524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CI/CD LÉGER</a:t>
            </a:r>
            <a:endParaRPr b="0" i="0" sz="1800" u="none" cap="none" strike="noStrike">
              <a:solidFill>
                <a:srgbClr val="000000"/>
              </a:solidFill>
              <a:latin typeface="Arial"/>
              <a:ea typeface="Arial"/>
              <a:cs typeface="Arial"/>
              <a:sym typeface="Arial"/>
            </a:endParaRPr>
          </a:p>
        </p:txBody>
      </p:sp>
      <p:sp>
        <p:nvSpPr>
          <p:cNvPr id="819" name="Google Shape;819;p44"/>
          <p:cNvSpPr/>
          <p:nvPr/>
        </p:nvSpPr>
        <p:spPr>
          <a:xfrm>
            <a:off x="0" y="8001000"/>
            <a:ext cx="14630400" cy="45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0" name="Google Shape;820;p44"/>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821" name="Google Shape;821;p44"/>
          <p:cNvPicPr preferRelativeResize="0"/>
          <p:nvPr/>
        </p:nvPicPr>
        <p:blipFill rotWithShape="1">
          <a:blip r:embed="rId3">
            <a:alphaModFix/>
          </a:blip>
          <a:srcRect b="0" l="0" r="0" t="0"/>
          <a:stretch/>
        </p:blipFill>
        <p:spPr>
          <a:xfrm>
            <a:off x="774290" y="3227399"/>
            <a:ext cx="5766725" cy="4388875"/>
          </a:xfrm>
          <a:prstGeom prst="rect">
            <a:avLst/>
          </a:prstGeom>
          <a:noFill/>
          <a:ln>
            <a:noFill/>
          </a:ln>
        </p:spPr>
      </p:pic>
      <p:pic>
        <p:nvPicPr>
          <p:cNvPr id="822" name="Google Shape;822;p44"/>
          <p:cNvPicPr preferRelativeResize="0"/>
          <p:nvPr/>
        </p:nvPicPr>
        <p:blipFill rotWithShape="1">
          <a:blip r:embed="rId4">
            <a:alphaModFix/>
          </a:blip>
          <a:srcRect b="0" l="0" r="0" t="0"/>
          <a:stretch/>
        </p:blipFill>
        <p:spPr>
          <a:xfrm>
            <a:off x="6949615" y="4993858"/>
            <a:ext cx="7353300" cy="1619250"/>
          </a:xfrm>
          <a:prstGeom prst="rect">
            <a:avLst/>
          </a:prstGeom>
          <a:noFill/>
          <a:ln>
            <a:noFill/>
          </a:ln>
        </p:spPr>
      </p:pic>
      <p:sp>
        <p:nvSpPr>
          <p:cNvPr id="823" name="Google Shape;823;p44"/>
          <p:cNvSpPr txBox="1"/>
          <p:nvPr/>
        </p:nvSpPr>
        <p:spPr>
          <a:xfrm>
            <a:off x="7057260" y="14052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OBJECTIF</a:t>
            </a:r>
            <a:endParaRPr b="0" i="0" sz="1800" u="none" cap="none" strike="noStrike">
              <a:solidFill>
                <a:srgbClr val="000000"/>
              </a:solidFill>
              <a:latin typeface="Arial"/>
              <a:ea typeface="Arial"/>
              <a:cs typeface="Arial"/>
              <a:sym typeface="Arial"/>
            </a:endParaRPr>
          </a:p>
        </p:txBody>
      </p:sp>
      <p:sp>
        <p:nvSpPr>
          <p:cNvPr id="824" name="Google Shape;824;p44"/>
          <p:cNvSpPr txBox="1"/>
          <p:nvPr/>
        </p:nvSpPr>
        <p:spPr>
          <a:xfrm>
            <a:off x="7057250" y="1771000"/>
            <a:ext cx="6133500" cy="12315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Assurer que la production ne contienne pas de bug</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Faciliter le déploiement d’une nouvelle version</a:t>
            </a:r>
            <a:endParaRPr b="0" i="0" sz="2000" u="none" cap="none" strike="noStrike">
              <a:solidFill>
                <a:srgbClr val="12202F"/>
              </a:solidFill>
              <a:latin typeface="Calibri"/>
              <a:ea typeface="Calibri"/>
              <a:cs typeface="Calibri"/>
              <a:sym typeface="Calibri"/>
            </a:endParaRPr>
          </a:p>
          <a:p>
            <a:pPr indent="-355600" lvl="0" marL="457200" rtl="0" algn="l">
              <a:spcBef>
                <a:spcPts val="0"/>
              </a:spcBef>
              <a:spcAft>
                <a:spcPts val="0"/>
              </a:spcAft>
              <a:buClr>
                <a:srgbClr val="12202F"/>
              </a:buClr>
              <a:buSzPts val="2000"/>
              <a:buFont typeface="Calibri"/>
              <a:buChar char="●"/>
            </a:pPr>
            <a:r>
              <a:rPr lang="en-US" sz="2000">
                <a:solidFill>
                  <a:srgbClr val="12202F"/>
                </a:solidFill>
                <a:latin typeface="Calibri"/>
                <a:ea typeface="Calibri"/>
                <a:cs typeface="Calibri"/>
                <a:sym typeface="Calibri"/>
              </a:rPr>
              <a:t>Détecter les régressions du code</a:t>
            </a:r>
            <a:endParaRPr sz="2000">
              <a:solidFill>
                <a:srgbClr val="12202F"/>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44"/>
          <p:cNvSpPr txBox="1"/>
          <p:nvPr/>
        </p:nvSpPr>
        <p:spPr>
          <a:xfrm>
            <a:off x="822972" y="1771005"/>
            <a:ext cx="5669400" cy="9696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Pytest : 22 tests locaux réussis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GitHub Actions : exécution automatique des tests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Météo, H+24, splits et standardisation testés</a:t>
            </a:r>
            <a:endParaRPr b="0" i="0" sz="1400" u="none" cap="none" strike="noStrike">
              <a:solidFill>
                <a:srgbClr val="000000"/>
              </a:solidFill>
              <a:latin typeface="Arial"/>
              <a:ea typeface="Arial"/>
              <a:cs typeface="Arial"/>
              <a:sym typeface="Arial"/>
            </a:endParaRPr>
          </a:p>
        </p:txBody>
      </p:sp>
      <p:pic>
        <p:nvPicPr>
          <p:cNvPr id="826" name="Google Shape;826;p44"/>
          <p:cNvPicPr preferRelativeResize="0"/>
          <p:nvPr/>
        </p:nvPicPr>
        <p:blipFill>
          <a:blip r:embed="rId5">
            <a:alphaModFix/>
          </a:blip>
          <a:stretch>
            <a:fillRect/>
          </a:stretch>
        </p:blipFill>
        <p:spPr>
          <a:xfrm>
            <a:off x="6949615" y="3227400"/>
            <a:ext cx="2417145" cy="130490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0" name="Shape 830"/>
        <p:cNvGrpSpPr/>
        <p:nvPr/>
      </p:nvGrpSpPr>
      <p:grpSpPr>
        <a:xfrm>
          <a:off x="0" y="0"/>
          <a:ext cx="0" cy="0"/>
          <a:chOff x="0" y="0"/>
          <a:chExt cx="0" cy="0"/>
        </a:xfrm>
      </p:grpSpPr>
      <p:sp>
        <p:nvSpPr>
          <p:cNvPr id="831" name="Google Shape;831;p45"/>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C5.3.2</a:t>
            </a:r>
            <a:endParaRPr b="0" i="0" sz="1400" u="none" cap="none" strike="noStrike">
              <a:solidFill>
                <a:srgbClr val="000000"/>
              </a:solidFill>
              <a:latin typeface="Arial"/>
              <a:ea typeface="Arial"/>
              <a:cs typeface="Arial"/>
              <a:sym typeface="Arial"/>
            </a:endParaRPr>
          </a:p>
        </p:txBody>
      </p:sp>
      <p:sp>
        <p:nvSpPr>
          <p:cNvPr id="832" name="Google Shape;832;p45"/>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Automatiser les tests et la traçabilité</a:t>
            </a:r>
            <a:endParaRPr b="0" i="0" sz="1400" u="none" cap="none" strike="noStrike">
              <a:solidFill>
                <a:srgbClr val="000000"/>
              </a:solidFill>
              <a:latin typeface="Arial"/>
              <a:ea typeface="Arial"/>
              <a:cs typeface="Arial"/>
              <a:sym typeface="Arial"/>
            </a:endParaRPr>
          </a:p>
        </p:txBody>
      </p:sp>
      <p:sp>
        <p:nvSpPr>
          <p:cNvPr id="833" name="Google Shape;833;p45"/>
          <p:cNvSpPr txBox="1"/>
          <p:nvPr/>
        </p:nvSpPr>
        <p:spPr>
          <a:xfrm>
            <a:off x="731525" y="116457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MLFLOW</a:t>
            </a:r>
            <a:endParaRPr b="0" i="0" sz="1800" u="none" cap="none" strike="noStrike">
              <a:solidFill>
                <a:srgbClr val="000000"/>
              </a:solidFill>
              <a:latin typeface="Arial"/>
              <a:ea typeface="Arial"/>
              <a:cs typeface="Arial"/>
              <a:sym typeface="Arial"/>
            </a:endParaRPr>
          </a:p>
        </p:txBody>
      </p:sp>
      <p:sp>
        <p:nvSpPr>
          <p:cNvPr id="834" name="Google Shape;834;p45"/>
          <p:cNvSpPr txBox="1"/>
          <p:nvPr/>
        </p:nvSpPr>
        <p:spPr>
          <a:xfrm>
            <a:off x="731525" y="1530330"/>
            <a:ext cx="52122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Runs d’expérimentation</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Paramètres et métriques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Artefacts modèle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Model Registry : candidat / champion</a:t>
            </a:r>
            <a:endParaRPr b="0" i="0" sz="1400" u="none" cap="none" strike="noStrike">
              <a:solidFill>
                <a:srgbClr val="000000"/>
              </a:solidFill>
              <a:latin typeface="Arial"/>
              <a:ea typeface="Arial"/>
              <a:cs typeface="Arial"/>
              <a:sym typeface="Arial"/>
            </a:endParaRPr>
          </a:p>
        </p:txBody>
      </p:sp>
      <p:sp>
        <p:nvSpPr>
          <p:cNvPr id="835" name="Google Shape;835;p45"/>
          <p:cNvSpPr txBox="1"/>
          <p:nvPr/>
        </p:nvSpPr>
        <p:spPr>
          <a:xfrm>
            <a:off x="822960" y="46634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OBJECTIF</a:t>
            </a:r>
            <a:endParaRPr b="0" i="0" sz="1800" u="none" cap="none" strike="noStrike">
              <a:solidFill>
                <a:srgbClr val="000000"/>
              </a:solidFill>
              <a:latin typeface="Arial"/>
              <a:ea typeface="Arial"/>
              <a:cs typeface="Arial"/>
              <a:sym typeface="Arial"/>
            </a:endParaRPr>
          </a:p>
        </p:txBody>
      </p:sp>
      <p:sp>
        <p:nvSpPr>
          <p:cNvPr id="836" name="Google Shape;836;p45"/>
          <p:cNvSpPr txBox="1"/>
          <p:nvPr/>
        </p:nvSpPr>
        <p:spPr>
          <a:xfrm>
            <a:off x="822955" y="5029200"/>
            <a:ext cx="56694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Assurer la reproductibilité</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Limiter les régressions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Tracer les versions du modèle</a:t>
            </a:r>
            <a:endParaRPr b="0" i="0" sz="1400" u="none" cap="none" strike="noStrike">
              <a:solidFill>
                <a:srgbClr val="000000"/>
              </a:solidFill>
              <a:latin typeface="Arial"/>
              <a:ea typeface="Arial"/>
              <a:cs typeface="Arial"/>
              <a:sym typeface="Arial"/>
            </a:endParaRPr>
          </a:p>
        </p:txBody>
      </p:sp>
      <p:sp>
        <p:nvSpPr>
          <p:cNvPr id="837" name="Google Shape;837;p45"/>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8" name="Google Shape;838;p45"/>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839" name="Google Shape;839;p45"/>
          <p:cNvPicPr preferRelativeResize="0"/>
          <p:nvPr/>
        </p:nvPicPr>
        <p:blipFill>
          <a:blip r:embed="rId3">
            <a:alphaModFix/>
          </a:blip>
          <a:stretch>
            <a:fillRect/>
          </a:stretch>
        </p:blipFill>
        <p:spPr>
          <a:xfrm>
            <a:off x="6644755" y="1329453"/>
            <a:ext cx="7833246" cy="557068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3" name="Shape 843"/>
        <p:cNvGrpSpPr/>
        <p:nvPr/>
      </p:nvGrpSpPr>
      <p:grpSpPr>
        <a:xfrm>
          <a:off x="0" y="0"/>
          <a:ext cx="0" cy="0"/>
          <a:chOff x="0" y="0"/>
          <a:chExt cx="0" cy="0"/>
        </a:xfrm>
      </p:grpSpPr>
      <p:sp>
        <p:nvSpPr>
          <p:cNvPr id="844" name="Google Shape;844;p46"/>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C5.3.3</a:t>
            </a:r>
            <a:endParaRPr b="0" i="0" sz="1400" u="none" cap="none" strike="noStrike">
              <a:solidFill>
                <a:srgbClr val="000000"/>
              </a:solidFill>
              <a:latin typeface="Arial"/>
              <a:ea typeface="Arial"/>
              <a:cs typeface="Arial"/>
              <a:sym typeface="Arial"/>
            </a:endParaRPr>
          </a:p>
        </p:txBody>
      </p:sp>
      <p:sp>
        <p:nvSpPr>
          <p:cNvPr id="845" name="Google Shape;845;p46"/>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Suivre la performance en production</a:t>
            </a:r>
            <a:endParaRPr b="0" i="0" sz="1400" u="none" cap="none" strike="noStrike">
              <a:solidFill>
                <a:srgbClr val="000000"/>
              </a:solidFill>
              <a:latin typeface="Arial"/>
              <a:ea typeface="Arial"/>
              <a:cs typeface="Arial"/>
              <a:sym typeface="Arial"/>
            </a:endParaRPr>
          </a:p>
        </p:txBody>
      </p:sp>
      <p:sp>
        <p:nvSpPr>
          <p:cNvPr id="846" name="Google Shape;846;p46"/>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HISTORISATION</a:t>
            </a:r>
            <a:endParaRPr b="0" i="0" sz="1800" u="none" cap="none" strike="noStrike">
              <a:solidFill>
                <a:srgbClr val="000000"/>
              </a:solidFill>
              <a:latin typeface="Arial"/>
              <a:ea typeface="Arial"/>
              <a:cs typeface="Arial"/>
              <a:sym typeface="Arial"/>
            </a:endParaRPr>
          </a:p>
        </p:txBody>
      </p:sp>
      <p:sp>
        <p:nvSpPr>
          <p:cNvPr id="847" name="Google Shape;847;p46"/>
          <p:cNvSpPr txBox="1"/>
          <p:nvPr/>
        </p:nvSpPr>
        <p:spPr>
          <a:xfrm>
            <a:off x="822950" y="2011673"/>
            <a:ext cx="4755000" cy="15546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timestamp source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timestamp prédit</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prédiction MW</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valeur réelle quand disponible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version du modèle</a:t>
            </a:r>
            <a:endParaRPr b="0" i="0" sz="1400" u="none" cap="none" strike="noStrike">
              <a:solidFill>
                <a:srgbClr val="000000"/>
              </a:solidFill>
              <a:latin typeface="Arial"/>
              <a:ea typeface="Arial"/>
              <a:cs typeface="Arial"/>
              <a:sym typeface="Arial"/>
            </a:endParaRPr>
          </a:p>
        </p:txBody>
      </p:sp>
      <p:sp>
        <p:nvSpPr>
          <p:cNvPr id="848" name="Google Shape;848;p46"/>
          <p:cNvSpPr txBox="1"/>
          <p:nvPr/>
        </p:nvSpPr>
        <p:spPr>
          <a:xfrm>
            <a:off x="68580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MÉTRIQUES RECALCULÉES</a:t>
            </a:r>
            <a:endParaRPr b="0" i="0" sz="1800" u="none" cap="none" strike="noStrike">
              <a:solidFill>
                <a:srgbClr val="000000"/>
              </a:solidFill>
              <a:latin typeface="Arial"/>
              <a:ea typeface="Arial"/>
              <a:cs typeface="Arial"/>
              <a:sym typeface="Arial"/>
            </a:endParaRPr>
          </a:p>
        </p:txBody>
      </p:sp>
      <p:sp>
        <p:nvSpPr>
          <p:cNvPr id="849" name="Google Shape;849;p46"/>
          <p:cNvSpPr txBox="1"/>
          <p:nvPr/>
        </p:nvSpPr>
        <p:spPr>
          <a:xfrm>
            <a:off x="6858000" y="2011672"/>
            <a:ext cx="47550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RMSE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R²</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fenêtre récente de prédictions</a:t>
            </a:r>
            <a:endParaRPr b="0" i="0" sz="1400" u="none" cap="none" strike="noStrike">
              <a:solidFill>
                <a:srgbClr val="000000"/>
              </a:solidFill>
              <a:latin typeface="Arial"/>
              <a:ea typeface="Arial"/>
              <a:cs typeface="Arial"/>
              <a:sym typeface="Arial"/>
            </a:endParaRPr>
          </a:p>
        </p:txBody>
      </p:sp>
      <p:sp>
        <p:nvSpPr>
          <p:cNvPr id="850" name="Google Shape;850;p46"/>
          <p:cNvSpPr/>
          <p:nvPr/>
        </p:nvSpPr>
        <p:spPr>
          <a:xfrm>
            <a:off x="929925" y="5202978"/>
            <a:ext cx="2743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&gt; +20%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alerte si MAE</a:t>
            </a:r>
            <a:endParaRPr b="0" i="0" sz="1400" u="none" cap="none" strike="noStrike">
              <a:solidFill>
                <a:srgbClr val="000000"/>
              </a:solidFill>
              <a:latin typeface="Arial"/>
              <a:ea typeface="Arial"/>
              <a:cs typeface="Arial"/>
              <a:sym typeface="Arial"/>
            </a:endParaRPr>
          </a:p>
        </p:txBody>
      </p:sp>
      <p:sp>
        <p:nvSpPr>
          <p:cNvPr id="851" name="Google Shape;851;p46"/>
          <p:cNvSpPr txBox="1"/>
          <p:nvPr/>
        </p:nvSpPr>
        <p:spPr>
          <a:xfrm>
            <a:off x="4297650" y="5147200"/>
            <a:ext cx="8229600" cy="140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Le monitoring réalisé sur MLFlow compare la performance récente à la MAE de référence du modèle.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Une alerte indique une possible dégradation nécessitant analyse ou réentraînement.</a:t>
            </a:r>
            <a:endParaRPr b="0" i="0" sz="1800" u="none" cap="none" strike="noStrike">
              <a:solidFill>
                <a:srgbClr val="12202F"/>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1800"/>
              <a:buFont typeface="Arial"/>
              <a:buNone/>
            </a:pPr>
            <a:r>
              <a:rPr lang="en-US" sz="1800">
                <a:solidFill>
                  <a:srgbClr val="12202F"/>
                </a:solidFill>
                <a:latin typeface="Calibri"/>
                <a:ea typeface="Calibri"/>
                <a:cs typeface="Calibri"/>
                <a:sym typeface="Calibri"/>
              </a:rPr>
              <a:t>Erreurs exportées dans predictions_2025.csv</a:t>
            </a:r>
            <a:endParaRPr sz="1800">
              <a:solidFill>
                <a:srgbClr val="12202F"/>
              </a:solidFill>
              <a:latin typeface="Calibri"/>
              <a:ea typeface="Calibri"/>
              <a:cs typeface="Calibri"/>
              <a:sym typeface="Calibri"/>
            </a:endParaRPr>
          </a:p>
        </p:txBody>
      </p:sp>
      <p:sp>
        <p:nvSpPr>
          <p:cNvPr id="852" name="Google Shape;852;p46"/>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46"/>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7" name="Shape 857"/>
        <p:cNvGrpSpPr/>
        <p:nvPr/>
      </p:nvGrpSpPr>
      <p:grpSpPr>
        <a:xfrm>
          <a:off x="0" y="0"/>
          <a:ext cx="0" cy="0"/>
          <a:chOff x="0" y="0"/>
          <a:chExt cx="0" cy="0"/>
        </a:xfrm>
      </p:grpSpPr>
      <p:sp>
        <p:nvSpPr>
          <p:cNvPr id="858" name="Google Shape;858;p47"/>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C5.3.4</a:t>
            </a:r>
            <a:endParaRPr b="0" i="0" sz="1400" u="none" cap="none" strike="noStrike">
              <a:solidFill>
                <a:srgbClr val="000000"/>
              </a:solidFill>
              <a:latin typeface="Arial"/>
              <a:ea typeface="Arial"/>
              <a:cs typeface="Arial"/>
              <a:sym typeface="Arial"/>
            </a:endParaRPr>
          </a:p>
        </p:txBody>
      </p:sp>
      <p:sp>
        <p:nvSpPr>
          <p:cNvPr id="859" name="Google Shape;859;p47"/>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Collecter, historiser et réentraîner</a:t>
            </a:r>
            <a:endParaRPr b="0" i="0" sz="1400" u="none" cap="none" strike="noStrike">
              <a:solidFill>
                <a:srgbClr val="000000"/>
              </a:solidFill>
              <a:latin typeface="Arial"/>
              <a:ea typeface="Arial"/>
              <a:cs typeface="Arial"/>
              <a:sym typeface="Arial"/>
            </a:endParaRPr>
          </a:p>
        </p:txBody>
      </p:sp>
      <p:sp>
        <p:nvSpPr>
          <p:cNvPr id="860" name="Google Shape;860;p47"/>
          <p:cNvSpPr/>
          <p:nvPr/>
        </p:nvSpPr>
        <p:spPr>
          <a:xfrm>
            <a:off x="845817"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Nouvelles</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données</a:t>
            </a:r>
            <a:endParaRPr b="0" i="0" sz="1400" u="none" cap="none" strike="noStrike">
              <a:solidFill>
                <a:srgbClr val="000000"/>
              </a:solidFill>
              <a:latin typeface="Arial"/>
              <a:ea typeface="Arial"/>
              <a:cs typeface="Arial"/>
              <a:sym typeface="Arial"/>
            </a:endParaRPr>
          </a:p>
        </p:txBody>
      </p:sp>
      <p:cxnSp>
        <p:nvCxnSpPr>
          <p:cNvPr id="861" name="Google Shape;861;p47"/>
          <p:cNvCxnSpPr/>
          <p:nvPr/>
        </p:nvCxnSpPr>
        <p:spPr>
          <a:xfrm>
            <a:off x="261061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862" name="Google Shape;862;p47"/>
          <p:cNvSpPr/>
          <p:nvPr/>
        </p:nvSpPr>
        <p:spPr>
          <a:xfrm>
            <a:off x="308609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Monitoring</a:t>
            </a:r>
            <a:endParaRPr b="0" i="0" sz="1400" u="none" cap="none" strike="noStrike">
              <a:solidFill>
                <a:srgbClr val="000000"/>
              </a:solidFill>
              <a:latin typeface="Arial"/>
              <a:ea typeface="Arial"/>
              <a:cs typeface="Arial"/>
              <a:sym typeface="Arial"/>
            </a:endParaRPr>
          </a:p>
        </p:txBody>
      </p:sp>
      <p:cxnSp>
        <p:nvCxnSpPr>
          <p:cNvPr id="863" name="Google Shape;863;p47"/>
          <p:cNvCxnSpPr/>
          <p:nvPr/>
        </p:nvCxnSpPr>
        <p:spPr>
          <a:xfrm>
            <a:off x="485089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864" name="Google Shape;864;p47"/>
          <p:cNvSpPr/>
          <p:nvPr/>
        </p:nvSpPr>
        <p:spPr>
          <a:xfrm>
            <a:off x="532637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Réentraînement</a:t>
            </a:r>
            <a:endParaRPr b="0" i="0" sz="1400" u="none" cap="none" strike="noStrike">
              <a:solidFill>
                <a:srgbClr val="000000"/>
              </a:solidFill>
              <a:latin typeface="Arial"/>
              <a:ea typeface="Arial"/>
              <a:cs typeface="Arial"/>
              <a:sym typeface="Arial"/>
            </a:endParaRPr>
          </a:p>
        </p:txBody>
      </p:sp>
      <p:cxnSp>
        <p:nvCxnSpPr>
          <p:cNvPr id="865" name="Google Shape;865;p47"/>
          <p:cNvCxnSpPr/>
          <p:nvPr/>
        </p:nvCxnSpPr>
        <p:spPr>
          <a:xfrm>
            <a:off x="709117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866" name="Google Shape;866;p47"/>
          <p:cNvSpPr/>
          <p:nvPr/>
        </p:nvSpPr>
        <p:spPr>
          <a:xfrm>
            <a:off x="756665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Modèle</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candidat</a:t>
            </a:r>
            <a:endParaRPr b="0" i="0" sz="1400" u="none" cap="none" strike="noStrike">
              <a:solidFill>
                <a:srgbClr val="000000"/>
              </a:solidFill>
              <a:latin typeface="Arial"/>
              <a:ea typeface="Arial"/>
              <a:cs typeface="Arial"/>
              <a:sym typeface="Arial"/>
            </a:endParaRPr>
          </a:p>
        </p:txBody>
      </p:sp>
      <p:cxnSp>
        <p:nvCxnSpPr>
          <p:cNvPr id="867" name="Google Shape;867;p47"/>
          <p:cNvCxnSpPr/>
          <p:nvPr/>
        </p:nvCxnSpPr>
        <p:spPr>
          <a:xfrm>
            <a:off x="933145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868" name="Google Shape;868;p47"/>
          <p:cNvSpPr/>
          <p:nvPr/>
        </p:nvSpPr>
        <p:spPr>
          <a:xfrm>
            <a:off x="980693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MLflow</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Registry</a:t>
            </a:r>
            <a:endParaRPr b="0" i="0" sz="1400" u="none" cap="none" strike="noStrike">
              <a:solidFill>
                <a:srgbClr val="000000"/>
              </a:solidFill>
              <a:latin typeface="Arial"/>
              <a:ea typeface="Arial"/>
              <a:cs typeface="Arial"/>
              <a:sym typeface="Arial"/>
            </a:endParaRPr>
          </a:p>
        </p:txBody>
      </p:sp>
      <p:cxnSp>
        <p:nvCxnSpPr>
          <p:cNvPr id="869" name="Google Shape;869;p47"/>
          <p:cNvCxnSpPr/>
          <p:nvPr/>
        </p:nvCxnSpPr>
        <p:spPr>
          <a:xfrm>
            <a:off x="1157173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870" name="Google Shape;870;p47"/>
          <p:cNvSpPr/>
          <p:nvPr/>
        </p:nvSpPr>
        <p:spPr>
          <a:xfrm>
            <a:off x="1204721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Promotion</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possible</a:t>
            </a:r>
            <a:endParaRPr b="0" i="0" sz="1400" u="none" cap="none" strike="noStrike">
              <a:solidFill>
                <a:srgbClr val="000000"/>
              </a:solidFill>
              <a:latin typeface="Arial"/>
              <a:ea typeface="Arial"/>
              <a:cs typeface="Arial"/>
              <a:sym typeface="Arial"/>
            </a:endParaRPr>
          </a:p>
        </p:txBody>
      </p:sp>
      <p:sp>
        <p:nvSpPr>
          <p:cNvPr id="871" name="Google Shape;871;p47"/>
          <p:cNvSpPr txBox="1"/>
          <p:nvPr/>
        </p:nvSpPr>
        <p:spPr>
          <a:xfrm>
            <a:off x="822960" y="46634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PRINCIPE</a:t>
            </a:r>
            <a:endParaRPr b="0" i="0" sz="1800" u="none" cap="none" strike="noStrike">
              <a:solidFill>
                <a:srgbClr val="000000"/>
              </a:solidFill>
              <a:latin typeface="Arial"/>
              <a:ea typeface="Arial"/>
              <a:cs typeface="Arial"/>
              <a:sym typeface="Arial"/>
            </a:endParaRPr>
          </a:p>
        </p:txBody>
      </p:sp>
      <p:sp>
        <p:nvSpPr>
          <p:cNvPr id="872" name="Google Shape;872;p47"/>
          <p:cNvSpPr txBox="1"/>
          <p:nvPr/>
        </p:nvSpPr>
        <p:spPr>
          <a:xfrm>
            <a:off x="822960" y="5029200"/>
            <a:ext cx="120702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Les prédictions et valeurs réelles alimentent l’historique.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Un modèle candidat est réentraîné sur données récentes.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La promotion n’est envisagée qu’après comparaison avec le champion.</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Données rafraîchies quotidiennement et check hebdomadaire pour vérifier si un drift est en train de se créer.</a:t>
            </a:r>
            <a:endParaRPr b="0" i="0" sz="2000" u="none" cap="none" strike="noStrike">
              <a:solidFill>
                <a:srgbClr val="12202F"/>
              </a:solidFill>
              <a:latin typeface="Calibri"/>
              <a:ea typeface="Calibri"/>
              <a:cs typeface="Calibri"/>
              <a:sym typeface="Calibri"/>
            </a:endParaRPr>
          </a:p>
        </p:txBody>
      </p:sp>
      <p:sp>
        <p:nvSpPr>
          <p:cNvPr id="873" name="Google Shape;873;p47"/>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4" name="Google Shape;874;p47"/>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8" name="Shape 878"/>
        <p:cNvGrpSpPr/>
        <p:nvPr/>
      </p:nvGrpSpPr>
      <p:grpSpPr>
        <a:xfrm>
          <a:off x="0" y="0"/>
          <a:ext cx="0" cy="0"/>
          <a:chOff x="0" y="0"/>
          <a:chExt cx="0" cy="0"/>
        </a:xfrm>
      </p:grpSpPr>
      <p:sp>
        <p:nvSpPr>
          <p:cNvPr id="879" name="Google Shape;879;p48"/>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Conclusion</a:t>
            </a:r>
            <a:endParaRPr b="0" i="0" sz="1400" u="none" cap="none" strike="noStrike">
              <a:solidFill>
                <a:srgbClr val="000000"/>
              </a:solidFill>
              <a:latin typeface="Arial"/>
              <a:ea typeface="Arial"/>
              <a:cs typeface="Arial"/>
              <a:sym typeface="Arial"/>
            </a:endParaRPr>
          </a:p>
        </p:txBody>
      </p:sp>
      <p:sp>
        <p:nvSpPr>
          <p:cNvPr id="880" name="Google Shape;880;p48"/>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Bilan et perspectives</a:t>
            </a:r>
            <a:endParaRPr b="0" i="0" sz="1400" u="none" cap="none" strike="noStrike">
              <a:solidFill>
                <a:srgbClr val="000000"/>
              </a:solidFill>
              <a:latin typeface="Arial"/>
              <a:ea typeface="Arial"/>
              <a:cs typeface="Arial"/>
              <a:sym typeface="Arial"/>
            </a:endParaRPr>
          </a:p>
        </p:txBody>
      </p:sp>
      <p:sp>
        <p:nvSpPr>
          <p:cNvPr id="881" name="Google Shape;881;p48"/>
          <p:cNvSpPr txBox="1"/>
          <p:nvPr/>
        </p:nvSpPr>
        <p:spPr>
          <a:xfrm>
            <a:off x="82296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BILAN</a:t>
            </a:r>
            <a:endParaRPr b="0" i="0" sz="1800" u="none" cap="none" strike="noStrike">
              <a:solidFill>
                <a:srgbClr val="000000"/>
              </a:solidFill>
              <a:latin typeface="Arial"/>
              <a:ea typeface="Arial"/>
              <a:cs typeface="Arial"/>
              <a:sym typeface="Arial"/>
            </a:endParaRPr>
          </a:p>
        </p:txBody>
      </p:sp>
      <p:sp>
        <p:nvSpPr>
          <p:cNvPr id="882" name="Google Shape;882;p48"/>
          <p:cNvSpPr txBox="1"/>
          <p:nvPr/>
        </p:nvSpPr>
        <p:spPr>
          <a:xfrm>
            <a:off x="822950" y="2103127"/>
            <a:ext cx="5943600" cy="16317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Chaîne H+24 avec météo parfaite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MAE : −3</a:t>
            </a:r>
            <a:r>
              <a:rPr lang="en-US" sz="2000">
                <a:solidFill>
                  <a:srgbClr val="12202F"/>
                </a:solidFill>
                <a:latin typeface="Calibri"/>
                <a:ea typeface="Calibri"/>
                <a:cs typeface="Calibri"/>
                <a:sym typeface="Calibri"/>
              </a:rPr>
              <a:t>8</a:t>
            </a:r>
            <a:r>
              <a:rPr b="0" i="0" lang="en-US" sz="2000" u="none" cap="none" strike="noStrike">
                <a:solidFill>
                  <a:srgbClr val="12202F"/>
                </a:solidFill>
                <a:latin typeface="Calibri"/>
                <a:ea typeface="Calibri"/>
                <a:cs typeface="Calibri"/>
                <a:sym typeface="Calibri"/>
              </a:rPr>
              <a:t> % vs baseline ; −22 % vs HGB</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MAE 161,8 MW ; 3,43 % de la conso moyenne</a:t>
            </a:r>
            <a:endParaRPr b="0" i="0" sz="2000" u="none" cap="none" strike="noStrike">
              <a:solidFill>
                <a:srgbClr val="12202F"/>
              </a:solidFill>
              <a:latin typeface="Calibri"/>
              <a:ea typeface="Calibri"/>
              <a:cs typeface="Calibri"/>
              <a:sym typeface="Calibri"/>
            </a:endParaRPr>
          </a:p>
          <a:p>
            <a:pPr indent="-355600" lvl="0" marL="457200" rtl="0" algn="l">
              <a:spcBef>
                <a:spcPts val="0"/>
              </a:spcBef>
              <a:spcAft>
                <a:spcPts val="0"/>
              </a:spcAft>
              <a:buClr>
                <a:srgbClr val="12202F"/>
              </a:buClr>
              <a:buSzPts val="2000"/>
              <a:buFont typeface="Calibri"/>
              <a:buChar char="●"/>
            </a:pPr>
            <a:r>
              <a:rPr lang="en-US" sz="2000">
                <a:solidFill>
                  <a:srgbClr val="12202F"/>
                </a:solidFill>
                <a:latin typeface="Calibri"/>
                <a:ea typeface="Calibri"/>
                <a:cs typeface="Calibri"/>
                <a:sym typeface="Calibri"/>
              </a:rPr>
              <a:t>Chaîne ML traçable : modèle, métriques, tests, monitoring</a:t>
            </a:r>
            <a:endParaRPr sz="2000">
              <a:solidFill>
                <a:srgbClr val="12202F"/>
              </a:solidFill>
              <a:latin typeface="Calibri"/>
              <a:ea typeface="Calibri"/>
              <a:cs typeface="Calibri"/>
              <a:sym typeface="Calibri"/>
            </a:endParaRPr>
          </a:p>
        </p:txBody>
      </p:sp>
      <p:sp>
        <p:nvSpPr>
          <p:cNvPr id="883" name="Google Shape;883;p48"/>
          <p:cNvSpPr txBox="1"/>
          <p:nvPr/>
        </p:nvSpPr>
        <p:spPr>
          <a:xfrm>
            <a:off x="731520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LIMITES</a:t>
            </a:r>
            <a:endParaRPr b="0" i="0" sz="1800" u="none" cap="none" strike="noStrike">
              <a:solidFill>
                <a:srgbClr val="000000"/>
              </a:solidFill>
              <a:latin typeface="Arial"/>
              <a:ea typeface="Arial"/>
              <a:cs typeface="Arial"/>
              <a:sym typeface="Arial"/>
            </a:endParaRPr>
          </a:p>
        </p:txBody>
      </p:sp>
      <p:sp>
        <p:nvSpPr>
          <p:cNvPr id="884" name="Google Shape;884;p48"/>
          <p:cNvSpPr txBox="1"/>
          <p:nvPr/>
        </p:nvSpPr>
        <p:spPr>
          <a:xfrm>
            <a:off x="7315200" y="2103127"/>
            <a:ext cx="56694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Performance plus faible pendant les pics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Météo intégrée en expérimentation ; jours fériés non intégrés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Oracle rétrospectif ; production à adapter</a:t>
            </a:r>
            <a:endParaRPr b="0" i="0" sz="1400" u="none" cap="none" strike="noStrike">
              <a:solidFill>
                <a:srgbClr val="000000"/>
              </a:solidFill>
              <a:latin typeface="Arial"/>
              <a:ea typeface="Arial"/>
              <a:cs typeface="Arial"/>
              <a:sym typeface="Arial"/>
            </a:endParaRPr>
          </a:p>
        </p:txBody>
      </p:sp>
      <p:sp>
        <p:nvSpPr>
          <p:cNvPr id="885" name="Google Shape;885;p48"/>
          <p:cNvSpPr txBox="1"/>
          <p:nvPr/>
        </p:nvSpPr>
        <p:spPr>
          <a:xfrm>
            <a:off x="822960" y="457200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PERSPECTIVES</a:t>
            </a:r>
            <a:endParaRPr b="0" i="0" sz="1800" u="none" cap="none" strike="noStrike">
              <a:solidFill>
                <a:srgbClr val="000000"/>
              </a:solidFill>
              <a:latin typeface="Arial"/>
              <a:ea typeface="Arial"/>
              <a:cs typeface="Arial"/>
              <a:sym typeface="Arial"/>
            </a:endParaRPr>
          </a:p>
        </p:txBody>
      </p:sp>
      <p:sp>
        <p:nvSpPr>
          <p:cNvPr id="886" name="Google Shape;886;p48"/>
          <p:cNvSpPr txBox="1"/>
          <p:nvPr/>
        </p:nvSpPr>
        <p:spPr>
          <a:xfrm>
            <a:off x="822950" y="4937746"/>
            <a:ext cx="11887200" cy="16317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Remplacer l'oracle météo par des prévisions archivées à J+1</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Déployer une API de prédiction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Automatiser davantage la promotion des modèles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Surveiller le data drift</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Découper la prédiction en prédisant un tableau de types d’énergies consommées à J+1 dans chaque région</a:t>
            </a:r>
            <a:endParaRPr b="0" i="0" sz="2000" u="none" cap="none" strike="noStrike">
              <a:solidFill>
                <a:srgbClr val="12202F"/>
              </a:solidFill>
              <a:latin typeface="Calibri"/>
              <a:ea typeface="Calibri"/>
              <a:cs typeface="Calibri"/>
              <a:sym typeface="Calibri"/>
            </a:endParaRPr>
          </a:p>
        </p:txBody>
      </p:sp>
      <p:sp>
        <p:nvSpPr>
          <p:cNvPr id="887" name="Google Shape;887;p48"/>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8" name="Google Shape;888;p48"/>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FFFFF"/>
        </a:solidFill>
      </p:bgPr>
    </p:bg>
    <p:spTree>
      <p:nvGrpSpPr>
        <p:cNvPr id="1" name=""/>
        <p:cNvGrpSpPr/>
        <p:nvPr/>
      </p:nvGrpSpPr>
      <p:grpSpPr/>
      <p:sp>
        <p:nvSpPr>
          <p:cNvPr id="2" name="Evidence 2"/>
          <p:cNvSpPr txBox="1"/>
          <p:nvPr/>
        </p:nvSpPr>
        <p:spPr>
          <a:xfrm>
            <a:off x="731520" y="411480"/>
            <a:ext cx="10241280" cy="987552"/>
          </a:xfrm>
          <a:prstGeom prst="rect">
            <a:avLst/>
          </a:prstGeom>
          <a:noFill/>
          <a:ln>
            <a:noFill/>
          </a:ln>
        </p:spPr>
        <p:txBody>
          <a:bodyPr wrap="square" lIns="150000" rIns="150000" tIns="100000" bIns="100000">
            <a:normAutofit/>
          </a:bodyPr>
          <a:lstStyle/>
          <a:p>
            <a:pPr>
              <a:spcAft>
                <a:spcPts val="1600"/>
              </a:spcAft>
            </a:pPr>
            <a:r>
              <a:rPr lang="fr-FR" sz="3000" b="1">
                <a:solidFill>
                  <a:srgbClr val="12202F"/>
                </a:solidFill>
                <a:latin typeface="Calibri"/>
              </a:rPr>
              <a:t>Preuve — un modèle sauvegardé et identifiable</a:t>
            </a:r>
          </a:p>
        </p:txBody>
      </p:sp>
      <p:sp>
        <p:nvSpPr>
          <p:cNvPr id="3" name="Evidence 3"/>
          <p:cNvSpPr txBox="1"/>
          <p:nvPr/>
        </p:nvSpPr>
        <p:spPr>
          <a:xfrm>
            <a:off x="11411712" y="329184"/>
            <a:ext cx="2779776" cy="493776"/>
          </a:xfrm>
          <a:prstGeom prst="rect">
            <a:avLst/>
          </a:prstGeom>
          <a:solidFill>
            <a:srgbClr val="F5F8FC"/>
          </a:solidFill>
          <a:ln>
            <a:noFill/>
          </a:ln>
        </p:spPr>
        <p:txBody>
          <a:bodyPr wrap="square" lIns="150000" rIns="150000" tIns="100000" bIns="100000">
            <a:normAutofit/>
          </a:bodyPr>
          <a:lstStyle/>
          <a:p>
            <a:pPr>
              <a:spcAft>
                <a:spcPts val="1600"/>
              </a:spcAft>
            </a:pPr>
            <a:r>
              <a:rPr lang="fr-FR" sz="1200" b="1">
                <a:solidFill>
                  <a:srgbClr val="2F61B8"/>
                </a:solidFill>
                <a:latin typeface="Calibri"/>
              </a:rPr>
              <a:t>Bloc 5 — C5.3.1</a:t>
            </a:r>
          </a:p>
        </p:txBody>
      </p:sp>
      <p:sp>
        <p:nvSpPr>
          <p:cNvPr id="10" name="Evidence 10"/>
          <p:cNvSpPr txBox="1"/>
          <p:nvPr/>
        </p:nvSpPr>
        <p:spPr>
          <a:xfrm>
            <a:off x="804672"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ARTEFACTS PRODUITS</a:t>
            </a:r>
          </a:p>
        </p:txBody>
      </p:sp>
      <p:sp>
        <p:nvSpPr>
          <p:cNvPr id="11" name="Evidence 11"/>
          <p:cNvSpPr txBox="1"/>
          <p:nvPr/>
        </p:nvSpPr>
        <p:spPr>
          <a:xfrm>
            <a:off x="804672"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model.joblib : estimateur HGB entraîné</a:t>
            </a:r>
          </a:p>
          <a:p>
            <a:pPr>
              <a:spcAft>
                <a:spcPts val="1600"/>
              </a:spcAft>
            </a:pPr>
            <a:r>
              <a:rPr lang="fr-FR" sz="2100" b="0">
                <a:solidFill>
                  <a:srgbClr val="12202F"/>
                </a:solidFill>
                <a:latin typeface="Calibri"/>
              </a:rPr>
              <a:t>metadata.json : version 2.0.0-oracle</a:t>
            </a:r>
          </a:p>
          <a:p>
            <a:pPr>
              <a:spcAft>
                <a:spcPts val="1600"/>
              </a:spcAft>
            </a:pPr>
            <a:r>
              <a:rPr lang="fr-FR" sz="2100" b="0">
                <a:solidFill>
                  <a:srgbClr val="12202F"/>
                </a:solidFill>
                <a:latin typeface="Calibri"/>
              </a:rPr>
              <a:t>13 variables : 10 historiques + 3 météo</a:t>
            </a:r>
          </a:p>
          <a:p>
            <a:pPr>
              <a:spcAft>
                <a:spcPts val="1600"/>
              </a:spcAft>
            </a:pPr>
            <a:r>
              <a:rPr lang="fr-FR" sz="2100" b="0">
                <a:solidFill>
                  <a:srgbClr val="12202F"/>
                </a:solidFill>
                <a:latin typeface="Calibri"/>
              </a:rPr>
              <a:t>Dossier : artifacts/oracle_pipeline/</a:t>
            </a:r>
          </a:p>
        </p:txBody>
      </p:sp>
      <p:sp>
        <p:nvSpPr>
          <p:cNvPr id="12" name="Evidence 12"/>
          <p:cNvSpPr txBox="1"/>
          <p:nvPr/>
        </p:nvSpPr>
        <p:spPr>
          <a:xfrm>
            <a:off x="7534656"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CONTRAT DE RÉUTILISATION</a:t>
            </a:r>
          </a:p>
        </p:txBody>
      </p:sp>
      <p:sp>
        <p:nvSpPr>
          <p:cNvPr id="13" name="Evidence 13"/>
          <p:cNvSpPr txBox="1"/>
          <p:nvPr/>
        </p:nvSpPr>
        <p:spPr>
          <a:xfrm>
            <a:off x="7534656"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Horizon : t + 24 h ; région : Nouvelle-Aquitaine</a:t>
            </a:r>
          </a:p>
          <a:p>
            <a:pPr>
              <a:spcAft>
                <a:spcPts val="1600"/>
              </a:spcAft>
            </a:pPr>
            <a:r>
              <a:rPr lang="fr-FR" sz="2100" b="0">
                <a:solidFill>
                  <a:srgbClr val="12202F"/>
                </a:solidFill>
                <a:latin typeface="Calibri"/>
              </a:rPr>
              <a:t>Ordre des variables fourni par le JSON</a:t>
            </a:r>
          </a:p>
          <a:p>
            <a:pPr>
              <a:spcAft>
                <a:spcPts val="1600"/>
              </a:spcAft>
            </a:pPr>
            <a:r>
              <a:rPr lang="fr-FR" sz="2100" b="0">
                <a:solidFill>
                  <a:srgbClr val="12202F"/>
                </a:solidFill>
                <a:latin typeface="Calibri"/>
              </a:rPr>
              <a:t>experimental_oracle : true</a:t>
            </a:r>
          </a:p>
          <a:p>
            <a:pPr>
              <a:spcAft>
                <a:spcPts val="1600"/>
              </a:spcAft>
            </a:pPr>
            <a:r>
              <a:rPr lang="fr-FR" sz="2100" b="0">
                <a:solidFill>
                  <a:srgbClr val="12202F"/>
                </a:solidFill>
                <a:latin typeface="Calibri"/>
              </a:rPr>
              <a:t>Météo observée du jour cible obligatoire</a:t>
            </a:r>
          </a:p>
        </p:txBody>
      </p:sp>
      <p:sp>
        <p:nvSpPr>
          <p:cNvPr id="20" name="Evidence 20"/>
          <p:cNvSpPr txBox="1"/>
          <p:nvPr/>
        </p:nvSpPr>
        <p:spPr>
          <a:xfrm>
            <a:off x="804672" y="6583680"/>
            <a:ext cx="13167360" cy="822960"/>
          </a:xfrm>
          <a:prstGeom prst="rect">
            <a:avLst/>
          </a:prstGeom>
          <a:noFill/>
          <a:ln>
            <a:noFill/>
          </a:ln>
        </p:spPr>
        <p:txBody>
          <a:bodyPr wrap="square" lIns="150000" rIns="150000" tIns="100000" bIns="100000">
            <a:normAutofit/>
          </a:bodyPr>
          <a:lstStyle/>
          <a:p>
            <a:pPr>
              <a:spcAft>
                <a:spcPts val="1600"/>
              </a:spcAft>
            </a:pPr>
            <a:r>
              <a:rPr lang="fr-FR" sz="1500" b="0">
                <a:solidFill>
                  <a:srgbClr val="2F61B8"/>
                </a:solidFill>
                <a:latin typeface="Calibri"/>
              </a:rPr>
              <a:t>Empreinte SHA-256 du modèle : 4e3841dfa1e7086ced50fb3222d99ea6…</a:t>
            </a:r>
          </a:p>
        </p:txBody>
      </p:sp>
      <p:sp>
        <p:nvSpPr>
          <p:cNvPr id="21" name="Evidence 21"/>
          <p:cNvSpPr txBox="1"/>
          <p:nvPr/>
        </p:nvSpPr>
        <p:spPr>
          <a:xfrm>
            <a:off x="804672" y="7735824"/>
            <a:ext cx="13167360" cy="329184"/>
          </a:xfrm>
          <a:prstGeom prst="rect">
            <a:avLst/>
          </a:prstGeom>
          <a:noFill/>
          <a:ln>
            <a:noFill/>
          </a:ln>
        </p:spPr>
        <p:txBody>
          <a:bodyPr wrap="square" lIns="150000" rIns="150000" tIns="100000" bIns="100000">
            <a:normAutofit/>
          </a:bodyPr>
          <a:lstStyle/>
          <a:p>
            <a:pPr>
              <a:spcAft>
                <a:spcPts val="1600"/>
              </a:spcAft>
            </a:pPr>
            <a:r>
              <a:rPr lang="fr-FR" sz="1000" b="0">
                <a:solidFill>
                  <a:srgbClr val="666666"/>
                </a:solidFill>
                <a:latin typeface="Calibri"/>
              </a:rPr>
              <a:t>RNCP39586 — Bloc 5 — Apprentissage automatique</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FFFFF"/>
        </a:solidFill>
      </p:bgPr>
    </p:bg>
    <p:spTree>
      <p:nvGrpSpPr>
        <p:cNvPr id="1" name=""/>
        <p:cNvGrpSpPr/>
        <p:nvPr/>
      </p:nvGrpSpPr>
      <p:grpSpPr/>
      <p:sp>
        <p:nvSpPr>
          <p:cNvPr id="2" name="Evidence 2"/>
          <p:cNvSpPr txBox="1"/>
          <p:nvPr/>
        </p:nvSpPr>
        <p:spPr>
          <a:xfrm>
            <a:off x="731520" y="411480"/>
            <a:ext cx="10241280" cy="987552"/>
          </a:xfrm>
          <a:prstGeom prst="rect">
            <a:avLst/>
          </a:prstGeom>
          <a:noFill/>
          <a:ln>
            <a:noFill/>
          </a:ln>
        </p:spPr>
        <p:txBody>
          <a:bodyPr wrap="square" lIns="150000" rIns="150000" tIns="100000" bIns="100000">
            <a:normAutofit/>
          </a:bodyPr>
          <a:lstStyle/>
          <a:p>
            <a:pPr>
              <a:spcAft>
                <a:spcPts val="1600"/>
              </a:spcAft>
            </a:pPr>
            <a:r>
              <a:rPr lang="fr-FR" sz="3000" b="1">
                <a:solidFill>
                  <a:srgbClr val="12202F"/>
                </a:solidFill>
                <a:latin typeface="Calibri"/>
              </a:rPr>
              <a:t>Preuve — prédire après rechargement Joblib</a:t>
            </a:r>
          </a:p>
        </p:txBody>
      </p:sp>
      <p:sp>
        <p:nvSpPr>
          <p:cNvPr id="3" name="Evidence 3"/>
          <p:cNvSpPr txBox="1"/>
          <p:nvPr/>
        </p:nvSpPr>
        <p:spPr>
          <a:xfrm>
            <a:off x="11411712" y="329184"/>
            <a:ext cx="2779776" cy="493776"/>
          </a:xfrm>
          <a:prstGeom prst="rect">
            <a:avLst/>
          </a:prstGeom>
          <a:solidFill>
            <a:srgbClr val="F5F8FC"/>
          </a:solidFill>
          <a:ln>
            <a:noFill/>
          </a:ln>
        </p:spPr>
        <p:txBody>
          <a:bodyPr wrap="square" lIns="150000" rIns="150000" tIns="100000" bIns="100000">
            <a:normAutofit/>
          </a:bodyPr>
          <a:lstStyle/>
          <a:p>
            <a:pPr>
              <a:spcAft>
                <a:spcPts val="1600"/>
              </a:spcAft>
            </a:pPr>
            <a:r>
              <a:rPr lang="fr-FR" sz="1200" b="1">
                <a:solidFill>
                  <a:srgbClr val="2F61B8"/>
                </a:solidFill>
                <a:latin typeface="Calibri"/>
              </a:rPr>
              <a:t>Bloc 5 — C5.3.1</a:t>
            </a:r>
          </a:p>
        </p:txBody>
      </p:sp>
      <p:sp>
        <p:nvSpPr>
          <p:cNvPr id="10" name="Evidence 10"/>
          <p:cNvSpPr txBox="1"/>
          <p:nvPr/>
        </p:nvSpPr>
        <p:spPr>
          <a:xfrm>
            <a:off x="804672"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SÉQUENCE EXÉCUTÉE</a:t>
            </a:r>
          </a:p>
        </p:txBody>
      </p:sp>
      <p:sp>
        <p:nvSpPr>
          <p:cNvPr id="11" name="Evidence 11"/>
          <p:cNvSpPr txBox="1"/>
          <p:nvPr/>
        </p:nvSpPr>
        <p:spPr>
          <a:xfrm>
            <a:off x="804672"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1. Sauvegarder avec joblib.dump</a:t>
            </a:r>
          </a:p>
          <a:p>
            <a:pPr>
              <a:spcAft>
                <a:spcPts val="1600"/>
              </a:spcAft>
            </a:pPr>
            <a:r>
              <a:rPr lang="fr-FR" sz="2100" b="0">
                <a:solidFill>
                  <a:srgbClr val="12202F"/>
                </a:solidFill>
                <a:latin typeface="Calibri"/>
              </a:rPr>
              <a:t>2. Recharger avec joblib.load</a:t>
            </a:r>
          </a:p>
          <a:p>
            <a:pPr>
              <a:spcAft>
                <a:spcPts val="1600"/>
              </a:spcAft>
            </a:pPr>
            <a:r>
              <a:rPr lang="fr-FR" sz="2100" b="0">
                <a:solidFill>
                  <a:srgbClr val="12202F"/>
                </a:solidFill>
                <a:latin typeface="Calibri"/>
              </a:rPr>
              <a:t>3. Reconstruire les 13 variables</a:t>
            </a:r>
          </a:p>
          <a:p>
            <a:pPr>
              <a:spcAft>
                <a:spcPts val="1600"/>
              </a:spcAft>
            </a:pPr>
            <a:r>
              <a:rPr lang="fr-FR" sz="2100" b="0">
                <a:solidFill>
                  <a:srgbClr val="12202F"/>
                </a:solidFill>
                <a:latin typeface="Calibri"/>
              </a:rPr>
              <a:t>4. Exécuter model.predict hors notebook</a:t>
            </a:r>
          </a:p>
        </p:txBody>
      </p:sp>
      <p:sp>
        <p:nvSpPr>
          <p:cNvPr id="12" name="Evidence 12"/>
          <p:cNvSpPr txBox="1"/>
          <p:nvPr/>
        </p:nvSpPr>
        <p:spPr>
          <a:xfrm>
            <a:off x="7534656"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EXEMPLE EXPORTÉ — TEST 2025</a:t>
            </a:r>
          </a:p>
        </p:txBody>
      </p:sp>
      <p:sp>
        <p:nvSpPr>
          <p:cNvPr id="13" name="Evidence 13"/>
          <p:cNvSpPr txBox="1"/>
          <p:nvPr/>
        </p:nvSpPr>
        <p:spPr>
          <a:xfrm>
            <a:off x="7534656"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Source : 30/12/2025 à 22:30 UTC</a:t>
            </a:r>
          </a:p>
          <a:p>
            <a:pPr>
              <a:spcAft>
                <a:spcPts val="1600"/>
              </a:spcAft>
            </a:pPr>
            <a:r>
              <a:rPr lang="fr-FR" sz="2100" b="0">
                <a:solidFill>
                  <a:srgbClr val="12202F"/>
                </a:solidFill>
                <a:latin typeface="Calibri"/>
              </a:rPr>
              <a:t>Cible : 31/12/2025 à 22:30 UTC</a:t>
            </a:r>
          </a:p>
          <a:p>
            <a:pPr>
              <a:spcAft>
                <a:spcPts val="1600"/>
              </a:spcAft>
            </a:pPr>
            <a:r>
              <a:rPr lang="fr-FR" sz="2100" b="0">
                <a:solidFill>
                  <a:srgbClr val="12202F"/>
                </a:solidFill>
                <a:latin typeface="Calibri"/>
              </a:rPr>
              <a:t>Prédiction : 7190.88 MW</a:t>
            </a:r>
          </a:p>
          <a:p>
            <a:pPr>
              <a:spcAft>
                <a:spcPts val="1600"/>
              </a:spcAft>
            </a:pPr>
            <a:r>
              <a:rPr lang="fr-FR" sz="2100" b="0">
                <a:solidFill>
                  <a:srgbClr val="12202F"/>
                </a:solidFill>
                <a:latin typeface="Calibri"/>
              </a:rPr>
              <a:t>Réel : 7196.00 MW ; écart : 5.12 MW</a:t>
            </a:r>
          </a:p>
        </p:txBody>
      </p:sp>
      <p:sp>
        <p:nvSpPr>
          <p:cNvPr id="20" name="Evidence 20"/>
          <p:cNvSpPr txBox="1"/>
          <p:nvPr/>
        </p:nvSpPr>
        <p:spPr>
          <a:xfrm>
            <a:off x="804672" y="6583680"/>
            <a:ext cx="13167360" cy="822960"/>
          </a:xfrm>
          <a:prstGeom prst="rect">
            <a:avLst/>
          </a:prstGeom>
          <a:noFill/>
          <a:ln>
            <a:noFill/>
          </a:ln>
        </p:spPr>
        <p:txBody>
          <a:bodyPr wrap="square" lIns="150000" rIns="150000" tIns="100000" bIns="100000">
            <a:normAutofit/>
          </a:bodyPr>
          <a:lstStyle/>
          <a:p>
            <a:pPr>
              <a:spcAft>
                <a:spcPts val="1600"/>
              </a:spcAft>
            </a:pPr>
            <a:r>
              <a:rPr lang="fr-FR" sz="1500" b="0">
                <a:solidFill>
                  <a:srgbClr val="2F61B8"/>
                </a:solidFill>
                <a:latin typeface="Calibri"/>
              </a:rPr>
              <a:t>Source : prediction_example.json. Exemple de fonctionnement ; la MAE globale reste 161,79 MW.</a:t>
            </a:r>
          </a:p>
        </p:txBody>
      </p:sp>
      <p:sp>
        <p:nvSpPr>
          <p:cNvPr id="21" name="Evidence 21"/>
          <p:cNvSpPr txBox="1"/>
          <p:nvPr/>
        </p:nvSpPr>
        <p:spPr>
          <a:xfrm>
            <a:off x="804672" y="7735824"/>
            <a:ext cx="13167360" cy="329184"/>
          </a:xfrm>
          <a:prstGeom prst="rect">
            <a:avLst/>
          </a:prstGeom>
          <a:noFill/>
          <a:ln>
            <a:noFill/>
          </a:ln>
        </p:spPr>
        <p:txBody>
          <a:bodyPr wrap="square" lIns="150000" rIns="150000" tIns="100000" bIns="100000">
            <a:normAutofit/>
          </a:bodyPr>
          <a:lstStyle/>
          <a:p>
            <a:pPr>
              <a:spcAft>
                <a:spcPts val="1600"/>
              </a:spcAft>
            </a:pPr>
            <a:r>
              <a:rPr lang="fr-FR" sz="1000" b="0">
                <a:solidFill>
                  <a:srgbClr val="666666"/>
                </a:solidFill>
                <a:latin typeface="Calibri"/>
              </a:rPr>
              <a:t>RNCP39586 — Bloc 5 — Apprentissage automatique</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FFFFF"/>
        </a:solidFill>
      </p:bgPr>
    </p:bg>
    <p:spTree>
      <p:nvGrpSpPr>
        <p:cNvPr id="1" name=""/>
        <p:cNvGrpSpPr/>
        <p:nvPr/>
      </p:nvGrpSpPr>
      <p:grpSpPr/>
      <p:sp>
        <p:nvSpPr>
          <p:cNvPr id="2" name="Evidence 2"/>
          <p:cNvSpPr txBox="1"/>
          <p:nvPr/>
        </p:nvSpPr>
        <p:spPr>
          <a:xfrm>
            <a:off x="731520" y="411480"/>
            <a:ext cx="10241280" cy="987552"/>
          </a:xfrm>
          <a:prstGeom prst="rect">
            <a:avLst/>
          </a:prstGeom>
          <a:noFill/>
          <a:ln>
            <a:noFill/>
          </a:ln>
        </p:spPr>
        <p:txBody>
          <a:bodyPr wrap="square" lIns="150000" rIns="150000" tIns="100000" bIns="100000">
            <a:normAutofit/>
          </a:bodyPr>
          <a:lstStyle/>
          <a:p>
            <a:pPr>
              <a:spcAft>
                <a:spcPts val="1600"/>
              </a:spcAft>
            </a:pPr>
            <a:r>
              <a:rPr lang="fr-FR" sz="3000" b="1">
                <a:solidFill>
                  <a:srgbClr val="12202F"/>
                </a:solidFill>
                <a:latin typeface="Calibri"/>
              </a:rPr>
              <a:t>Preuve — relier le run à la version du modèle</a:t>
            </a:r>
          </a:p>
        </p:txBody>
      </p:sp>
      <p:sp>
        <p:nvSpPr>
          <p:cNvPr id="3" name="Evidence 3"/>
          <p:cNvSpPr txBox="1"/>
          <p:nvPr/>
        </p:nvSpPr>
        <p:spPr>
          <a:xfrm>
            <a:off x="11411712" y="329184"/>
            <a:ext cx="2779776" cy="493776"/>
          </a:xfrm>
          <a:prstGeom prst="rect">
            <a:avLst/>
          </a:prstGeom>
          <a:solidFill>
            <a:srgbClr val="F5F8FC"/>
          </a:solidFill>
          <a:ln>
            <a:noFill/>
          </a:ln>
        </p:spPr>
        <p:txBody>
          <a:bodyPr wrap="square" lIns="150000" rIns="150000" tIns="100000" bIns="100000">
            <a:normAutofit/>
          </a:bodyPr>
          <a:lstStyle/>
          <a:p>
            <a:pPr>
              <a:spcAft>
                <a:spcPts val="1600"/>
              </a:spcAft>
            </a:pPr>
            <a:r>
              <a:rPr lang="fr-FR" sz="1200" b="1">
                <a:solidFill>
                  <a:srgbClr val="2F61B8"/>
                </a:solidFill>
                <a:latin typeface="Calibri"/>
              </a:rPr>
              <a:t>Bloc 5 — C5.3.2</a:t>
            </a:r>
          </a:p>
        </p:txBody>
      </p:sp>
      <p:sp>
        <p:nvSpPr>
          <p:cNvPr id="10" name="Evidence 10"/>
          <p:cNvSpPr txBox="1"/>
          <p:nvPr/>
        </p:nvSpPr>
        <p:spPr>
          <a:xfrm>
            <a:off x="804672"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MLFLOW VÉRIFIÉ</a:t>
            </a:r>
          </a:p>
        </p:txBody>
      </p:sp>
      <p:sp>
        <p:nvSpPr>
          <p:cNvPr id="11" name="Evidence 11"/>
          <p:cNvSpPr txBox="1"/>
          <p:nvPr/>
        </p:nvSpPr>
        <p:spPr>
          <a:xfrm>
            <a:off x="804672"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Expérience : electricity_consumption_j1_oracle</a:t>
            </a:r>
          </a:p>
          <a:p>
            <a:pPr>
              <a:spcAft>
                <a:spcPts val="1600"/>
              </a:spcAft>
            </a:pPr>
            <a:r>
              <a:rPr lang="fr-FR" sz="2100" b="0">
                <a:solidFill>
                  <a:srgbClr val="12202F"/>
                </a:solidFill>
                <a:latin typeface="Calibri"/>
              </a:rPr>
              <a:t>Run : complete_oracle_pipeline</a:t>
            </a:r>
          </a:p>
          <a:p>
            <a:pPr>
              <a:spcAft>
                <a:spcPts val="1600"/>
              </a:spcAft>
            </a:pPr>
            <a:r>
              <a:rPr lang="fr-FR" sz="2100" b="0">
                <a:solidFill>
                  <a:srgbClr val="12202F"/>
                </a:solidFill>
                <a:latin typeface="Calibri"/>
              </a:rPr>
              <a:t>Registry : electricity-consumption-j1-oracle</a:t>
            </a:r>
          </a:p>
          <a:p>
            <a:pPr>
              <a:spcAft>
                <a:spcPts val="1600"/>
              </a:spcAft>
            </a:pPr>
            <a:r>
              <a:rPr lang="fr-FR" sz="2100" b="0">
                <a:solidFill>
                  <a:srgbClr val="12202F"/>
                </a:solidFill>
                <a:latin typeface="Calibri"/>
              </a:rPr>
              <a:t>Version enregistrée : 1</a:t>
            </a:r>
          </a:p>
        </p:txBody>
      </p:sp>
      <p:sp>
        <p:nvSpPr>
          <p:cNvPr id="12" name="Evidence 12"/>
          <p:cNvSpPr txBox="1"/>
          <p:nvPr/>
        </p:nvSpPr>
        <p:spPr>
          <a:xfrm>
            <a:off x="7534656"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ÉLÉMENTS TRAÇABLES</a:t>
            </a:r>
          </a:p>
        </p:txBody>
      </p:sp>
      <p:sp>
        <p:nvSpPr>
          <p:cNvPr id="13" name="Evidence 13"/>
          <p:cNvSpPr txBox="1"/>
          <p:nvPr/>
        </p:nvSpPr>
        <p:spPr>
          <a:xfrm>
            <a:off x="7534656"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Hyperparamètres et métriques 2024 / 2025</a:t>
            </a:r>
          </a:p>
          <a:p>
            <a:pPr>
              <a:spcAft>
                <a:spcPts val="1600"/>
              </a:spcAft>
            </a:pPr>
            <a:r>
              <a:rPr lang="fr-FR" sz="2100" b="0">
                <a:solidFill>
                  <a:srgbClr val="12202F"/>
                </a:solidFill>
                <a:latin typeface="Calibri"/>
              </a:rPr>
              <a:t>Modèle + métadonnées JSON</a:t>
            </a:r>
          </a:p>
          <a:p>
            <a:pPr>
              <a:spcAft>
                <a:spcPts val="1600"/>
              </a:spcAft>
            </a:pPr>
            <a:r>
              <a:rPr lang="fr-FR" sz="2100" b="0">
                <a:solidFill>
                  <a:srgbClr val="12202F"/>
                </a:solidFill>
                <a:latin typeface="Calibri"/>
              </a:rPr>
              <a:t>Prédictions, valeurs réelles et exemple exportés</a:t>
            </a:r>
          </a:p>
          <a:p>
            <a:pPr>
              <a:spcAft>
                <a:spcPts val="1600"/>
              </a:spcAft>
            </a:pPr>
            <a:r>
              <a:rPr lang="fr-FR" sz="2100" b="0">
                <a:solidFill>
                  <a:srgbClr val="12202F"/>
                </a:solidFill>
                <a:latin typeface="Calibri"/>
              </a:rPr>
              <a:t>Aucun alias champion défini à ce jour</a:t>
            </a:r>
          </a:p>
        </p:txBody>
      </p:sp>
      <p:sp>
        <p:nvSpPr>
          <p:cNvPr id="20" name="Evidence 20"/>
          <p:cNvSpPr txBox="1"/>
          <p:nvPr/>
        </p:nvSpPr>
        <p:spPr>
          <a:xfrm>
            <a:off x="804672" y="6583680"/>
            <a:ext cx="13167360" cy="822960"/>
          </a:xfrm>
          <a:prstGeom prst="rect">
            <a:avLst/>
          </a:prstGeom>
          <a:noFill/>
          <a:ln>
            <a:noFill/>
          </a:ln>
        </p:spPr>
        <p:txBody>
          <a:bodyPr wrap="square" lIns="150000" rIns="150000" tIns="100000" bIns="100000">
            <a:normAutofit/>
          </a:bodyPr>
          <a:lstStyle/>
          <a:p>
            <a:pPr>
              <a:spcAft>
                <a:spcPts val="1600"/>
              </a:spcAft>
            </a:pPr>
            <a:r>
              <a:rPr lang="fr-FR" sz="1500" b="0">
                <a:solidFill>
                  <a:srgbClr val="2F61B8"/>
                </a:solidFill>
                <a:latin typeface="Calibri"/>
              </a:rPr>
              <a:t>Run ID : 3208773ee42e47768dfcf49917834e59</a:t>
            </a:r>
          </a:p>
        </p:txBody>
      </p:sp>
      <p:sp>
        <p:nvSpPr>
          <p:cNvPr id="21" name="Evidence 21"/>
          <p:cNvSpPr txBox="1"/>
          <p:nvPr/>
        </p:nvSpPr>
        <p:spPr>
          <a:xfrm>
            <a:off x="804672" y="7735824"/>
            <a:ext cx="13167360" cy="329184"/>
          </a:xfrm>
          <a:prstGeom prst="rect">
            <a:avLst/>
          </a:prstGeom>
          <a:noFill/>
          <a:ln>
            <a:noFill/>
          </a:ln>
        </p:spPr>
        <p:txBody>
          <a:bodyPr wrap="square" lIns="150000" rIns="150000" tIns="100000" bIns="100000">
            <a:normAutofit/>
          </a:bodyPr>
          <a:lstStyle/>
          <a:p>
            <a:pPr>
              <a:spcAft>
                <a:spcPts val="1600"/>
              </a:spcAft>
            </a:pPr>
            <a:r>
              <a:rPr lang="fr-FR" sz="1000" b="0">
                <a:solidFill>
                  <a:srgbClr val="666666"/>
                </a:solidFill>
                <a:latin typeface="Calibri"/>
              </a:rPr>
              <a:t>RNCP39586 — Bloc 5 — Apprentissage automatique</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FFFFF"/>
        </a:solidFill>
      </p:bgPr>
    </p:bg>
    <p:spTree>
      <p:nvGrpSpPr>
        <p:cNvPr id="1" name=""/>
        <p:cNvGrpSpPr/>
        <p:nvPr/>
      </p:nvGrpSpPr>
      <p:grpSpPr/>
      <p:sp>
        <p:nvSpPr>
          <p:cNvPr id="2" name="Evidence 2"/>
          <p:cNvSpPr txBox="1"/>
          <p:nvPr/>
        </p:nvSpPr>
        <p:spPr>
          <a:xfrm>
            <a:off x="731520" y="411480"/>
            <a:ext cx="10241280" cy="987552"/>
          </a:xfrm>
          <a:prstGeom prst="rect">
            <a:avLst/>
          </a:prstGeom>
          <a:noFill/>
          <a:ln>
            <a:noFill/>
          </a:ln>
        </p:spPr>
        <p:txBody>
          <a:bodyPr wrap="square" lIns="150000" rIns="150000" tIns="100000" bIns="100000">
            <a:normAutofit/>
          </a:bodyPr>
          <a:lstStyle/>
          <a:p>
            <a:pPr>
              <a:spcAft>
                <a:spcPts val="1600"/>
              </a:spcAft>
            </a:pPr>
            <a:r>
              <a:rPr lang="fr-FR" sz="3000" b="1">
                <a:solidFill>
                  <a:srgbClr val="12202F"/>
                </a:solidFill>
                <a:latin typeface="Calibri"/>
              </a:rPr>
              <a:t>Sélection — meilleur modèle expérimental</a:t>
            </a:r>
          </a:p>
        </p:txBody>
      </p:sp>
      <p:sp>
        <p:nvSpPr>
          <p:cNvPr id="3" name="Evidence 3"/>
          <p:cNvSpPr txBox="1"/>
          <p:nvPr/>
        </p:nvSpPr>
        <p:spPr>
          <a:xfrm>
            <a:off x="11411712" y="329184"/>
            <a:ext cx="2779776" cy="493776"/>
          </a:xfrm>
          <a:prstGeom prst="rect">
            <a:avLst/>
          </a:prstGeom>
          <a:solidFill>
            <a:srgbClr val="F5F8FC"/>
          </a:solidFill>
          <a:ln>
            <a:noFill/>
          </a:ln>
        </p:spPr>
        <p:txBody>
          <a:bodyPr wrap="square" lIns="150000" rIns="150000" tIns="100000" bIns="100000">
            <a:normAutofit/>
          </a:bodyPr>
          <a:lstStyle/>
          <a:p>
            <a:pPr>
              <a:spcAft>
                <a:spcPts val="1600"/>
              </a:spcAft>
            </a:pPr>
            <a:r>
              <a:rPr lang="fr-FR" sz="1200" b="1">
                <a:solidFill>
                  <a:srgbClr val="2F61B8"/>
                </a:solidFill>
                <a:latin typeface="Calibri"/>
              </a:rPr>
              <a:t>Bloc 5 — C5.3.2</a:t>
            </a:r>
          </a:p>
        </p:txBody>
      </p:sp>
      <p:sp>
        <p:nvSpPr>
          <p:cNvPr id="10" name="Evidence 10"/>
          <p:cNvSpPr txBox="1"/>
          <p:nvPr/>
        </p:nvSpPr>
        <p:spPr>
          <a:xfrm>
            <a:off x="804672"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VALIDATION 2024 — COMPARAISON</a:t>
            </a:r>
          </a:p>
        </p:txBody>
      </p:sp>
      <p:sp>
        <p:nvSpPr>
          <p:cNvPr id="11" name="Evidence 11"/>
          <p:cNvSpPr txBox="1"/>
          <p:nvPr/>
        </p:nvSpPr>
        <p:spPr>
          <a:xfrm>
            <a:off x="804672"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Même jeu de lignes et mêmes hyperparamètres</a:t>
            </a:r>
          </a:p>
          <a:p>
            <a:pPr>
              <a:spcAft>
                <a:spcPts val="1600"/>
              </a:spcAft>
            </a:pPr>
            <a:r>
              <a:rPr lang="fr-FR" sz="2100" b="0">
                <a:solidFill>
                  <a:srgbClr val="12202F"/>
                </a:solidFill>
                <a:latin typeface="Calibri"/>
              </a:rPr>
              <a:t>Baseline : MAE 277,44 MW</a:t>
            </a:r>
          </a:p>
          <a:p>
            <a:pPr>
              <a:spcAft>
                <a:spcPts val="1600"/>
              </a:spcAft>
            </a:pPr>
            <a:r>
              <a:rPr lang="fr-FR" sz="2100" b="0">
                <a:solidFill>
                  <a:srgbClr val="12202F"/>
                </a:solidFill>
                <a:latin typeface="Calibri"/>
              </a:rPr>
              <a:t>HGB sans météo : MAE 205,64 MW</a:t>
            </a:r>
          </a:p>
          <a:p>
            <a:pPr>
              <a:spcAft>
                <a:spcPts val="1600"/>
              </a:spcAft>
            </a:pPr>
            <a:r>
              <a:rPr lang="fr-FR" sz="2100" b="0">
                <a:solidFill>
                  <a:srgbClr val="12202F"/>
                </a:solidFill>
                <a:latin typeface="Calibri"/>
              </a:rPr>
              <a:t>HGB météo parfaite : MAE 159,94 MW</a:t>
            </a:r>
          </a:p>
        </p:txBody>
      </p:sp>
      <p:sp>
        <p:nvSpPr>
          <p:cNvPr id="12" name="Evidence 12"/>
          <p:cNvSpPr txBox="1"/>
          <p:nvPr/>
        </p:nvSpPr>
        <p:spPr>
          <a:xfrm>
            <a:off x="7534656"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CONFIRMATION SUR LE TEST 2025</a:t>
            </a:r>
          </a:p>
        </p:txBody>
      </p:sp>
      <p:sp>
        <p:nvSpPr>
          <p:cNvPr id="13" name="Evidence 13"/>
          <p:cNvSpPr txBox="1"/>
          <p:nvPr/>
        </p:nvSpPr>
        <p:spPr>
          <a:xfrm>
            <a:off x="7534656"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HGB sans météo : MAE 207,45 MW</a:t>
            </a:r>
          </a:p>
          <a:p>
            <a:pPr>
              <a:spcAft>
                <a:spcPts val="1600"/>
              </a:spcAft>
            </a:pPr>
            <a:r>
              <a:rPr lang="fr-FR" sz="2100" b="0">
                <a:solidFill>
                  <a:srgbClr val="12202F"/>
                </a:solidFill>
                <a:latin typeface="Calibri"/>
              </a:rPr>
              <a:t>HGB météo parfaite : MAE 161,79 MW</a:t>
            </a:r>
          </a:p>
          <a:p>
            <a:pPr>
              <a:spcAft>
                <a:spcPts val="1600"/>
              </a:spcAft>
            </a:pPr>
            <a:r>
              <a:rPr lang="fr-FR" sz="2100" b="0">
                <a:solidFill>
                  <a:srgbClr val="12202F"/>
                </a:solidFill>
                <a:latin typeface="Calibri"/>
              </a:rPr>
              <a:t>Gain : 22 % de MAE ; R² : 0,957</a:t>
            </a:r>
          </a:p>
          <a:p>
            <a:pPr>
              <a:spcAft>
                <a:spcPts val="1600"/>
              </a:spcAft>
            </a:pPr>
            <a:r>
              <a:rPr lang="fr-FR" sz="2100" b="0">
                <a:solidFill>
                  <a:srgbClr val="12202F"/>
                </a:solidFill>
                <a:latin typeface="Calibri"/>
              </a:rPr>
              <a:t>Choix expérimental : HGB météo parfaite</a:t>
            </a:r>
          </a:p>
        </p:txBody>
      </p:sp>
      <p:sp>
        <p:nvSpPr>
          <p:cNvPr id="20" name="Evidence 20"/>
          <p:cNvSpPr txBox="1"/>
          <p:nvPr/>
        </p:nvSpPr>
        <p:spPr>
          <a:xfrm>
            <a:off x="804672" y="6583680"/>
            <a:ext cx="13167360" cy="822960"/>
          </a:xfrm>
          <a:prstGeom prst="rect">
            <a:avLst/>
          </a:prstGeom>
          <a:noFill/>
          <a:ln>
            <a:noFill/>
          </a:ln>
        </p:spPr>
        <p:txBody>
          <a:bodyPr wrap="square" lIns="150000" rIns="150000" tIns="100000" bIns="100000">
            <a:normAutofit/>
          </a:bodyPr>
          <a:lstStyle/>
          <a:p>
            <a:pPr>
              <a:spcAft>
                <a:spcPts val="1600"/>
              </a:spcAft>
            </a:pPr>
            <a:r>
              <a:rPr lang="fr-FR" sz="1500" b="0">
                <a:solidFill>
                  <a:srgbClr val="2F61B8"/>
                </a:solidFill>
                <a:latin typeface="Calibri"/>
              </a:rPr>
              <a:t>Sélection sur validation ; test 2025 de confirmation. Ce choix ne constitue pas une promotion en production.</a:t>
            </a:r>
          </a:p>
        </p:txBody>
      </p:sp>
      <p:sp>
        <p:nvSpPr>
          <p:cNvPr id="21" name="Evidence 21"/>
          <p:cNvSpPr txBox="1"/>
          <p:nvPr/>
        </p:nvSpPr>
        <p:spPr>
          <a:xfrm>
            <a:off x="804672" y="7735824"/>
            <a:ext cx="13167360" cy="329184"/>
          </a:xfrm>
          <a:prstGeom prst="rect">
            <a:avLst/>
          </a:prstGeom>
          <a:noFill/>
          <a:ln>
            <a:noFill/>
          </a:ln>
        </p:spPr>
        <p:txBody>
          <a:bodyPr wrap="square" lIns="150000" rIns="150000" tIns="100000" bIns="100000">
            <a:normAutofit/>
          </a:bodyPr>
          <a:lstStyle/>
          <a:p>
            <a:pPr>
              <a:spcAft>
                <a:spcPts val="1600"/>
              </a:spcAft>
            </a:pPr>
            <a:r>
              <a:rPr lang="fr-FR" sz="1000" b="0">
                <a:solidFill>
                  <a:srgbClr val="666666"/>
                </a:solidFill>
                <a:latin typeface="Calibri"/>
              </a:rPr>
              <a:t>RNCP39586 — Bloc 5 — Apprentissage automatique</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FFFFF"/>
        </a:solidFill>
      </p:bgPr>
    </p:bg>
    <p:spTree>
      <p:nvGrpSpPr>
        <p:cNvPr id="1" name=""/>
        <p:cNvGrpSpPr/>
        <p:nvPr/>
      </p:nvGrpSpPr>
      <p:grpSpPr/>
      <p:sp>
        <p:nvSpPr>
          <p:cNvPr id="2" name="Evidence 2"/>
          <p:cNvSpPr txBox="1"/>
          <p:nvPr/>
        </p:nvSpPr>
        <p:spPr>
          <a:xfrm>
            <a:off x="731520" y="411480"/>
            <a:ext cx="10241280" cy="987552"/>
          </a:xfrm>
          <a:prstGeom prst="rect">
            <a:avLst/>
          </a:prstGeom>
          <a:noFill/>
          <a:ln>
            <a:noFill/>
          </a:ln>
        </p:spPr>
        <p:txBody>
          <a:bodyPr wrap="square" lIns="150000" rIns="150000" tIns="100000" bIns="100000">
            <a:normAutofit/>
          </a:bodyPr>
          <a:lstStyle/>
          <a:p>
            <a:pPr>
              <a:spcAft>
                <a:spcPts val="1600"/>
              </a:spcAft>
            </a:pPr>
            <a:r>
              <a:rPr lang="fr-FR" sz="3000" b="1">
                <a:solidFill>
                  <a:srgbClr val="12202F"/>
                </a:solidFill>
                <a:latin typeface="Calibri"/>
              </a:rPr>
              <a:t>Preuve — mesurer les erreurs et fixer une alerte</a:t>
            </a:r>
          </a:p>
        </p:txBody>
      </p:sp>
      <p:sp>
        <p:nvSpPr>
          <p:cNvPr id="3" name="Evidence 3"/>
          <p:cNvSpPr txBox="1"/>
          <p:nvPr/>
        </p:nvSpPr>
        <p:spPr>
          <a:xfrm>
            <a:off x="11411712" y="329184"/>
            <a:ext cx="2779776" cy="493776"/>
          </a:xfrm>
          <a:prstGeom prst="rect">
            <a:avLst/>
          </a:prstGeom>
          <a:solidFill>
            <a:srgbClr val="F5F8FC"/>
          </a:solidFill>
          <a:ln>
            <a:noFill/>
          </a:ln>
        </p:spPr>
        <p:txBody>
          <a:bodyPr wrap="square" lIns="150000" rIns="150000" tIns="100000" bIns="100000">
            <a:normAutofit/>
          </a:bodyPr>
          <a:lstStyle/>
          <a:p>
            <a:pPr>
              <a:spcAft>
                <a:spcPts val="1600"/>
              </a:spcAft>
            </a:pPr>
            <a:r>
              <a:rPr lang="fr-FR" sz="1200" b="1">
                <a:solidFill>
                  <a:srgbClr val="2F61B8"/>
                </a:solidFill>
                <a:latin typeface="Calibri"/>
              </a:rPr>
              <a:t>Bloc 5 — C5.3.3</a:t>
            </a:r>
          </a:p>
        </p:txBody>
      </p:sp>
      <p:sp>
        <p:nvSpPr>
          <p:cNvPr id="10" name="Evidence 10"/>
          <p:cNvSpPr txBox="1"/>
          <p:nvPr/>
        </p:nvSpPr>
        <p:spPr>
          <a:xfrm>
            <a:off x="804672"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RÉSULTATS SUR 17 511 OBSERVATIONS</a:t>
            </a:r>
          </a:p>
        </p:txBody>
      </p:sp>
      <p:sp>
        <p:nvSpPr>
          <p:cNvPr id="11" name="Evidence 11"/>
          <p:cNvSpPr txBox="1"/>
          <p:nvPr/>
        </p:nvSpPr>
        <p:spPr>
          <a:xfrm>
            <a:off x="804672"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Consommation moyenne : 4 717,35 MW</a:t>
            </a:r>
          </a:p>
          <a:p>
            <a:pPr>
              <a:spcAft>
                <a:spcPts val="1600"/>
              </a:spcAft>
            </a:pPr>
            <a:r>
              <a:rPr lang="fr-FR" sz="2100" b="0">
                <a:solidFill>
                  <a:srgbClr val="12202F"/>
                </a:solidFill>
                <a:latin typeface="Calibri"/>
              </a:rPr>
              <a:t>MAE : 161,79 MW ; RMSE : 217,48 MW</a:t>
            </a:r>
          </a:p>
          <a:p>
            <a:pPr>
              <a:spcAft>
                <a:spcPts val="1600"/>
              </a:spcAft>
            </a:pPr>
            <a:r>
              <a:rPr lang="fr-FR" sz="2100" b="0">
                <a:solidFill>
                  <a:srgbClr val="12202F"/>
                </a:solidFill>
                <a:latin typeface="Calibri"/>
              </a:rPr>
              <a:t>MAE / moyenne : 3,43 % (pas la MAPE)</a:t>
            </a:r>
          </a:p>
          <a:p>
            <a:pPr>
              <a:spcAft>
                <a:spcPts val="1600"/>
              </a:spcAft>
            </a:pPr>
            <a:r>
              <a:rPr lang="fr-FR" sz="2100" b="0">
                <a:solidFill>
                  <a:srgbClr val="12202F"/>
                </a:solidFill>
                <a:latin typeface="Calibri"/>
              </a:rPr>
              <a:t>Source : predictions_2025.csv et error_scale.json</a:t>
            </a:r>
          </a:p>
        </p:txBody>
      </p:sp>
      <p:sp>
        <p:nvSpPr>
          <p:cNvPr id="12" name="Evidence 12"/>
          <p:cNvSpPr txBox="1"/>
          <p:nvPr/>
        </p:nvSpPr>
        <p:spPr>
          <a:xfrm>
            <a:off x="7534656"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RÈGLE DU PROTOTYPE DE MONITORING</a:t>
            </a:r>
          </a:p>
        </p:txBody>
      </p:sp>
      <p:sp>
        <p:nvSpPr>
          <p:cNvPr id="13" name="Evidence 13"/>
          <p:cNvSpPr txBox="1"/>
          <p:nvPr/>
        </p:nvSpPr>
        <p:spPr>
          <a:xfrm>
            <a:off x="7534656"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Comparer la MAE récente à la référence</a:t>
            </a:r>
          </a:p>
          <a:p>
            <a:pPr>
              <a:spcAft>
                <a:spcPts val="1600"/>
              </a:spcAft>
            </a:pPr>
            <a:r>
              <a:rPr lang="fr-FR" sz="2100" b="0">
                <a:solidFill>
                  <a:srgbClr val="12202F"/>
                </a:solidFill>
                <a:latin typeface="Calibri"/>
              </a:rPr>
              <a:t>Fenêtre par défaut : 500 prédictions évaluées</a:t>
            </a:r>
          </a:p>
          <a:p>
            <a:pPr>
              <a:spcAft>
                <a:spcPts val="1600"/>
              </a:spcAft>
            </a:pPr>
            <a:r>
              <a:rPr lang="fr-FR" sz="2100" b="0">
                <a:solidFill>
                  <a:srgbClr val="12202F"/>
                </a:solidFill>
                <a:latin typeface="Calibri"/>
              </a:rPr>
              <a:t>Seuil proposé : référence × 1,20</a:t>
            </a:r>
          </a:p>
          <a:p>
            <a:pPr>
              <a:spcAft>
                <a:spcPts val="1600"/>
              </a:spcAft>
            </a:pPr>
            <a:r>
              <a:rPr lang="fr-FR" sz="2100" b="0">
                <a:solidFill>
                  <a:srgbClr val="12202F"/>
                </a:solidFill>
                <a:latin typeface="Calibri"/>
              </a:rPr>
              <a:t>Avec 161,79 MW : alerte au-delà de 194,15 MW</a:t>
            </a:r>
          </a:p>
        </p:txBody>
      </p:sp>
      <p:sp>
        <p:nvSpPr>
          <p:cNvPr id="20" name="Evidence 20"/>
          <p:cNvSpPr txBox="1"/>
          <p:nvPr/>
        </p:nvSpPr>
        <p:spPr>
          <a:xfrm>
            <a:off x="804672" y="6583680"/>
            <a:ext cx="13167360" cy="822960"/>
          </a:xfrm>
          <a:prstGeom prst="rect">
            <a:avLst/>
          </a:prstGeom>
          <a:noFill/>
          <a:ln>
            <a:noFill/>
          </a:ln>
        </p:spPr>
        <p:txBody>
          <a:bodyPr wrap="square" lIns="150000" rIns="150000" tIns="100000" bIns="100000">
            <a:normAutofit/>
          </a:bodyPr>
          <a:lstStyle/>
          <a:p>
            <a:pPr>
              <a:spcAft>
                <a:spcPts val="1600"/>
              </a:spcAft>
            </a:pPr>
            <a:r>
              <a:rPr lang="fr-FR" sz="1500" b="0">
                <a:solidFill>
                  <a:srgbClr val="2F61B8"/>
                </a:solidFill>
                <a:latin typeface="Calibri"/>
              </a:rPr>
              <a:t>monitoring.py implémente la règle ; son application continue au modèle oracle n’est pas automatisée.</a:t>
            </a:r>
          </a:p>
        </p:txBody>
      </p:sp>
      <p:sp>
        <p:nvSpPr>
          <p:cNvPr id="21" name="Evidence 21"/>
          <p:cNvSpPr txBox="1"/>
          <p:nvPr/>
        </p:nvSpPr>
        <p:spPr>
          <a:xfrm>
            <a:off x="804672" y="7735824"/>
            <a:ext cx="13167360" cy="329184"/>
          </a:xfrm>
          <a:prstGeom prst="rect">
            <a:avLst/>
          </a:prstGeom>
          <a:noFill/>
          <a:ln>
            <a:noFill/>
          </a:ln>
        </p:spPr>
        <p:txBody>
          <a:bodyPr wrap="square" lIns="150000" rIns="150000" tIns="100000" bIns="100000">
            <a:normAutofit/>
          </a:bodyPr>
          <a:lstStyle/>
          <a:p>
            <a:pPr>
              <a:spcAft>
                <a:spcPts val="1600"/>
              </a:spcAft>
            </a:pPr>
            <a:r>
              <a:rPr lang="fr-FR" sz="1000" b="0">
                <a:solidFill>
                  <a:srgbClr val="666666"/>
                </a:solidFill>
                <a:latin typeface="Calibri"/>
              </a:rPr>
              <a:t>RNCP39586 — Bloc 5 — Apprentissage automatique</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FFFFFF"/>
        </a:solidFill>
      </p:bgPr>
    </p:bg>
    <p:spTree>
      <p:nvGrpSpPr>
        <p:cNvPr id="1" name=""/>
        <p:cNvGrpSpPr/>
        <p:nvPr/>
      </p:nvGrpSpPr>
      <p:grpSpPr/>
      <p:sp>
        <p:nvSpPr>
          <p:cNvPr id="2" name="Evidence 2"/>
          <p:cNvSpPr txBox="1"/>
          <p:nvPr/>
        </p:nvSpPr>
        <p:spPr>
          <a:xfrm>
            <a:off x="731520" y="411480"/>
            <a:ext cx="10241280" cy="987552"/>
          </a:xfrm>
          <a:prstGeom prst="rect">
            <a:avLst/>
          </a:prstGeom>
          <a:noFill/>
          <a:ln>
            <a:noFill/>
          </a:ln>
        </p:spPr>
        <p:txBody>
          <a:bodyPr wrap="square" lIns="150000" rIns="150000" tIns="100000" bIns="100000">
            <a:normAutofit/>
          </a:bodyPr>
          <a:lstStyle/>
          <a:p>
            <a:pPr>
              <a:spcAft>
                <a:spcPts val="1600"/>
              </a:spcAft>
            </a:pPr>
            <a:r>
              <a:rPr lang="fr-FR" sz="3000" b="1">
                <a:solidFill>
                  <a:srgbClr val="12202F"/>
                </a:solidFill>
                <a:latin typeface="Calibri"/>
              </a:rPr>
              <a:t>Champion / challenger — décision de promotion</a:t>
            </a:r>
          </a:p>
        </p:txBody>
      </p:sp>
      <p:sp>
        <p:nvSpPr>
          <p:cNvPr id="3" name="Evidence 3"/>
          <p:cNvSpPr txBox="1"/>
          <p:nvPr/>
        </p:nvSpPr>
        <p:spPr>
          <a:xfrm>
            <a:off x="11411712" y="329184"/>
            <a:ext cx="2779776" cy="493776"/>
          </a:xfrm>
          <a:prstGeom prst="rect">
            <a:avLst/>
          </a:prstGeom>
          <a:solidFill>
            <a:srgbClr val="F5F8FC"/>
          </a:solidFill>
          <a:ln>
            <a:noFill/>
          </a:ln>
        </p:spPr>
        <p:txBody>
          <a:bodyPr wrap="square" lIns="150000" rIns="150000" tIns="100000" bIns="100000">
            <a:normAutofit/>
          </a:bodyPr>
          <a:lstStyle/>
          <a:p>
            <a:pPr>
              <a:spcAft>
                <a:spcPts val="1600"/>
              </a:spcAft>
            </a:pPr>
            <a:r>
              <a:rPr lang="fr-FR" sz="1200" b="1">
                <a:solidFill>
                  <a:srgbClr val="2F61B8"/>
                </a:solidFill>
                <a:latin typeface="Calibri"/>
              </a:rPr>
              <a:t>Bloc 5 — C5.3.4</a:t>
            </a:r>
          </a:p>
        </p:txBody>
      </p:sp>
      <p:sp>
        <p:nvSpPr>
          <p:cNvPr id="10" name="Evidence 10"/>
          <p:cNvSpPr txBox="1"/>
          <p:nvPr/>
        </p:nvSpPr>
        <p:spPr>
          <a:xfrm>
            <a:off x="804672"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CRITÈRES À SATISFAIRE</a:t>
            </a:r>
          </a:p>
        </p:txBody>
      </p:sp>
      <p:sp>
        <p:nvSpPr>
          <p:cNvPr id="11" name="Evidence 11"/>
          <p:cNvSpPr txBox="1"/>
          <p:nvPr/>
        </p:nvSpPr>
        <p:spPr>
          <a:xfrm>
            <a:off x="804672"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Comparer candidat et référence sur les mêmes dates</a:t>
            </a:r>
          </a:p>
          <a:p>
            <a:pPr>
              <a:spcAft>
                <a:spcPts val="1600"/>
              </a:spcAft>
            </a:pPr>
            <a:r>
              <a:rPr lang="fr-FR" sz="2100" b="0">
                <a:solidFill>
                  <a:srgbClr val="12202F"/>
                </a:solidFill>
                <a:latin typeface="Calibri"/>
              </a:rPr>
              <a:t>Réduire la MAE et contrôler RMSE / pics</a:t>
            </a:r>
          </a:p>
          <a:p>
            <a:pPr>
              <a:spcAft>
                <a:spcPts val="1600"/>
              </a:spcAft>
            </a:pPr>
            <a:r>
              <a:rPr lang="fr-FR" sz="2100" b="0">
                <a:solidFill>
                  <a:srgbClr val="12202F"/>
                </a:solidFill>
                <a:latin typeface="Calibri"/>
              </a:rPr>
              <a:t>Vérifier schéma, tests et rechargement</a:t>
            </a:r>
          </a:p>
          <a:p>
            <a:pPr>
              <a:spcAft>
                <a:spcPts val="1600"/>
              </a:spcAft>
            </a:pPr>
            <a:r>
              <a:rPr lang="fr-FR" sz="2100" b="0">
                <a:solidFill>
                  <a:srgbClr val="12202F"/>
                </a:solidFill>
                <a:latin typeface="Calibri"/>
              </a:rPr>
              <a:t>Vérifier la disponibilité des entrées à l’instant t</a:t>
            </a:r>
          </a:p>
        </p:txBody>
      </p:sp>
      <p:sp>
        <p:nvSpPr>
          <p:cNvPr id="12" name="Evidence 12"/>
          <p:cNvSpPr txBox="1"/>
          <p:nvPr/>
        </p:nvSpPr>
        <p:spPr>
          <a:xfrm>
            <a:off x="7534656" y="1975104"/>
            <a:ext cx="6291072" cy="740664"/>
          </a:xfrm>
          <a:prstGeom prst="rect">
            <a:avLst/>
          </a:prstGeom>
          <a:noFill/>
          <a:ln>
            <a:noFill/>
          </a:ln>
        </p:spPr>
        <p:txBody>
          <a:bodyPr wrap="square" lIns="150000" rIns="150000" tIns="100000" bIns="100000">
            <a:normAutofit/>
          </a:bodyPr>
          <a:lstStyle/>
          <a:p>
            <a:pPr>
              <a:spcAft>
                <a:spcPts val="1600"/>
              </a:spcAft>
            </a:pPr>
            <a:r>
              <a:rPr lang="fr-FR" sz="1800" b="1">
                <a:solidFill>
                  <a:srgbClr val="2F61B8"/>
                </a:solidFill>
                <a:latin typeface="Calibri"/>
              </a:rPr>
              <a:t>DÉCISION ET TRAÇABILITÉ</a:t>
            </a:r>
          </a:p>
        </p:txBody>
      </p:sp>
      <p:sp>
        <p:nvSpPr>
          <p:cNvPr id="13" name="Evidence 13"/>
          <p:cNvSpPr txBox="1"/>
          <p:nvPr/>
        </p:nvSpPr>
        <p:spPr>
          <a:xfrm>
            <a:off x="7534656" y="2798064"/>
            <a:ext cx="6291072" cy="3538728"/>
          </a:xfrm>
          <a:prstGeom prst="rect">
            <a:avLst/>
          </a:prstGeom>
          <a:solidFill>
            <a:srgbClr val="F5F8FC"/>
          </a:solidFill>
          <a:ln>
            <a:noFill/>
          </a:ln>
        </p:spPr>
        <p:txBody>
          <a:bodyPr wrap="square" lIns="150000" rIns="150000" tIns="100000" bIns="100000">
            <a:normAutofit/>
          </a:bodyPr>
          <a:lstStyle/>
          <a:p>
            <a:pPr>
              <a:spcAft>
                <a:spcPts val="1600"/>
              </a:spcAft>
            </a:pPr>
            <a:r>
              <a:rPr lang="fr-FR" sz="2100" b="0">
                <a:solidFill>
                  <a:srgbClr val="12202F"/>
                </a:solidFill>
                <a:latin typeface="Calibri"/>
              </a:rPr>
              <a:t>Oracle : meilleur résultat expérimental</a:t>
            </a:r>
          </a:p>
          <a:p>
            <a:pPr>
              <a:spcAft>
                <a:spcPts val="1600"/>
              </a:spcAft>
            </a:pPr>
            <a:r>
              <a:rPr lang="fr-FR" sz="2100" b="0">
                <a:solidFill>
                  <a:srgbClr val="12202F"/>
                </a:solidFill>
                <a:latin typeface="Calibri"/>
              </a:rPr>
              <a:t>Météo future observée : non disponible à t</a:t>
            </a:r>
          </a:p>
          <a:p>
            <a:pPr>
              <a:spcAft>
                <a:spcPts val="1600"/>
              </a:spcAft>
            </a:pPr>
            <a:r>
              <a:rPr lang="fr-FR" sz="2100" b="0">
                <a:solidFill>
                  <a:srgbClr val="12202F"/>
                </a:solidFill>
                <a:latin typeface="Calibri"/>
              </a:rPr>
              <a:t>Pas de promotion comme champion opérationnel</a:t>
            </a:r>
          </a:p>
          <a:p>
            <a:pPr>
              <a:spcAft>
                <a:spcPts val="1600"/>
              </a:spcAft>
            </a:pPr>
            <a:r>
              <a:rPr lang="fr-FR" sz="2100" b="0">
                <a:solidFill>
                  <a:srgbClr val="12202F"/>
                </a:solidFill>
                <a:latin typeface="Calibri"/>
              </a:rPr>
              <a:t>Après validation : alias champion + retour arrière</a:t>
            </a:r>
          </a:p>
        </p:txBody>
      </p:sp>
      <p:sp>
        <p:nvSpPr>
          <p:cNvPr id="20" name="Evidence 20"/>
          <p:cNvSpPr txBox="1"/>
          <p:nvPr/>
        </p:nvSpPr>
        <p:spPr>
          <a:xfrm>
            <a:off x="804672" y="6583680"/>
            <a:ext cx="13167360" cy="822960"/>
          </a:xfrm>
          <a:prstGeom prst="rect">
            <a:avLst/>
          </a:prstGeom>
          <a:noFill/>
          <a:ln>
            <a:noFill/>
          </a:ln>
        </p:spPr>
        <p:txBody>
          <a:bodyPr wrap="square" lIns="150000" rIns="150000" tIns="100000" bIns="100000">
            <a:normAutofit/>
          </a:bodyPr>
          <a:lstStyle/>
          <a:p>
            <a:pPr>
              <a:spcAft>
                <a:spcPts val="1600"/>
              </a:spcAft>
            </a:pPr>
            <a:r>
              <a:rPr lang="fr-FR" sz="1500" b="0">
                <a:solidFill>
                  <a:srgbClr val="2F61B8"/>
                </a:solidFill>
                <a:latin typeface="Calibri"/>
              </a:rPr>
              <a:t>Processus proposé : conserver la version précédente et tracer le motif de promotion. Aucun alias n’a été modifié.</a:t>
            </a:r>
          </a:p>
        </p:txBody>
      </p:sp>
      <p:sp>
        <p:nvSpPr>
          <p:cNvPr id="21" name="Evidence 21"/>
          <p:cNvSpPr txBox="1"/>
          <p:nvPr/>
        </p:nvSpPr>
        <p:spPr>
          <a:xfrm>
            <a:off x="804672" y="7735824"/>
            <a:ext cx="13167360" cy="329184"/>
          </a:xfrm>
          <a:prstGeom prst="rect">
            <a:avLst/>
          </a:prstGeom>
          <a:noFill/>
          <a:ln>
            <a:noFill/>
          </a:ln>
        </p:spPr>
        <p:txBody>
          <a:bodyPr wrap="square" lIns="150000" rIns="150000" tIns="100000" bIns="100000">
            <a:normAutofit/>
          </a:bodyPr>
          <a:lstStyle/>
          <a:p>
            <a:pPr>
              <a:spcAft>
                <a:spcPts val="1600"/>
              </a:spcAft>
            </a:pPr>
            <a:r>
              <a:rPr lang="fr-FR" sz="1000" b="0">
                <a:solidFill>
                  <a:srgbClr val="666666"/>
                </a:solidFill>
                <a:latin typeface="Calibri"/>
              </a:rPr>
              <a:t>RNCP39586 — Bloc 5 — Apprentissage automatique</a:t>
            </a: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